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3"/>
    <p:sldId id="274" r:id="rId22"/>
    <p:sldId id="275" r:id="rId23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8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slide" Target="slides/slide19.xml"/><Relationship Id="rId23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59EE88-B2A8-4C61-9D9D-2A0C67E120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96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8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9480" y="6244560"/>
            <a:ext cx="284472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165560" y="6244560"/>
            <a:ext cx="386064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737560" y="6244560"/>
            <a:ext cx="2844720" cy="47628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900F9F-330A-43D0-B9D5-9888D770DB7D}" type="slidenum"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22576"/>
            <a:ext cx="12191695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615184"/>
            <a:ext cx="9235440" cy="1325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基于同步辐射谱学的CeO₂与Fe₃O₄纳米颗粒
诱导蛋白巯基氧化及氧化应激机制研究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49194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5B2B84"/>
                </a:solidFill>
                <a:latin typeface="Microsoft YaHei"/>
              </a:rPr>
              <a:t>开题报告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53766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282828"/>
                </a:solidFill>
                <a:latin typeface="Microsoft YaHei"/>
              </a:rPr>
              <a:t>汇报人：鲍凯璐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5833872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282828"/>
                </a:solidFill>
                <a:latin typeface="Microsoft YaHei"/>
              </a:rPr>
              <a:t>日期：2026.10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8288"/>
            <a:ext cx="2487168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目录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7276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91056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60020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研究背景与科学问题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176479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267004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688336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697479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研究对象与作用方式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86207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17720" y="3767328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785615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79476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研究内容与技术路线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0" y="3959352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4864607"/>
            <a:ext cx="82296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82895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892040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Microsoft YaHei"/>
              </a:rPr>
              <a:t>创新性、可行性与进度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5056631"/>
            <a:ext cx="731520" cy="0"/>
          </a:xfrm>
          <a:prstGeom prst="line">
            <a:avLst/>
          </a:prstGeom>
          <a:ln w="1524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为什么要研究纳米颗粒与含巯基蛋白的作用？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98448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纳米材料进入生物体系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药物递送、诊疗、食品与环境暴露使纳米颗粒与蛋白质优先接触，形成动态蛋白冠并发生溶解、离子释放和表面反应。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98448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蛋白巯基是“反应枢纽”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Cys–SH 具有高反应活性，参与氧化还原稳态、金属配位、酶催化和信号转导；其状态变化可直接改变蛋白功能。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29844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298448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0817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纳米毒理的机制缺口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7393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总ROS或细胞活力只能描述结果，难以解释不同材料的上游路径和相同/不同的细胞结局。需要把材料化学与生物效应连接起来。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40480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B2B84"/>
                </a:solidFill>
                <a:latin typeface="Microsoft YaHei"/>
              </a:rPr>
              <a:t>核心科学问题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15968"/>
            <a:ext cx="10652760" cy="1097280"/>
          </a:xfrm>
          <a:prstGeom prst="roundRect">
            <a:avLst/>
          </a:prstGeom>
          <a:solidFill>
            <a:srgbClr val="F8F4FA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126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BE241E"/>
                </a:solidFill>
                <a:latin typeface="Microsoft YaHei"/>
              </a:rPr>
              <a:t>不同纳米颗粒通过不同路径作用于含巯基蛋白，是否最终汇聚为可分型、可测量、可调控的巯基化学响应？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从共性机制看：Protein–SH 是材料效应与生物效应之间的桥梁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72768"/>
            <a:ext cx="123444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纳米颗粒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表面/溶解/缺陷/价态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6120" y="1572768"/>
            <a:ext cx="123444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界面过程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吸附、配位、ROS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79" y="1764792"/>
            <a:ext cx="777241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1572768"/>
            <a:ext cx="123444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巯基状态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–SH、S–S、M–S、S=O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1572768"/>
            <a:ext cx="123444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蛋白功能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酶活、信号、稳态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1764792"/>
            <a:ext cx="7772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241280" y="1572768"/>
            <a:ext cx="123444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591056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细胞结局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084831"/>
            <a:ext cx="1691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氧化应激、死亡、适应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06324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B2B84"/>
                </a:solidFill>
                <a:latin typeface="Microsoft YaHei"/>
              </a:rPr>
              <a:t>与纳米毒理 / 纳米生物效应的联系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520440"/>
            <a:ext cx="73152" cy="15087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纳米毒理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解释材料的早期分子事件：金属离子释放、ROS、蛋白氧化与细胞应激。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3520440"/>
            <a:ext cx="73152" cy="150876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纳米生物效应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连接蛋白冠、受体/酶功能、抗氧化通路与细胞命运。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520440"/>
            <a:ext cx="3291840" cy="15087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520440"/>
            <a:ext cx="73152" cy="15087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63016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风险与设计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995928"/>
            <a:ext cx="297180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用表面包覆、溶解性和缺陷调节巯基响应，为安全设计和药用纳米材料优化提供依据。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7784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BE241E"/>
                </a:solidFill>
                <a:latin typeface="Microsoft YaHei"/>
              </a:rPr>
              <a:t>意义：将“材料表征—界面化学—蛋白功能—细胞效应”统一到同一条可验证链条。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含巯基蛋白不是单一家族，重点关注具有反应活性的 Cys–SH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3152" cy="109728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868F"/>
                </a:solidFill>
                <a:latin typeface="Microsoft YaHei"/>
              </a:rPr>
              <a:t>氧化还原调控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Trx / Grx / Prx；维持细胞还原稳态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73152" cy="109728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E37718"/>
                </a:solidFill>
                <a:latin typeface="Microsoft YaHei"/>
              </a:rPr>
              <a:t>金属结合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MT / 锌指；金属稳态与应激响应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73152" cy="109728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435607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667A4"/>
                </a:solidFill>
                <a:latin typeface="Microsoft YaHei"/>
              </a:rPr>
              <a:t>Cys依赖酶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80136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GAPDH / PTP / PTEN；氧化可失活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74320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743200"/>
            <a:ext cx="73152" cy="109728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52928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氧化还原感应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1868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Keap1–Nrf2；把氧化信号转为转录响应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743200"/>
            <a:ext cx="3246120" cy="10972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743200"/>
            <a:ext cx="73152" cy="1097280"/>
          </a:xfrm>
          <a:prstGeom prst="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852928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48045"/>
                </a:solidFill>
                <a:latin typeface="Microsoft YaHei"/>
              </a:rPr>
              <a:t>胞外巯基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18688"/>
            <a:ext cx="2926079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HSA-Cys34；反映系统性氧化应激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本课题的代表性模型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2412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282828"/>
                </a:solidFill>
                <a:latin typeface="Microsoft YaHei"/>
              </a:rPr>
              <a:t>简单体系：Cys、GSH  →  代表蛋白：GAPDH（必要时扩展 MT/PDI/Trx/Prx）  →  细胞体系：Protein–SH、GSH/GSSG、ROS 与细胞命运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研究对象与作用方式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巯基是纳米颗粒作用路径汇聚的“化学枢纽”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607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B2B84"/>
                </a:solidFill>
                <a:latin typeface="Microsoft YaHei"/>
              </a:rPr>
              <a:t>四条上游路径 → 三类硫化学状态 → 蛋白功能与细胞效应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645920"/>
            <a:ext cx="530352" cy="530352"/>
          </a:xfrm>
          <a:prstGeom prst="ellipse">
            <a:avLst/>
          </a:prstGeom>
          <a:solidFill>
            <a:srgbClr val="E3771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53035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691640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直接表面结合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965960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Au–S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1911095"/>
            <a:ext cx="1508760" cy="0"/>
          </a:xfrm>
          <a:prstGeom prst="line">
            <a:avLst/>
          </a:prstGeom>
          <a:ln w="20320">
            <a:solidFill>
              <a:srgbClr val="E37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" y="2496312"/>
            <a:ext cx="530352" cy="530352"/>
          </a:xfrm>
          <a:prstGeom prst="ellipse">
            <a:avLst/>
          </a:prstGeom>
          <a:solidFill>
            <a:srgbClr val="00868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42032"/>
            <a:ext cx="53035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542032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溶解/离子介导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816352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M²⁺–S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46120" y="2761488"/>
            <a:ext cx="1508760" cy="0"/>
          </a:xfrm>
          <a:prstGeom prst="line">
            <a:avLst/>
          </a:prstGeom>
          <a:ln w="20320">
            <a:solidFill>
              <a:srgbClr val="008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14400" y="3346704"/>
            <a:ext cx="530352" cy="530352"/>
          </a:xfrm>
          <a:prstGeom prst="ellipse">
            <a:avLst/>
          </a:prstGeom>
          <a:solidFill>
            <a:srgbClr val="BE241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92424"/>
            <a:ext cx="53035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392424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ROS间接氧化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66744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S–S / S=O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6120" y="3611880"/>
            <a:ext cx="1508760" cy="0"/>
          </a:xfrm>
          <a:prstGeom prst="line">
            <a:avLst/>
          </a:prstGeom>
          <a:ln w="20320">
            <a:solidFill>
              <a:srgbClr val="BE2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4400" y="4197096"/>
            <a:ext cx="530352" cy="530352"/>
          </a:xfrm>
          <a:prstGeom prst="ellipse">
            <a:avLst/>
          </a:prstGeom>
          <a:solidFill>
            <a:srgbClr val="3667A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42816"/>
            <a:ext cx="53035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NP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42816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金属稳态重排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517136"/>
            <a:ext cx="1600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MT / GSH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46120" y="4462272"/>
            <a:ext cx="1508760" cy="0"/>
          </a:xfrm>
          <a:prstGeom prst="line">
            <a:avLst/>
          </a:prstGeom>
          <a:ln w="20320">
            <a:solidFill>
              <a:srgbClr val="366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800600" y="2423160"/>
            <a:ext cx="1051560" cy="1051560"/>
          </a:xfrm>
          <a:prstGeom prst="ellipse">
            <a:avLst/>
          </a:prstGeom>
          <a:solidFill>
            <a:srgbClr val="5B2B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468879"/>
            <a:ext cx="1051560" cy="96011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Cys–SH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584448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Protein–SH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897880" y="2057400"/>
            <a:ext cx="1188720" cy="868680"/>
          </a:xfrm>
          <a:prstGeom prst="line">
            <a:avLst/>
          </a:prstGeom>
          <a:ln w="20320">
            <a:solidFill>
              <a:srgbClr val="008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97880" y="2926080"/>
            <a:ext cx="1188720" cy="18288"/>
          </a:xfrm>
          <a:prstGeom prst="line">
            <a:avLst/>
          </a:prstGeom>
          <a:ln w="20320">
            <a:solidFill>
              <a:srgbClr val="E37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97880" y="2926080"/>
            <a:ext cx="1188720" cy="914400"/>
          </a:xfrm>
          <a:prstGeom prst="line">
            <a:avLst/>
          </a:prstGeom>
          <a:ln w="20320">
            <a:solidFill>
              <a:srgbClr val="BE24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178040" y="1645920"/>
            <a:ext cx="914400" cy="914400"/>
          </a:xfrm>
          <a:prstGeom prst="ellipse">
            <a:avLst/>
          </a:prstGeom>
          <a:solidFill>
            <a:srgbClr val="E3771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1691640"/>
            <a:ext cx="91440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S–S</a:t>
            </a:r>
          </a:p>
        </p:txBody>
      </p:sp>
      <p:sp>
        <p:nvSpPr>
          <p:cNvPr id="38" name="Oval 37"/>
          <p:cNvSpPr/>
          <p:nvPr/>
        </p:nvSpPr>
        <p:spPr>
          <a:xfrm>
            <a:off x="7178040" y="2542032"/>
            <a:ext cx="914400" cy="914400"/>
          </a:xfrm>
          <a:prstGeom prst="ellipse">
            <a:avLst/>
          </a:prstGeom>
          <a:solidFill>
            <a:srgbClr val="00868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2587751"/>
            <a:ext cx="91440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M–S</a:t>
            </a:r>
          </a:p>
        </p:txBody>
      </p:sp>
      <p:sp>
        <p:nvSpPr>
          <p:cNvPr id="40" name="Oval 39"/>
          <p:cNvSpPr/>
          <p:nvPr/>
        </p:nvSpPr>
        <p:spPr>
          <a:xfrm>
            <a:off x="7178040" y="3438144"/>
            <a:ext cx="914400" cy="914400"/>
          </a:xfrm>
          <a:prstGeom prst="ellipse">
            <a:avLst/>
          </a:prstGeom>
          <a:solidFill>
            <a:srgbClr val="BE241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3483863"/>
            <a:ext cx="91440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S=O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1810512"/>
            <a:ext cx="2560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icrosoft YaHei"/>
              </a:rPr>
              <a:t>二硫键形成
还原稳态改变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706624"/>
            <a:ext cx="2560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icrosoft YaHei"/>
              </a:rPr>
              <a:t>金属配位
离子稳态改变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602736"/>
            <a:ext cx="2560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82828"/>
                </a:solidFill>
                <a:latin typeface="Microsoft YaHei"/>
              </a:rPr>
              <a:t>氧化硫增加
ROS应激增强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64040" y="2221992"/>
            <a:ext cx="0" cy="2395728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64040" y="3127248"/>
            <a:ext cx="0" cy="1490472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64040" y="4023360"/>
            <a:ext cx="0" cy="59436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635240" y="4617720"/>
            <a:ext cx="3566160" cy="658368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18120" y="4773168"/>
            <a:ext cx="32004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蛋白功能改变 → ROS / 细胞命运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示意图：本报告根据文献机制自绘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研究对象与作用方式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不同纳米颗粒的上游路径不同，巯基是共同的化学响应节点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材料/场景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主要作用方式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关键化学事件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188720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纳米毒理意义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27048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572768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E37718"/>
                </a:solidFill>
                <a:latin typeface="Microsoft YaHei"/>
              </a:rPr>
              <a:t>CeO₂（诊疗/环境）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572768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Ce³⁺/Ce⁴⁺氧化还原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72768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巯基氧化、S–S形成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572768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氧化还原稳态重编程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313432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359152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00868F"/>
                </a:solidFill>
                <a:latin typeface="Microsoft YaHei"/>
              </a:rPr>
              <a:t>Fe₃O₄（诊疗/环境）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2359152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ROS/Fenton间接氧化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359152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Fe²⁺/Fe³⁺→ROS→Cys氧化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359152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氧化应激与铁死亡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099816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145536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BE241E"/>
                </a:solidFill>
                <a:latin typeface="Microsoft YaHei"/>
              </a:rPr>
              <a:t>MnO₂（药用/环境）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145536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酸性/还原环境溶解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145536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Mn²⁺释放、GSH消耗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145536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微环境响应与巯基耗竭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3886200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931920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667A4"/>
                </a:solidFill>
                <a:latin typeface="Microsoft YaHei"/>
              </a:rPr>
              <a:t>CuO（环境）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931920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配位 + 氧化复合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931920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Cu²⁺、MT/GSH变化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931920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金属稳态与早期SH氧化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4672584"/>
            <a:ext cx="10881360" cy="621792"/>
          </a:xfrm>
          <a:prstGeom prst="roundRect">
            <a:avLst/>
          </a:prstGeom>
          <a:solidFill>
            <a:srgbClr val="FAF8FB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718304"/>
            <a:ext cx="11430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696969"/>
                </a:solidFill>
                <a:latin typeface="Microsoft YaHei"/>
              </a:rPr>
              <a:t>AuNP/ZnO/TiO₂（参照）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718304"/>
            <a:ext cx="2468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经典路径/低反应性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718304"/>
            <a:ext cx="2560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Au–S、Zn–S或低ROS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718304"/>
            <a:ext cx="3520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机制参照与对照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742432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重点研究：CeO₂的氧化还原活性与Fe₃O₄的ROS/Fenton路径；MnO₂、CuO作为候选补充。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研究对象与作用方式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代表案例：CeO₂ 与 Fe₃O₄体现两条不同的氧化应激路径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074920" cy="20116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201168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案例 A｜CeO₂：氧化还原活性型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475488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CeO₂表面的Ce³⁺/Ce⁴⁺可逆转换使其具有双向氧化还原活性；已有研究显示其可促进含巯基分子形成二硫键。
同步辐射可同时观察Ce价态和S–S/氧化硫状态。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34440"/>
            <a:ext cx="5074920" cy="201168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73152" cy="201168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44168"/>
            <a:ext cx="4754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案例 B｜Fe₃O₄：ROS/Fenton型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09928"/>
            <a:ext cx="4754880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Fe₃O₄可通过Fe²⁺/Fe³⁺循环、表面缺陷和Fenton样反应产生ROS，间接氧化Protein–SH，并联系氧化应激与铁死亡。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为什么选择这两个例子？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51960"/>
            <a:ext cx="205740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CeO₂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价态转换与二硫键形成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251960"/>
            <a:ext cx="205740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Fe₃O₄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ROS/Fenton间接氧化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251960"/>
            <a:ext cx="205740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27024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共同问题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754880"/>
            <a:ext cx="2057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82828"/>
                </a:solidFill>
                <a:latin typeface="Microsoft YaHei"/>
              </a:rPr>
              <a:t>不同路径是否产生不同硫状态？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6928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材料不同 → 上游机制不同；但是否存在可比较的巯基响应指纹，是本课题的核心。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研究空白与创新点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73152" cy="17373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研究空白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已有研究多为单材料、单终点，缺少跨机制统一比较。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280160"/>
            <a:ext cx="73152" cy="173736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研究空白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总巯基下降无法区分 S–S、M–S 与更高氧化态硫。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291840" cy="17373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17373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59" y="1389888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研究空白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1755648"/>
            <a:ext cx="2971800" cy="11704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材料理化性质与巯基状态、细胞命运之间缺少因果调控证据。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拟解决的创新点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41648"/>
            <a:ext cx="658368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候选材料筛选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以CeO₂、Fe₃O₄为主，MnO₂/CuO为补充，建立机制谱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041648"/>
            <a:ext cx="658368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谱学识别硫状态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S K-edge + 金属 K-edge XANES/EXAFS区分S–S、M–S与价态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041648"/>
            <a:ext cx="658368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4059935"/>
            <a:ext cx="65836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050791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Microsoft YaHei"/>
              </a:rPr>
              <a:t>机制可调控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462272"/>
            <a:ext cx="2651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通过表面缺陷、溶解性、价态和包覆验证巯基氧化能否被调节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研究目标与总体假设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61872"/>
            <a:ext cx="10652760" cy="713232"/>
          </a:xfrm>
          <a:prstGeom prst="roundRect">
            <a:avLst/>
          </a:prstGeom>
          <a:solidFill>
            <a:srgbClr val="F8F4FA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35608"/>
            <a:ext cx="102870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BE241E"/>
                </a:solidFill>
                <a:latin typeface="Microsoft YaHei"/>
              </a:rPr>
              <a:t>核心假设：不同纳米颗粒通过不同上游路径，汇聚为可分型的蛋白巯基化学响应，并决定后续细胞效应。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31720"/>
            <a:ext cx="73152" cy="214884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目标 1｜材料谱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完成粒径、形貌、晶相、ζ电位、价态、分散性及金属离子释放表征。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331720"/>
            <a:ext cx="73152" cy="214884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目标 2｜巯基分流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在 Cys/GSH 与 GAPDH 中区分 –SH消耗、S–S形成、M–S配位及蛋白功能改变。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331720"/>
            <a:ext cx="3337560" cy="214884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331720"/>
            <a:ext cx="73152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44144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目标 3｜细胞与调控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807208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验证 Protein–SH、GSH/GSSG、ROS 与细胞命运；调节包覆/缺陷/溶解性。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3327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5B2B84"/>
                </a:solidFill>
                <a:latin typeface="Microsoft YaHei"/>
              </a:rPr>
              <a:t>预期产出：建立“材料特征—巯基状态—蛋白功能—细胞效应”的机制图谱。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总体技术路线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61872"/>
            <a:ext cx="96012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材料制备
与表征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64792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81528" y="1261872"/>
            <a:ext cx="96012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1528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Cys/GSH
简化体系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9080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85816" y="1261872"/>
            <a:ext cx="96012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GAPDH等
代表蛋白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73368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90104" y="1261872"/>
            <a:ext cx="96012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细胞氧化
应激验证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1463040"/>
            <a:ext cx="1161288" cy="0"/>
          </a:xfrm>
          <a:prstGeom prst="line">
            <a:avLst/>
          </a:prstGeom>
          <a:ln w="1778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94392" y="1261872"/>
            <a:ext cx="960120" cy="384048"/>
          </a:xfrm>
          <a:prstGeom prst="round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1280160"/>
            <a:ext cx="9601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783080"/>
            <a:ext cx="1143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同步辐射
结构解析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7889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BE241E"/>
                </a:solidFill>
                <a:latin typeface="Microsoft YaHei"/>
              </a:rPr>
              <a:t>逐级递进：从简单化学事件到真实生物效应，再用谱学完成结构证据闭环。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337560"/>
            <a:ext cx="73152" cy="141732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化学层面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–SH、Cys/cystine、GSH/GSSG、金属释放、ROS。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3337560"/>
            <a:ext cx="73152" cy="141732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667A4"/>
                </a:solidFill>
                <a:latin typeface="Microsoft YaHei"/>
              </a:rPr>
              <a:t>生物层面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Protein–SH、GAPDH活性、抗氧化通路、细胞活力/死亡。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337560"/>
            <a:ext cx="3337560" cy="14173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337560"/>
            <a:ext cx="73152" cy="141732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447288"/>
            <a:ext cx="3017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谱学层面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813048"/>
            <a:ext cx="3017520" cy="8503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金属 K-edge XANES/EXAFS；S K-edge识别S–S/M–S/氧化硫。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5B2B84"/>
                </a:solidFill>
                <a:latin typeface="Microsoft YaHei"/>
              </a:rPr>
              <a:t>判定逻辑：共同响应？路径分型？材料性质能否调控响应？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三级实验体系：从化学事件逐级验证到细胞效应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15568"/>
            <a:ext cx="10607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B2B84"/>
                </a:solidFill>
                <a:latin typeface="Microsoft YaHei"/>
              </a:rPr>
              <a:t>每一级都回答一个更具体的问题，并把结果传递到下一级</a:t>
            </a:r>
          </a:p>
        </p:txBody>
      </p:sp>
      <p:sp>
        <p:nvSpPr>
          <p:cNvPr id="10" name="Oval 9"/>
          <p:cNvSpPr/>
          <p:nvPr/>
        </p:nvSpPr>
        <p:spPr>
          <a:xfrm>
            <a:off x="1645919" y="1645920"/>
            <a:ext cx="658368" cy="658368"/>
          </a:xfrm>
          <a:prstGeom prst="ellipse">
            <a:avLst/>
          </a:prstGeom>
          <a:solidFill>
            <a:srgbClr val="00868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19" y="1691640"/>
            <a:ext cx="658368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一级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Microsoft YaHei"/>
              </a:rPr>
              <a:t>Cys / GSH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26080"/>
            <a:ext cx="2423160" cy="10515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21488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icrosoft YaHei"/>
              </a:rPr>
              <a:t>巯基是否减少？
转为 S–S 还是 M–S？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1993392"/>
            <a:ext cx="1005840" cy="0"/>
          </a:xfrm>
          <a:prstGeom prst="line">
            <a:avLst/>
          </a:prstGeom>
          <a:ln w="2540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394959" y="1645920"/>
            <a:ext cx="658368" cy="658368"/>
          </a:xfrm>
          <a:prstGeom prst="ellipse">
            <a:avLst/>
          </a:prstGeom>
          <a:solidFill>
            <a:srgbClr val="3667A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1691640"/>
            <a:ext cx="658368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二级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450592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Microsoft YaHei"/>
              </a:rPr>
              <a:t>GAPDH 等蛋白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79" y="2926080"/>
            <a:ext cx="2423160" cy="10515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163824"/>
            <a:ext cx="21488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icrosoft YaHei"/>
              </a:rPr>
              <a:t>巯基状态是否改变
并影响蛋白功能？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79" y="1993392"/>
            <a:ext cx="1005840" cy="0"/>
          </a:xfrm>
          <a:prstGeom prst="line">
            <a:avLst/>
          </a:prstGeom>
          <a:ln w="2540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3999" y="1645920"/>
            <a:ext cx="658368" cy="658368"/>
          </a:xfrm>
          <a:prstGeom prst="ellipse">
            <a:avLst/>
          </a:prstGeom>
          <a:solidFill>
            <a:srgbClr val="5B2B8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1691640"/>
            <a:ext cx="658368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三级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450592"/>
            <a:ext cx="2423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Microsoft YaHei"/>
              </a:rPr>
              <a:t>细胞模型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19" y="2926080"/>
            <a:ext cx="2423160" cy="10515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163824"/>
            <a:ext cx="21488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Microsoft YaHei"/>
              </a:rPr>
              <a:t>是否引起 ROS、
稳态改变与细胞命运？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统一控制条件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92040"/>
            <a:ext cx="1463040" cy="384048"/>
          </a:xfrm>
          <a:prstGeom prst="round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10327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无NP / TiO₂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" y="5358384"/>
            <a:ext cx="15544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icrosoft YaHei"/>
              </a:rPr>
              <a:t>低反应性基线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892040"/>
            <a:ext cx="146304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910327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金属离子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58384"/>
            <a:ext cx="15544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icrosoft YaHei"/>
              </a:rPr>
              <a:t>区分溶解效应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892040"/>
            <a:ext cx="146304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79" y="4910327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抗氧化剂/螯合剂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358384"/>
            <a:ext cx="15544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icrosoft YaHei"/>
              </a:rPr>
              <a:t>验证ROS或配位因果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3999" y="4892040"/>
            <a:ext cx="146304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999" y="4910327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等金属质量/等表面积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5358384"/>
            <a:ext cx="15544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Microsoft YaHei"/>
              </a:rPr>
              <a:t>保证横向可比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流程图：研究方案自绘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阶段 I–II：材料表征与 Cys/GSH 巯基体系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07008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材料表征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粒径/形貌（TEM、DLS）
晶相/缺陷（XRD、Raman）
ζ电位、XPS、ICP-MS
Ce/Fe/Mn/Cu离子释放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07008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巯基反应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NP + Cys/GSH，设置时间与剂量梯度；检测–SH、Cys/cystine、GSH/GSSG、ROS和金属释放。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07008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07008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关键对照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682496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无NP；TiO₂低反应性对照；金属离子等量对照；抗氧化剂/螯合剂干预。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输出：每种材料的“巯基响应指纹”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128016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Ce–S/S–S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297680"/>
            <a:ext cx="128016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Fe-ROS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4297680"/>
            <a:ext cx="128016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Mn–GSH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4297680"/>
            <a:ext cx="128016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Cu–S/氧化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297680"/>
            <a:ext cx="1280160" cy="384048"/>
          </a:xfrm>
          <a:prstGeom prst="round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431596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参照组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102412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82828"/>
                </a:solidFill>
                <a:latin typeface="Microsoft YaHei"/>
              </a:rPr>
              <a:t>按等金属质量 / 等表面积双重归一化；至少3批独立制备，避免批次差异混入机制判断。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阶段 III–IV：代表蛋白与细胞验证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1965960"/>
          </a:xfrm>
          <a:prstGeom prst="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3667A4"/>
                </a:solidFill>
                <a:latin typeface="Microsoft YaHei"/>
              </a:rPr>
              <a:t>代表蛋白：GAPDH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催化 Cys 对氧化敏感；检测 Protein–SH、GAPDH酶活和构象/聚集。若出现材料特异性，再扩展 MT、PDI、Trx/Prx。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19659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细胞统一终点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Protein–SH、GSH/GSSG、ROS、线粒体状态、细胞活力；必要时区分凋亡/铁死亡。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429000" cy="196596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196596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因果干预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709928"/>
            <a:ext cx="3108960" cy="1399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PEG/OEG屏蔽表面；调节pH/螯合剂降低溶解配位；改变缺陷/价态。观察巯基响应是否同步改变。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从“观察相关性”走向“验证因果性”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4754880"/>
            <a:ext cx="9464040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4462272"/>
            <a:ext cx="132588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材料处理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NP种类/剂量/时间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462272"/>
            <a:ext cx="132588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分子响应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Protein–SH/GSH/ROS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462272"/>
            <a:ext cx="132588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功能响应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酶活/信号通路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59" y="4462272"/>
            <a:ext cx="1325880" cy="384048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4480559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细胞结局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999" y="5074920"/>
            <a:ext cx="16002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活力/死亡/适应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同步辐射谱学：识别 M–S、S–S 与氧化硫状态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3152" cy="20574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金属 K-edge XANES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Ce/Fe/Mn/Cu价态、局部配位和颗粒到离子的转化；重点验证Ce³⁺/Ce⁴⁺与Fe²⁺/Fe³⁺变化。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34440"/>
            <a:ext cx="73152" cy="20574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EXAFS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获得金属—硫/氧/金属键长与配位数，把“可能配位”推进到结构证据。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429000" cy="20574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20574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44168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S K-edge XANES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709928"/>
            <a:ext cx="3108960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区分巯基、二硫键、金属—硫与更高氧化态硫，建立硫化学状态指纹。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建议的样品优先级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15968"/>
            <a:ext cx="1234440" cy="384048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CeO₂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Ce³⁺/Ce⁴⁺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315968"/>
            <a:ext cx="1234440" cy="384048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Fe₃O₄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Fe价态/ROS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4315968"/>
            <a:ext cx="1234440" cy="384048"/>
          </a:xfrm>
          <a:prstGeom prst="roundRect">
            <a:avLst/>
          </a:prstGeom>
          <a:solidFill>
            <a:srgbClr val="BE241E"/>
          </a:solidFill>
          <a:ln>
            <a:solidFill>
              <a:srgbClr val="BE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MnO₂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Mn²⁺/GSH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4315968"/>
            <a:ext cx="1234440" cy="384048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CuO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Cu–S/氧化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4315968"/>
            <a:ext cx="1234440" cy="384048"/>
          </a:xfrm>
          <a:prstGeom prst="round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4334255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参照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782312"/>
            <a:ext cx="1417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Microsoft YaHei"/>
              </a:rPr>
              <a:t>TiO₂/AuNP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32120"/>
            <a:ext cx="10241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BE241E"/>
                </a:solidFill>
                <a:latin typeface="Microsoft YaHei"/>
              </a:rPr>
              <a:t>与常规总巯基检测互补：常规方法告诉我们“多少变了”，同步辐射告诉我们“变成了什么”。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研究内容及方案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同步辐射样品与判读流程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15568"/>
            <a:ext cx="10607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B2B84"/>
                </a:solidFill>
                <a:latin typeface="Microsoft YaHei"/>
              </a:rPr>
              <a:t>从样品筛选到结构证据：同一批样品串联常规检测与谱学检测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1783080" cy="11430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93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E37718"/>
                </a:solidFill>
                <a:latin typeface="Microsoft YaHei"/>
              </a:rPr>
              <a:t>样品筛选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95728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icrosoft YaHei"/>
              </a:rPr>
              <a:t>选取差异最大
剂量/时间点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4872" y="2395728"/>
            <a:ext cx="411480" cy="0"/>
          </a:xfrm>
          <a:prstGeom prst="line">
            <a:avLst/>
          </a:prstGeom>
          <a:ln w="2286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79" y="1828800"/>
            <a:ext cx="1783080" cy="11430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1993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00868F"/>
                </a:solidFill>
                <a:latin typeface="Microsoft YaHei"/>
              </a:rPr>
              <a:t>常规检测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395728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icrosoft YaHei"/>
              </a:rPr>
              <a:t>–SH、GSH/GSSG
ROS、金属释放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36592" y="2395728"/>
            <a:ext cx="411480" cy="0"/>
          </a:xfrm>
          <a:prstGeom prst="line">
            <a:avLst/>
          </a:prstGeom>
          <a:ln w="2286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57800" y="1828800"/>
            <a:ext cx="1783080" cy="11430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1993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3667A4"/>
                </a:solidFill>
                <a:latin typeface="Microsoft YaHei"/>
              </a:rPr>
              <a:t>金属边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395728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icrosoft YaHei"/>
              </a:rPr>
              <a:t>XANES/EXAFS
价态与 M–S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312" y="2395728"/>
            <a:ext cx="411480" cy="0"/>
          </a:xfrm>
          <a:prstGeom prst="line">
            <a:avLst/>
          </a:prstGeom>
          <a:ln w="2286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9519" y="1828800"/>
            <a:ext cx="1783080" cy="11430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7" y="1993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5B2B84"/>
                </a:solidFill>
                <a:latin typeface="Microsoft YaHei"/>
              </a:rPr>
              <a:t>S K-edge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2395728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icrosoft YaHei"/>
              </a:rPr>
              <a:t>S–S、M–S、S=O
硫状态指纹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032" y="2395728"/>
            <a:ext cx="411479" cy="0"/>
          </a:xfrm>
          <a:prstGeom prst="line">
            <a:avLst/>
          </a:prstGeom>
          <a:ln w="2286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21240" y="1828800"/>
            <a:ext cx="1783080" cy="11430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7" y="1993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BE241E"/>
                </a:solidFill>
                <a:latin typeface="Microsoft YaHei"/>
              </a:rPr>
              <a:t>机制结论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7" y="2395728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282828"/>
                </a:solidFill>
                <a:latin typeface="Microsoft YaHei"/>
              </a:rPr>
              <a:t>路径分型
可调控性验证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94760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判读示意</a:t>
            </a:r>
          </a:p>
        </p:txBody>
      </p:sp>
      <p:sp>
        <p:nvSpPr>
          <p:cNvPr id="30" name="Oval 29"/>
          <p:cNvSpPr/>
          <p:nvPr/>
        </p:nvSpPr>
        <p:spPr>
          <a:xfrm>
            <a:off x="1143000" y="4315968"/>
            <a:ext cx="731520" cy="731520"/>
          </a:xfrm>
          <a:prstGeom prst="ellipse">
            <a:avLst/>
          </a:prstGeom>
          <a:solidFill>
            <a:srgbClr val="00868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361688"/>
            <a:ext cx="7315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–SH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74519" y="4681728"/>
            <a:ext cx="960121" cy="0"/>
          </a:xfrm>
          <a:prstGeom prst="line">
            <a:avLst/>
          </a:prstGeom>
          <a:ln w="19050">
            <a:solidFill>
              <a:srgbClr val="008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926080" y="4315968"/>
            <a:ext cx="731520" cy="731520"/>
          </a:xfrm>
          <a:prstGeom prst="ellipse">
            <a:avLst/>
          </a:prstGeom>
          <a:solidFill>
            <a:srgbClr val="E3771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361688"/>
            <a:ext cx="7315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S–S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0" y="4681728"/>
            <a:ext cx="960120" cy="0"/>
          </a:xfrm>
          <a:prstGeom prst="line">
            <a:avLst/>
          </a:prstGeom>
          <a:ln w="19050">
            <a:solidFill>
              <a:srgbClr val="E377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709160" y="4315968"/>
            <a:ext cx="731520" cy="731520"/>
          </a:xfrm>
          <a:prstGeom prst="ellipse">
            <a:avLst/>
          </a:prstGeom>
          <a:solidFill>
            <a:srgbClr val="3667A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361688"/>
            <a:ext cx="7315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M–S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40680" y="4681728"/>
            <a:ext cx="960120" cy="0"/>
          </a:xfrm>
          <a:prstGeom prst="line">
            <a:avLst/>
          </a:prstGeom>
          <a:ln w="19050">
            <a:solidFill>
              <a:srgbClr val="366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492240" y="4315968"/>
            <a:ext cx="731520" cy="731520"/>
          </a:xfrm>
          <a:prstGeom prst="ellipse">
            <a:avLst/>
          </a:prstGeom>
          <a:solidFill>
            <a:srgbClr val="BE241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61688"/>
            <a:ext cx="7315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S=O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23760" y="4681728"/>
            <a:ext cx="960119" cy="0"/>
          </a:xfrm>
          <a:prstGeom prst="line">
            <a:avLst/>
          </a:prstGeom>
          <a:ln w="19050">
            <a:solidFill>
              <a:srgbClr val="5B2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75320" y="4315968"/>
            <a:ext cx="2606040" cy="7315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517136"/>
            <a:ext cx="23774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5B2B84"/>
                </a:solidFill>
                <a:latin typeface="Microsoft YaHei"/>
              </a:rPr>
              <a:t>化学状态证据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60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BE241E"/>
                </a:solidFill>
                <a:latin typeface="Microsoft YaHei"/>
              </a:rPr>
              <a:t>常规方法回答“变化多少”，同步辐射回答“变成什么”。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流程图：同步辐射表征方案自绘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创新性与可行性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创新性与可行性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07008"/>
            <a:ext cx="73152" cy="182880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5B2B84"/>
                </a:solidFill>
                <a:latin typeface="Microsoft YaHei"/>
              </a:rPr>
              <a:t>创新性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①跨机制建立统一横向比较；②以S K-edge与金属边谱学识别硫状态；③把表面包覆、溶解性和缺陷作为调控旋钮。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07008"/>
            <a:ext cx="73152" cy="182880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868F"/>
                </a:solidFill>
                <a:latin typeface="Microsoft YaHei"/>
              </a:rPr>
              <a:t>理论依据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已有研究支持CeO₂诱导巯基氧化/二硫键形成、Fe₃O₄产生ROS以及金属离子与GSH/MT作用；Cys redoxome、GAPDH等提供生物学基础。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07008"/>
            <a:ext cx="3429000" cy="182880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07008"/>
            <a:ext cx="73152" cy="182880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316736"/>
            <a:ext cx="3108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37718"/>
                </a:solidFill>
                <a:latin typeface="Microsoft YaHei"/>
              </a:rPr>
              <a:t>技术可行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682496"/>
            <a:ext cx="3108960" cy="1261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材料制备与常规表征成熟；Cys/GSH—蛋白—细胞逐级递进；同步辐射提供结构级证据。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B2B84"/>
                </a:solidFill>
                <a:latin typeface="Microsoft YaHei"/>
              </a:rPr>
              <a:t>风险预案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41648"/>
            <a:ext cx="73152" cy="1188720"/>
          </a:xfrm>
          <a:prstGeom prst="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0868F"/>
                </a:solidFill>
                <a:latin typeface="Microsoft YaHei"/>
              </a:rPr>
              <a:t>信号弱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延长时间/提高蛋白浓度；优先选择富Cys模型并进入S K-edge。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041648"/>
            <a:ext cx="73152" cy="1188720"/>
          </a:xfrm>
          <a:prstGeom prst="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E37718"/>
                </a:solidFill>
                <a:latin typeface="Microsoft YaHei"/>
              </a:rPr>
              <a:t>颗粒团聚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蛋白冠预孵育；按实际粒径和表面积归一化。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4041648"/>
            <a:ext cx="3246120" cy="1188720"/>
          </a:xfrm>
          <a:prstGeom prst="roundRect">
            <a:avLst/>
          </a:prstGeom>
          <a:solidFill>
            <a:srgbClr val="F2EBF7"/>
          </a:solidFill>
          <a:ln>
            <a:solidFill>
              <a:srgbClr val="D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4041648"/>
            <a:ext cx="73152" cy="118872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151376"/>
            <a:ext cx="29260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B2B84"/>
                </a:solidFill>
                <a:latin typeface="Microsoft YaHei"/>
              </a:rPr>
              <a:t>束流损伤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517136"/>
            <a:ext cx="2926079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低温/短曝光/重复扫描；设置未照射对照。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工作安排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研究进度安排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1–3月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4–6月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7–9月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10–12月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261872"/>
            <a:ext cx="14630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5B2B84"/>
                </a:solidFill>
                <a:latin typeface="Microsoft YaHei"/>
              </a:rPr>
              <a:t>13–18月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83080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材料制备与表征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783080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1783080"/>
            <a:ext cx="1444752" cy="310896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60520" y="1783080"/>
            <a:ext cx="1444752" cy="310896"/>
          </a:xfrm>
          <a:prstGeom prst="roundRect">
            <a:avLst/>
          </a:prstGeom>
          <a:solidFill>
            <a:srgbClr val="E37718"/>
          </a:solidFill>
          <a:ln>
            <a:solidFill>
              <a:srgbClr val="E377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496312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Cys/GSH机制筛选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79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2496312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0520" y="2496312"/>
            <a:ext cx="1444752" cy="310896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0" y="2496312"/>
            <a:ext cx="1444752" cy="310896"/>
          </a:xfrm>
          <a:prstGeom prst="roundRect">
            <a:avLst/>
          </a:prstGeom>
          <a:solidFill>
            <a:srgbClr val="00868F"/>
          </a:solidFill>
          <a:ln>
            <a:solidFill>
              <a:srgbClr val="008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09544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蛋白与细胞验证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26679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3209544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0" y="3209544"/>
            <a:ext cx="1444752" cy="310896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26679" y="3209544"/>
            <a:ext cx="1444752" cy="310896"/>
          </a:xfrm>
          <a:prstGeom prst="roundRect">
            <a:avLst/>
          </a:prstGeom>
          <a:solidFill>
            <a:srgbClr val="3667A4"/>
          </a:solidFill>
          <a:ln>
            <a:solidFill>
              <a:srgbClr val="366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922776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同步辐射测试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26679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09760" y="3922776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26679" y="3922776"/>
            <a:ext cx="1444752" cy="310896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09760" y="3922776"/>
            <a:ext cx="1444752" cy="310896"/>
          </a:xfrm>
          <a:prstGeom prst="round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636008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Microsoft YaHei"/>
              </a:rPr>
              <a:t>论文与答辩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052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26679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09760" y="4636008"/>
            <a:ext cx="1444752" cy="310896"/>
          </a:xfrm>
          <a:prstGeom prst="rect">
            <a:avLst/>
          </a:prstGeom>
          <a:solidFill>
            <a:srgbClr val="F8F6F9"/>
          </a:solidFill>
          <a:ln>
            <a:solidFill>
              <a:srgbClr val="E1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09760" y="4636008"/>
            <a:ext cx="1444752" cy="310896"/>
          </a:xfrm>
          <a:prstGeom prst="roundRect">
            <a:avLst/>
          </a:prstGeom>
          <a:solidFill>
            <a:srgbClr val="348045"/>
          </a:solidFill>
          <a:ln>
            <a:solidFill>
              <a:srgbClr val="348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650992"/>
            <a:ext cx="10332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B2B84"/>
                </a:solidFill>
                <a:latin typeface="Microsoft YaHei"/>
              </a:rPr>
              <a:t>里程碑：完成材料机制指纹 → 代表蛋白验证 → 细胞因果证据 → 同步辐射结构证据。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开题报告｜鲍凯璐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" y="0"/>
            <a:ext cx="576072" cy="768096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868680"/>
            <a:ext cx="576072" cy="13716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5176"/>
            <a:ext cx="5943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5B2B84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384048"/>
            <a:ext cx="78638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5B2B84"/>
                </a:solidFill>
                <a:latin typeface="Microsoft YaHei"/>
              </a:rPr>
              <a:t>文献与来源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87782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Microsoft YaHei"/>
              </a:rPr>
              <a:t>核心文献与图片/数据来源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"/>
            <a:ext cx="2487168" cy="102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336792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96969"/>
                </a:solidFill>
                <a:latin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607040" cy="4023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/>
              </a:rPr>
              <a:t>[1] Ulrich K, Jakob U. Free Radic Biol Med. 2019;140:14–27. doi:10.1016/j.freeradbiomed.2019.05.035.
[2] Hanschmann EM et al. Antioxid Redox Signal. 2013;19:1539–1605. doi:10.1089/ars.2012.4599.
[3] Rollin-Genetet F et al. Chem Res Toxicol. 2015;28:2304–2312. doi:10.1021/acs.chemrestox.5b00319.
[4] Lord MS et al. Small. 2021;17:e2102342. doi:10.1002/smll.202102342.
[5] Duan J et al. ACS Nano. 2016;10:524–538. doi:10.1021/acsnano.5b05524.
[6] Wu H et al. J Food Drug Anal. 2014;22:86–94. doi:10.1016/j.jfda.2014.01.007.
[7] Cuillel M et al. Nanoscale. 2014;6:1707–1715. doi:10.1039/c3nr05041f.
[8] Bulcke F, Dringen R. Neurochem Res. 2015;40:15–26. doi:10.1007/s11064-014-1458-0.
[9] Ivask A et al. Nanotoxicology. 2017;11:150–156. doi:10.1080/17435390.2017.1282049.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Microsoft YaHei"/>
              </a:rPr>
              <a:t>图片与技术依据：同步辐射光束线公开技术说明；材料结构与机制图均为本报告自绘示意；校徽沿用“刘嘉莉开题ppt”模板。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37376"/>
            <a:ext cx="7315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Microsoft YaHei"/>
              </a:rPr>
              <a:t>文献清单为核心文献，正式提交前可按学校格式补齐全文献条目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5B2B84"/>
          </a:solidFill>
          <a:ln>
            <a:solidFill>
              <a:srgbClr val="5B2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852928"/>
            <a:ext cx="89611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恳请各位老师批评指正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0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50749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5B2B84"/>
                </a:solidFill>
                <a:latin typeface="Microsoft YaHei"/>
              </a:rPr>
              <a:t>鲍凯璐｜2026.10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8288"/>
            <a:ext cx="2487168" cy="10241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7651</TotalTime>
  <Application>LibreOfficeDev/26.8.0.0.alpha0$Linux_X86_64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2017-12-26T03:48:00Z</dcterms:created>
  <dc:creator>丽光眼镜</dc:creator>
  <dc:description/>
  <dc:language>en-US</dc:language>
  <cp:lastModifiedBy>jiali liu</cp:lastModifiedBy>
  <dcterms:modified xsi:type="dcterms:W3CDTF">2025-10-23T06:25:27Z</dcterms:modified>
  <cp:revision>103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414C9E5BE03B4DF7B39ABA410F8F419F_12</vt:lpwstr>
  </property>
  <property fmtid="{D5CDD505-2E9C-101B-9397-08002B2CF9AE}" pid="3" name="KSOProductBuildVer">
    <vt:lpwstr>2052-12.1.0.18608</vt:lpwstr>
  </property>
</Properties>
</file>