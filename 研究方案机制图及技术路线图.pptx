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C3084"/>
          </a:solidFill>
          <a:ln w="12700">
            <a:solidFill>
              <a:srgbClr val="5C3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C3084"/>
          </a:solidFill>
          <a:ln w="12700">
            <a:solidFill>
              <a:srgbClr val="5C3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256032"/>
            <a:ext cx="2788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5C3084"/>
                </a:solidFill>
                <a:latin typeface="Microsoft YaHei"/>
              </a:rPr>
              <a:t>研究内容及方案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94944"/>
            <a:ext cx="1078992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12A23"/>
                </a:solidFill>
                <a:latin typeface="Microsoft YaHei"/>
              </a:rPr>
              <a:t>核心思路：不同纳米颗粒通过不同界面路径改变蛋白巯基化学状态，进而解释氧化应激差异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22860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Microsoft YaHei"/>
              </a:rPr>
              <a:t>图1｜研究方案机制图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5C3084"/>
                </a:solidFill>
                <a:latin typeface="Microsoft YaHei"/>
              </a:rPr>
              <a:t>核心材料与功能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051560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5C3084"/>
                </a:solidFill>
                <a:latin typeface="Microsoft YaHei"/>
              </a:rPr>
              <a:t>作用条件与界面过程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1051560"/>
            <a:ext cx="2240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5C3084"/>
                </a:solidFill>
                <a:latin typeface="Microsoft YaHei"/>
              </a:rPr>
              <a:t>巯基化学状态（拟验证）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051560"/>
            <a:ext cx="3337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5C3084"/>
                </a:solidFill>
                <a:latin typeface="Microsoft YaHei"/>
              </a:rPr>
              <a:t>蛋白功能与纳米生物效应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389888"/>
            <a:ext cx="2103120" cy="603504"/>
          </a:xfrm>
          <a:prstGeom prst="roundRect">
            <a:avLst/>
          </a:prstGeom>
          <a:solidFill>
            <a:srgbClr val="FFF3E2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389888"/>
            <a:ext cx="64008" cy="603504"/>
          </a:xfrm>
          <a:prstGeom prst="rect">
            <a:avLst/>
          </a:prstGeom>
          <a:solidFill>
            <a:srgbClr val="DC771C"/>
          </a:solidFill>
          <a:ln w="12700">
            <a:solidFill>
              <a:srgbClr val="DC7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472184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DC771C"/>
                </a:solidFill>
                <a:latin typeface="Microsoft YaHei"/>
              </a:rPr>
              <a:t>AuNP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83080"/>
            <a:ext cx="1874519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40" b="0">
                <a:solidFill>
                  <a:srgbClr val="2D2D2D"/>
                </a:solidFill>
                <a:latin typeface="Microsoft YaHei"/>
              </a:rPr>
              <a:t>直接Au–S结合
文献支持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47672" y="1472184"/>
            <a:ext cx="640080" cy="219456"/>
          </a:xfrm>
          <a:prstGeom prst="roundRect">
            <a:avLst/>
          </a:prstGeom>
          <a:solidFill>
            <a:srgbClr val="DC771C"/>
          </a:solidFill>
          <a:ln w="12700">
            <a:solidFill>
              <a:srgbClr val="DC7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47672" y="1481328"/>
            <a:ext cx="640080" cy="1554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文献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2148840"/>
            <a:ext cx="2103120" cy="603504"/>
          </a:xfrm>
          <a:prstGeom prst="roundRect">
            <a:avLst/>
          </a:prstGeom>
          <a:solidFill>
            <a:srgbClr val="E7F7F6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" y="2148840"/>
            <a:ext cx="64008" cy="603504"/>
          </a:xfrm>
          <a:prstGeom prst="rect">
            <a:avLst/>
          </a:prstGeom>
          <a:solidFill>
            <a:srgbClr val="148991"/>
          </a:solidFill>
          <a:ln w="12700">
            <a:solidFill>
              <a:srgbClr val="14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231136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48991"/>
                </a:solidFill>
                <a:latin typeface="Microsoft YaHei"/>
              </a:rPr>
              <a:t>ZnO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542032"/>
            <a:ext cx="1874519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40" b="0">
                <a:solidFill>
                  <a:srgbClr val="2D2D2D"/>
                </a:solidFill>
                <a:latin typeface="Microsoft YaHei"/>
              </a:rPr>
              <a:t>溶解→Zn²⁺→Cys/GSH
文献支持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47672" y="2231136"/>
            <a:ext cx="640080" cy="219456"/>
          </a:xfrm>
          <a:prstGeom prst="roundRect">
            <a:avLst/>
          </a:prstGeom>
          <a:solidFill>
            <a:srgbClr val="148991"/>
          </a:solidFill>
          <a:ln w="12700">
            <a:solidFill>
              <a:srgbClr val="14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47672" y="2240279"/>
            <a:ext cx="640080" cy="1554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文献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" y="2907791"/>
            <a:ext cx="2103120" cy="603504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" y="2907791"/>
            <a:ext cx="64008" cy="603504"/>
          </a:xfrm>
          <a:prstGeom prst="rect">
            <a:avLst/>
          </a:prstGeom>
          <a:solidFill>
            <a:srgbClr val="3A6CA6"/>
          </a:solidFill>
          <a:ln w="12700">
            <a:solidFill>
              <a:srgbClr val="3A6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2990087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3A6CA6"/>
                </a:solidFill>
                <a:latin typeface="Microsoft YaHei"/>
              </a:rPr>
              <a:t>CuO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300984"/>
            <a:ext cx="1874519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40" b="0">
                <a:solidFill>
                  <a:srgbClr val="2D2D2D"/>
                </a:solidFill>
                <a:latin typeface="Microsoft YaHei"/>
              </a:rPr>
              <a:t>Cu²⁺/MT/GSH与SH氧化
作用分流拟验证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47672" y="2990087"/>
            <a:ext cx="640080" cy="219456"/>
          </a:xfrm>
          <a:prstGeom prst="roundRect">
            <a:avLst/>
          </a:prstGeom>
          <a:solidFill>
            <a:srgbClr val="3A6CA6"/>
          </a:solidFill>
          <a:ln w="12700">
            <a:solidFill>
              <a:srgbClr val="3A6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47672" y="2999231"/>
            <a:ext cx="640080" cy="1554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拟验证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3666744"/>
            <a:ext cx="2103120" cy="603504"/>
          </a:xfrm>
          <a:prstGeom prst="roundRect">
            <a:avLst/>
          </a:prstGeom>
          <a:solidFill>
            <a:srgbClr val="FDEBEA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" y="3666744"/>
            <a:ext cx="64008" cy="603504"/>
          </a:xfrm>
          <a:prstGeom prst="rect">
            <a:avLst/>
          </a:prstGeom>
          <a:solidFill>
            <a:srgbClr val="C12A23"/>
          </a:solidFill>
          <a:ln w="12700">
            <a:solidFill>
              <a:srgbClr val="C12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749039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C12A23"/>
                </a:solidFill>
                <a:latin typeface="Microsoft YaHei"/>
              </a:rPr>
              <a:t>Fe₂O₃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059935"/>
            <a:ext cx="1874519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40" b="0">
                <a:solidFill>
                  <a:srgbClr val="2D2D2D"/>
                </a:solidFill>
                <a:latin typeface="Microsoft YaHei"/>
              </a:rPr>
              <a:t>铁氧化物→ROS/Fenton-like
Protein–SH氧化（拟验证）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47672" y="3749039"/>
            <a:ext cx="640080" cy="219456"/>
          </a:xfrm>
          <a:prstGeom prst="roundRect">
            <a:avLst/>
          </a:prstGeom>
          <a:solidFill>
            <a:srgbClr val="C12A23"/>
          </a:solidFill>
          <a:ln w="12700">
            <a:solidFill>
              <a:srgbClr val="C12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47672" y="3758183"/>
            <a:ext cx="640080" cy="1554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拟验证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3504" y="4425696"/>
            <a:ext cx="2103120" cy="603504"/>
          </a:xfrm>
          <a:prstGeom prst="roundRect">
            <a:avLst/>
          </a:prstGeom>
          <a:solidFill>
            <a:srgbClr val="F7F7F9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3504" y="4425696"/>
            <a:ext cx="64008" cy="603504"/>
          </a:xfrm>
          <a:prstGeom prst="rect">
            <a:avLst/>
          </a:prstGeom>
          <a:solidFill>
            <a:srgbClr val="5C5C5C"/>
          </a:solidFill>
          <a:ln w="12700"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507992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5C5C5C"/>
                </a:solidFill>
                <a:latin typeface="Microsoft YaHei"/>
              </a:rPr>
              <a:t>TiO₂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818888"/>
            <a:ext cx="1874519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40" b="0">
                <a:solidFill>
                  <a:srgbClr val="2D2D2D"/>
                </a:solidFill>
                <a:latin typeface="Microsoft YaHei"/>
              </a:rPr>
              <a:t>避光、无紫外
低反应性对照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947672" y="4507992"/>
            <a:ext cx="640080" cy="219456"/>
          </a:xfrm>
          <a:prstGeom prst="roundRect">
            <a:avLst/>
          </a:prstGeom>
          <a:solidFill>
            <a:srgbClr val="5C5C5C"/>
          </a:solidFill>
          <a:ln w="12700"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47672" y="4517136"/>
            <a:ext cx="640080" cy="1554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对照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971800" y="1481328"/>
            <a:ext cx="2148840" cy="713232"/>
          </a:xfrm>
          <a:prstGeom prst="roundRect">
            <a:avLst/>
          </a:prstGeom>
          <a:solidFill>
            <a:srgbClr val="F3ECF8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971800" y="1481328"/>
            <a:ext cx="64008" cy="713232"/>
          </a:xfrm>
          <a:prstGeom prst="rect">
            <a:avLst/>
          </a:prstGeom>
          <a:solidFill>
            <a:srgbClr val="5C3084"/>
          </a:solidFill>
          <a:ln w="12700">
            <a:solidFill>
              <a:srgbClr val="5C3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99816" y="1563624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5C3084"/>
                </a:solidFill>
                <a:latin typeface="Microsoft YaHei"/>
              </a:rPr>
              <a:t>表面接近性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99816" y="1874520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0" b="0">
                <a:solidFill>
                  <a:srgbClr val="2D2D2D"/>
                </a:solidFill>
                <a:latin typeface="Microsoft YaHei"/>
              </a:rPr>
              <a:t>表面包覆/蛋白冠
决定Cys可接近性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971800" y="2441448"/>
            <a:ext cx="2148840" cy="713232"/>
          </a:xfrm>
          <a:prstGeom prst="roundRect">
            <a:avLst/>
          </a:prstGeom>
          <a:solidFill>
            <a:srgbClr val="E7F7F6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971800" y="2441448"/>
            <a:ext cx="64008" cy="713232"/>
          </a:xfrm>
          <a:prstGeom prst="rect">
            <a:avLst/>
          </a:prstGeom>
          <a:solidFill>
            <a:srgbClr val="148991"/>
          </a:solidFill>
          <a:ln w="12700">
            <a:solidFill>
              <a:srgbClr val="14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99816" y="2523744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48991"/>
                </a:solidFill>
                <a:latin typeface="Microsoft YaHei"/>
              </a:rPr>
              <a:t>溶解与配位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99816" y="2834640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0" b="0">
                <a:solidFill>
                  <a:srgbClr val="2D2D2D"/>
                </a:solidFill>
                <a:latin typeface="Microsoft YaHei"/>
              </a:rPr>
              <a:t>金属离子释放
形成M–S或消耗GSH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971800" y="3401568"/>
            <a:ext cx="2148840" cy="713232"/>
          </a:xfrm>
          <a:prstGeom prst="roundRect">
            <a:avLst/>
          </a:prstGeom>
          <a:solidFill>
            <a:srgbClr val="FDEBEA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971800" y="3401568"/>
            <a:ext cx="64008" cy="713232"/>
          </a:xfrm>
          <a:prstGeom prst="rect">
            <a:avLst/>
          </a:prstGeom>
          <a:solidFill>
            <a:srgbClr val="C12A23"/>
          </a:solidFill>
          <a:ln w="12700">
            <a:solidFill>
              <a:srgbClr val="C12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99816" y="3483864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C12A23"/>
                </a:solidFill>
                <a:latin typeface="Microsoft YaHei"/>
              </a:rPr>
              <a:t>氧化还原反应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99816" y="3794760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0" b="0">
                <a:solidFill>
                  <a:srgbClr val="2D2D2D"/>
                </a:solidFill>
                <a:latin typeface="Microsoft YaHei"/>
              </a:rPr>
              <a:t>表面缺陷/价态
产生ROS并氧化Cys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971800" y="4361688"/>
            <a:ext cx="2148840" cy="713232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971800" y="4361688"/>
            <a:ext cx="64008" cy="713232"/>
          </a:xfrm>
          <a:prstGeom prst="rect">
            <a:avLst/>
          </a:prstGeom>
          <a:solidFill>
            <a:srgbClr val="3A6CA6"/>
          </a:solidFill>
          <a:ln w="12700">
            <a:solidFill>
              <a:srgbClr val="3A6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99816" y="4443984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3A6CA6"/>
                </a:solidFill>
                <a:latin typeface="Microsoft YaHei"/>
              </a:rPr>
              <a:t>环境控制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99816" y="4754880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0" b="0">
                <a:solidFill>
                  <a:srgbClr val="2D2D2D"/>
                </a:solidFill>
                <a:latin typeface="Microsoft YaHei"/>
              </a:rPr>
              <a:t>pH、时间、剂量
及避光条件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40680" y="1399032"/>
            <a:ext cx="2240280" cy="621792"/>
          </a:xfrm>
          <a:prstGeom prst="roundRect">
            <a:avLst/>
          </a:prstGeom>
          <a:solidFill>
            <a:srgbClr val="F3ECF8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40680" y="1399032"/>
            <a:ext cx="64008" cy="621792"/>
          </a:xfrm>
          <a:prstGeom prst="rect">
            <a:avLst/>
          </a:prstGeom>
          <a:solidFill>
            <a:srgbClr val="5C3084"/>
          </a:solidFill>
          <a:ln w="12700">
            <a:solidFill>
              <a:srgbClr val="5C3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68696" y="148132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5C3084"/>
                </a:solidFill>
                <a:latin typeface="Microsoft YaHei"/>
              </a:rPr>
              <a:t>–SH减少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68696" y="1792224"/>
            <a:ext cx="2011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40" b="0">
                <a:solidFill>
                  <a:srgbClr val="2D2D2D"/>
                </a:solidFill>
                <a:latin typeface="Microsoft YaHei"/>
              </a:rPr>
              <a:t>总巯基/Protein–SH下降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922008" y="1481328"/>
            <a:ext cx="640080" cy="219456"/>
          </a:xfrm>
          <a:prstGeom prst="roundRect">
            <a:avLst/>
          </a:prstGeom>
          <a:solidFill>
            <a:srgbClr val="5C3084"/>
          </a:solidFill>
          <a:ln w="12700">
            <a:solidFill>
              <a:srgbClr val="5C3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22008" y="1490472"/>
            <a:ext cx="640080" cy="1554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拟验证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40680" y="2221992"/>
            <a:ext cx="2240280" cy="621792"/>
          </a:xfrm>
          <a:prstGeom prst="roundRect">
            <a:avLst/>
          </a:prstGeom>
          <a:solidFill>
            <a:srgbClr val="FFF3E2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0680" y="2221992"/>
            <a:ext cx="64008" cy="621792"/>
          </a:xfrm>
          <a:prstGeom prst="rect">
            <a:avLst/>
          </a:prstGeom>
          <a:solidFill>
            <a:srgbClr val="DC771C"/>
          </a:solidFill>
          <a:ln w="12700">
            <a:solidFill>
              <a:srgbClr val="DC7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568696" y="230428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DC771C"/>
                </a:solidFill>
                <a:latin typeface="Microsoft YaHei"/>
              </a:rPr>
              <a:t>S–S形成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68696" y="2615184"/>
            <a:ext cx="2011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40" b="0">
                <a:solidFill>
                  <a:srgbClr val="2D2D2D"/>
                </a:solidFill>
                <a:latin typeface="Microsoft YaHei"/>
              </a:rPr>
              <a:t>二硫键或蛋白氧化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922008" y="2304288"/>
            <a:ext cx="640080" cy="219456"/>
          </a:xfrm>
          <a:prstGeom prst="roundRect">
            <a:avLst/>
          </a:prstGeom>
          <a:solidFill>
            <a:srgbClr val="DC771C"/>
          </a:solidFill>
          <a:ln w="12700">
            <a:solidFill>
              <a:srgbClr val="DC7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22008" y="2313432"/>
            <a:ext cx="640080" cy="1554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拟验证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440680" y="3044952"/>
            <a:ext cx="2240280" cy="621792"/>
          </a:xfrm>
          <a:prstGeom prst="roundRect">
            <a:avLst/>
          </a:prstGeom>
          <a:solidFill>
            <a:srgbClr val="E7F7F6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440680" y="3044952"/>
            <a:ext cx="64008" cy="621792"/>
          </a:xfrm>
          <a:prstGeom prst="rect">
            <a:avLst/>
          </a:prstGeom>
          <a:solidFill>
            <a:srgbClr val="148991"/>
          </a:solidFill>
          <a:ln w="12700">
            <a:solidFill>
              <a:srgbClr val="14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68696" y="312724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48991"/>
                </a:solidFill>
                <a:latin typeface="Microsoft YaHei"/>
              </a:rPr>
              <a:t>M–S配位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68696" y="3438144"/>
            <a:ext cx="2011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40" b="0">
                <a:solidFill>
                  <a:srgbClr val="2D2D2D"/>
                </a:solidFill>
                <a:latin typeface="Microsoft YaHei"/>
              </a:rPr>
              <a:t>金属—硫局部结构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22008" y="3127248"/>
            <a:ext cx="640080" cy="219456"/>
          </a:xfrm>
          <a:prstGeom prst="roundRect">
            <a:avLst/>
          </a:prstGeom>
          <a:solidFill>
            <a:srgbClr val="148991"/>
          </a:solidFill>
          <a:ln w="12700">
            <a:solidFill>
              <a:srgbClr val="14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22008" y="3136391"/>
            <a:ext cx="640080" cy="1554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拟验证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40680" y="3867912"/>
            <a:ext cx="2240280" cy="621792"/>
          </a:xfrm>
          <a:prstGeom prst="roundRect">
            <a:avLst/>
          </a:prstGeom>
          <a:solidFill>
            <a:srgbClr val="FDEBEA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440680" y="3867912"/>
            <a:ext cx="64008" cy="621792"/>
          </a:xfrm>
          <a:prstGeom prst="rect">
            <a:avLst/>
          </a:prstGeom>
          <a:solidFill>
            <a:srgbClr val="C12A23"/>
          </a:solidFill>
          <a:ln w="12700">
            <a:solidFill>
              <a:srgbClr val="C12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568696" y="395020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C12A23"/>
                </a:solidFill>
                <a:latin typeface="Microsoft YaHei"/>
              </a:rPr>
              <a:t>S=O增加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68696" y="4261104"/>
            <a:ext cx="2011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40" b="0">
                <a:solidFill>
                  <a:srgbClr val="2D2D2D"/>
                </a:solidFill>
                <a:latin typeface="Microsoft YaHei"/>
              </a:rPr>
              <a:t>更高氧化态硫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922008" y="3950208"/>
            <a:ext cx="640080" cy="219456"/>
          </a:xfrm>
          <a:prstGeom prst="roundRect">
            <a:avLst/>
          </a:prstGeom>
          <a:solidFill>
            <a:srgbClr val="C12A23"/>
          </a:solidFill>
          <a:ln w="12700">
            <a:solidFill>
              <a:srgbClr val="C12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922008" y="3959352"/>
            <a:ext cx="640080" cy="1554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拟验证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183879" y="1572768"/>
            <a:ext cx="3337560" cy="86868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183879" y="1572768"/>
            <a:ext cx="64008" cy="868680"/>
          </a:xfrm>
          <a:prstGeom prst="rect">
            <a:avLst/>
          </a:prstGeom>
          <a:solidFill>
            <a:srgbClr val="3A6CA6"/>
          </a:solidFill>
          <a:ln w="12700">
            <a:solidFill>
              <a:srgbClr val="3A6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311896" y="1655064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3A6CA6"/>
                </a:solidFill>
                <a:latin typeface="Microsoft YaHei"/>
              </a:rPr>
              <a:t>蛋白功能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11896" y="1965960"/>
            <a:ext cx="3108960" cy="4114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Microsoft YaHei"/>
              </a:rPr>
              <a:t>GAPDH活性；必要时扩展MT/PDI/Trx/Prx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183879" y="2670048"/>
            <a:ext cx="3337560" cy="868680"/>
          </a:xfrm>
          <a:prstGeom prst="roundRect">
            <a:avLst/>
          </a:prstGeom>
          <a:solidFill>
            <a:srgbClr val="F3ECF8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183879" y="2670048"/>
            <a:ext cx="64008" cy="868680"/>
          </a:xfrm>
          <a:prstGeom prst="rect">
            <a:avLst/>
          </a:prstGeom>
          <a:solidFill>
            <a:srgbClr val="5C3084"/>
          </a:solidFill>
          <a:ln w="12700">
            <a:solidFill>
              <a:srgbClr val="5C3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11896" y="2752344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5C3084"/>
                </a:solidFill>
                <a:latin typeface="Microsoft YaHei"/>
              </a:rPr>
              <a:t>氧化还原稳态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11896" y="3063240"/>
            <a:ext cx="3108960" cy="4114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Microsoft YaHei"/>
              </a:rPr>
              <a:t>GSH/GSSG、ROS、Protein–SH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183879" y="3767328"/>
            <a:ext cx="3337560" cy="868680"/>
          </a:xfrm>
          <a:prstGeom prst="roundRect">
            <a:avLst/>
          </a:prstGeom>
          <a:solidFill>
            <a:srgbClr val="FDEBEA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83879" y="3767328"/>
            <a:ext cx="64008" cy="868680"/>
          </a:xfrm>
          <a:prstGeom prst="rect">
            <a:avLst/>
          </a:prstGeom>
          <a:solidFill>
            <a:srgbClr val="C12A23"/>
          </a:solidFill>
          <a:ln w="12700">
            <a:solidFill>
              <a:srgbClr val="C12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11896" y="3849624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C12A23"/>
                </a:solidFill>
                <a:latin typeface="Microsoft YaHei"/>
              </a:rPr>
              <a:t>细胞效应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311896" y="4160520"/>
            <a:ext cx="3108960" cy="4114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Microsoft YaHei"/>
              </a:rPr>
              <a:t>活力/应激表型；细胞命运变化（拟验证）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2724912" y="1691640"/>
            <a:ext cx="219456" cy="0"/>
          </a:xfrm>
          <a:prstGeom prst="line">
            <a:avLst/>
          </a:prstGeom>
          <a:ln w="15240">
            <a:solidFill>
              <a:srgbClr val="5C3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2724912" y="2450592"/>
            <a:ext cx="219456" cy="0"/>
          </a:xfrm>
          <a:prstGeom prst="line">
            <a:avLst/>
          </a:prstGeom>
          <a:ln w="15240">
            <a:solidFill>
              <a:srgbClr val="5C3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2724912" y="3209544"/>
            <a:ext cx="219456" cy="0"/>
          </a:xfrm>
          <a:prstGeom prst="line">
            <a:avLst/>
          </a:prstGeom>
          <a:ln w="15240">
            <a:solidFill>
              <a:srgbClr val="5C3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2724912" y="3968496"/>
            <a:ext cx="219456" cy="0"/>
          </a:xfrm>
          <a:prstGeom prst="line">
            <a:avLst/>
          </a:prstGeom>
          <a:ln w="15240">
            <a:solidFill>
              <a:srgbClr val="5C3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724912" y="4370832"/>
            <a:ext cx="219456" cy="201168"/>
          </a:xfrm>
          <a:prstGeom prst="line">
            <a:avLst/>
          </a:prstGeom>
          <a:ln w="1397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5166360" y="1700784"/>
            <a:ext cx="228600" cy="128016"/>
          </a:xfrm>
          <a:prstGeom prst="line">
            <a:avLst/>
          </a:prstGeom>
          <a:ln w="19050">
            <a:solidFill>
              <a:srgbClr val="5C3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5166360" y="1828800"/>
            <a:ext cx="228600" cy="694944"/>
          </a:xfrm>
          <a:prstGeom prst="line">
            <a:avLst/>
          </a:prstGeom>
          <a:ln w="19050">
            <a:solidFill>
              <a:srgbClr val="5C3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166360" y="2523744"/>
            <a:ext cx="228600" cy="265176"/>
          </a:xfrm>
          <a:prstGeom prst="line">
            <a:avLst/>
          </a:prstGeom>
          <a:ln w="19050">
            <a:solidFill>
              <a:srgbClr val="14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5166360" y="2788920"/>
            <a:ext cx="228600" cy="557784"/>
          </a:xfrm>
          <a:prstGeom prst="line">
            <a:avLst/>
          </a:prstGeom>
          <a:ln w="19050">
            <a:solidFill>
              <a:srgbClr val="14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166360" y="3346704"/>
            <a:ext cx="228600" cy="402335"/>
          </a:xfrm>
          <a:prstGeom prst="line">
            <a:avLst/>
          </a:prstGeom>
          <a:ln w="22860">
            <a:solidFill>
              <a:srgbClr val="C12A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5166360" y="3749039"/>
            <a:ext cx="228600" cy="420624"/>
          </a:xfrm>
          <a:prstGeom prst="line">
            <a:avLst/>
          </a:prstGeom>
          <a:ln w="22860">
            <a:solidFill>
              <a:srgbClr val="C12A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5166360" y="2523744"/>
            <a:ext cx="228600" cy="2185416"/>
          </a:xfrm>
          <a:prstGeom prst="line">
            <a:avLst/>
          </a:prstGeom>
          <a:ln w="15240">
            <a:solidFill>
              <a:srgbClr val="3A6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7708392" y="1709928"/>
            <a:ext cx="448056" cy="256032"/>
          </a:xfrm>
          <a:prstGeom prst="line">
            <a:avLst/>
          </a:prstGeom>
          <a:ln w="20320">
            <a:solidFill>
              <a:srgbClr val="DC77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708392" y="1965960"/>
            <a:ext cx="448056" cy="566928"/>
          </a:xfrm>
          <a:prstGeom prst="line">
            <a:avLst/>
          </a:prstGeom>
          <a:ln w="20320">
            <a:solidFill>
              <a:srgbClr val="14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708392" y="3063240"/>
            <a:ext cx="448056" cy="292608"/>
          </a:xfrm>
          <a:prstGeom prst="line">
            <a:avLst/>
          </a:prstGeom>
          <a:ln w="20320">
            <a:solidFill>
              <a:srgbClr val="C12A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708392" y="3063240"/>
            <a:ext cx="448056" cy="1115568"/>
          </a:xfrm>
          <a:prstGeom prst="line">
            <a:avLst/>
          </a:prstGeom>
          <a:ln w="20320">
            <a:solidFill>
              <a:srgbClr val="C12A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6583680" y="4315968"/>
            <a:ext cx="3108960" cy="329184"/>
          </a:xfrm>
          <a:prstGeom prst="line">
            <a:avLst/>
          </a:prstGeom>
          <a:ln w="27940">
            <a:solidFill>
              <a:srgbClr val="C12A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09"/>
          <p:cNvSpPr/>
          <p:nvPr/>
        </p:nvSpPr>
        <p:spPr>
          <a:xfrm>
            <a:off x="8183879" y="4736592"/>
            <a:ext cx="3337560" cy="685800"/>
          </a:xfrm>
          <a:prstGeom prst="roundRect">
            <a:avLst/>
          </a:prstGeom>
          <a:solidFill>
            <a:srgbClr val="FDEBEA"/>
          </a:solidFill>
          <a:ln w="12700">
            <a:solidFill>
              <a:srgbClr val="C12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339327" y="4882896"/>
            <a:ext cx="30175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50" b="1">
                <a:solidFill>
                  <a:srgbClr val="C12A23"/>
                </a:solidFill>
                <a:latin typeface="Microsoft YaHei"/>
              </a:rPr>
              <a:t>创新点：以S K-edge与金属边谱学
区分S–S、M–S与氧化硫状态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28600" y="6547104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Microsoft YaHei"/>
              </a:rPr>
              <a:t>纳米颗粒—蛋白巯基—氧化应激｜示意图与拟验证内容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38428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C3084"/>
          </a:solidFill>
          <a:ln w="12700">
            <a:solidFill>
              <a:srgbClr val="5C3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C3084"/>
          </a:solidFill>
          <a:ln w="12700">
            <a:solidFill>
              <a:srgbClr val="5C3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256032"/>
            <a:ext cx="2788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5C3084"/>
                </a:solidFill>
                <a:latin typeface="Microsoft YaHei"/>
              </a:rPr>
              <a:t>研究内容及方案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94944"/>
            <a:ext cx="1078992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12A23"/>
                </a:solidFill>
                <a:latin typeface="Microsoft YaHei"/>
              </a:rPr>
              <a:t>验证逻辑：材料特征 → 界面巯基反应 → 蛋白功能 → 细胞氧化应激 → 谱学机制闭环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22860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Microsoft YaHei"/>
              </a:rPr>
              <a:t>图2｜实验技术路线图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70432"/>
            <a:ext cx="2084831" cy="438912"/>
          </a:xfrm>
          <a:prstGeom prst="roundRect">
            <a:avLst/>
          </a:prstGeom>
          <a:solidFill>
            <a:srgbClr val="DC771C"/>
          </a:solidFill>
          <a:ln w="12700">
            <a:solidFill>
              <a:srgbClr val="DC7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1261872"/>
            <a:ext cx="1975103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Ⅰ 材料选择与制备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7168" y="1389888"/>
            <a:ext cx="173736" cy="0"/>
          </a:xfrm>
          <a:prstGeom prst="line">
            <a:avLst/>
          </a:prstGeom>
          <a:ln w="22860">
            <a:solidFill>
              <a:srgbClr val="5C3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06624" y="1170432"/>
            <a:ext cx="2084831" cy="438912"/>
          </a:xfrm>
          <a:prstGeom prst="roundRect">
            <a:avLst/>
          </a:prstGeom>
          <a:solidFill>
            <a:srgbClr val="148991"/>
          </a:solidFill>
          <a:ln w="12700">
            <a:solidFill>
              <a:srgbClr val="14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8" y="1261872"/>
            <a:ext cx="1975103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Ⅱ 理化表征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28032" y="1389888"/>
            <a:ext cx="173736" cy="0"/>
          </a:xfrm>
          <a:prstGeom prst="line">
            <a:avLst/>
          </a:prstGeom>
          <a:ln w="22860">
            <a:solidFill>
              <a:srgbClr val="5C3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47488" y="1170432"/>
            <a:ext cx="2084831" cy="438912"/>
          </a:xfrm>
          <a:prstGeom prst="roundRect">
            <a:avLst/>
          </a:prstGeom>
          <a:solidFill>
            <a:srgbClr val="3A6CA6"/>
          </a:solidFill>
          <a:ln w="12700">
            <a:solidFill>
              <a:srgbClr val="3A6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02351" y="1261872"/>
            <a:ext cx="1975103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Ⅲ Cys/GSH模型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68895" y="1389888"/>
            <a:ext cx="173736" cy="0"/>
          </a:xfrm>
          <a:prstGeom prst="line">
            <a:avLst/>
          </a:prstGeom>
          <a:ln w="22860">
            <a:solidFill>
              <a:srgbClr val="5C3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88352" y="1170432"/>
            <a:ext cx="2084831" cy="438912"/>
          </a:xfrm>
          <a:prstGeom prst="roundRect">
            <a:avLst/>
          </a:prstGeom>
          <a:solidFill>
            <a:srgbClr val="5C3084"/>
          </a:solidFill>
          <a:ln w="12700">
            <a:solidFill>
              <a:srgbClr val="5C3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6" y="1261872"/>
            <a:ext cx="1975103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Ⅳ 蛋白与细胞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509759" y="1389888"/>
            <a:ext cx="173737" cy="0"/>
          </a:xfrm>
          <a:prstGeom prst="line">
            <a:avLst/>
          </a:prstGeom>
          <a:ln w="22860">
            <a:solidFill>
              <a:srgbClr val="5C3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729216" y="1170432"/>
            <a:ext cx="2084831" cy="438912"/>
          </a:xfrm>
          <a:prstGeom prst="roundRect">
            <a:avLst/>
          </a:prstGeom>
          <a:solidFill>
            <a:srgbClr val="C12A23"/>
          </a:solidFill>
          <a:ln w="12700">
            <a:solidFill>
              <a:srgbClr val="C12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1261872"/>
            <a:ext cx="1975103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Ⅴ 谱学与整合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1783080"/>
            <a:ext cx="2084831" cy="960120"/>
          </a:xfrm>
          <a:prstGeom prst="roundRect">
            <a:avLst/>
          </a:prstGeom>
          <a:solidFill>
            <a:srgbClr val="FFF3E2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1783080"/>
            <a:ext cx="64008" cy="960120"/>
          </a:xfrm>
          <a:prstGeom prst="rect">
            <a:avLst/>
          </a:prstGeom>
          <a:solidFill>
            <a:srgbClr val="DC771C"/>
          </a:solidFill>
          <a:ln w="12700">
            <a:solidFill>
              <a:srgbClr val="DC7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" y="1865376"/>
            <a:ext cx="1856231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DC771C"/>
                </a:solidFill>
                <a:latin typeface="Microsoft YaHei"/>
              </a:rPr>
              <a:t>候选材料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" y="2176272"/>
            <a:ext cx="1856231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D2D2D"/>
                </a:solidFill>
                <a:latin typeface="Microsoft YaHei"/>
              </a:rPr>
              <a:t>AuNP、ZnO、CuO、Fe₂O₃
TiO₂：低反应性对照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91639" y="1865376"/>
            <a:ext cx="640080" cy="219456"/>
          </a:xfrm>
          <a:prstGeom prst="roundRect">
            <a:avLst/>
          </a:prstGeom>
          <a:solidFill>
            <a:srgbClr val="DC771C"/>
          </a:solidFill>
          <a:ln w="12700">
            <a:solidFill>
              <a:srgbClr val="DC7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91639" y="1874519"/>
            <a:ext cx="640080" cy="1554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对象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2889504"/>
            <a:ext cx="2084831" cy="960120"/>
          </a:xfrm>
          <a:prstGeom prst="roundRect">
            <a:avLst/>
          </a:prstGeom>
          <a:solidFill>
            <a:srgbClr val="FFF3E2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2889504"/>
            <a:ext cx="64008" cy="960120"/>
          </a:xfrm>
          <a:prstGeom prst="rect">
            <a:avLst/>
          </a:prstGeom>
          <a:solidFill>
            <a:srgbClr val="DC771C"/>
          </a:solidFill>
          <a:ln w="12700">
            <a:solidFill>
              <a:srgbClr val="DC7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" y="2971800"/>
            <a:ext cx="1856231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DC771C"/>
                </a:solidFill>
                <a:latin typeface="Microsoft YaHei"/>
              </a:rPr>
              <a:t>批次与条件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3282696"/>
            <a:ext cx="1856231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D2D2D"/>
                </a:solidFill>
                <a:latin typeface="Microsoft YaHei"/>
              </a:rPr>
              <a:t>3批独立制备/采购
等金属质量、等表面积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91639" y="2971800"/>
            <a:ext cx="640080" cy="219456"/>
          </a:xfrm>
          <a:prstGeom prst="roundRect">
            <a:avLst/>
          </a:prstGeom>
          <a:solidFill>
            <a:srgbClr val="DC771C"/>
          </a:solidFill>
          <a:ln w="12700">
            <a:solidFill>
              <a:srgbClr val="DC7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91639" y="2980944"/>
            <a:ext cx="640080" cy="1554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控制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3995928"/>
            <a:ext cx="2084831" cy="1143000"/>
          </a:xfrm>
          <a:prstGeom prst="roundRect">
            <a:avLst/>
          </a:prstGeom>
          <a:solidFill>
            <a:srgbClr val="FDEBEA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3995928"/>
            <a:ext cx="64008" cy="1143000"/>
          </a:xfrm>
          <a:prstGeom prst="rect">
            <a:avLst/>
          </a:prstGeom>
          <a:solidFill>
            <a:srgbClr val="C12A23"/>
          </a:solidFill>
          <a:ln w="12700">
            <a:solidFill>
              <a:srgbClr val="C12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" y="4078224"/>
            <a:ext cx="1856231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C12A23"/>
                </a:solidFill>
                <a:latin typeface="Microsoft YaHei"/>
              </a:rPr>
              <a:t>调控分支（按结果）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" y="4389120"/>
            <a:ext cx="1856231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0" b="0">
                <a:solidFill>
                  <a:srgbClr val="2D2D2D"/>
                </a:solidFill>
                <a:latin typeface="Microsoft YaHei"/>
              </a:rPr>
              <a:t>表面包覆、溶解性、缺陷/价态
问题：材料性质能否调控巯基响应？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691639" y="4078224"/>
            <a:ext cx="640080" cy="219456"/>
          </a:xfrm>
          <a:prstGeom prst="roundRect">
            <a:avLst/>
          </a:prstGeom>
          <a:solidFill>
            <a:srgbClr val="C12A23"/>
          </a:solidFill>
          <a:ln w="12700">
            <a:solidFill>
              <a:srgbClr val="C12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91639" y="4087368"/>
            <a:ext cx="640080" cy="1554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拟验证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06624" y="1783080"/>
            <a:ext cx="2084831" cy="960120"/>
          </a:xfrm>
          <a:prstGeom prst="roundRect">
            <a:avLst/>
          </a:prstGeom>
          <a:solidFill>
            <a:srgbClr val="E7F7F6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06624" y="1783080"/>
            <a:ext cx="64008" cy="960120"/>
          </a:xfrm>
          <a:prstGeom prst="rect">
            <a:avLst/>
          </a:prstGeom>
          <a:solidFill>
            <a:srgbClr val="148991"/>
          </a:solidFill>
          <a:ln w="12700">
            <a:solidFill>
              <a:srgbClr val="14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40" y="1865376"/>
            <a:ext cx="1856231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48991"/>
                </a:solidFill>
                <a:latin typeface="Microsoft YaHei"/>
              </a:rPr>
              <a:t>形貌与分散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2176272"/>
            <a:ext cx="1856231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D2D2D"/>
                </a:solidFill>
                <a:latin typeface="Microsoft YaHei"/>
              </a:rPr>
              <a:t>TEM/DLS
粒径、团聚、分散性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32504" y="1865376"/>
            <a:ext cx="640080" cy="219456"/>
          </a:xfrm>
          <a:prstGeom prst="roundRect">
            <a:avLst/>
          </a:prstGeom>
          <a:solidFill>
            <a:srgbClr val="148991"/>
          </a:solidFill>
          <a:ln w="12700">
            <a:solidFill>
              <a:srgbClr val="14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32504" y="1874519"/>
            <a:ext cx="640080" cy="1554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数据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06624" y="2889504"/>
            <a:ext cx="2084831" cy="960120"/>
          </a:xfrm>
          <a:prstGeom prst="roundRect">
            <a:avLst/>
          </a:prstGeom>
          <a:solidFill>
            <a:srgbClr val="E7F7F6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06624" y="2889504"/>
            <a:ext cx="64008" cy="960120"/>
          </a:xfrm>
          <a:prstGeom prst="rect">
            <a:avLst/>
          </a:prstGeom>
          <a:solidFill>
            <a:srgbClr val="148991"/>
          </a:solidFill>
          <a:ln w="12700">
            <a:solidFill>
              <a:srgbClr val="14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34640" y="2971800"/>
            <a:ext cx="1856231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48991"/>
                </a:solidFill>
                <a:latin typeface="Microsoft YaHei"/>
              </a:rPr>
              <a:t>晶相与表面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34640" y="3282696"/>
            <a:ext cx="1856231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D2D2D"/>
                </a:solidFill>
                <a:latin typeface="Microsoft YaHei"/>
              </a:rPr>
              <a:t>XRD、XPS、ζ电位
晶相、价态、表面电荷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032504" y="2971800"/>
            <a:ext cx="640080" cy="219456"/>
          </a:xfrm>
          <a:prstGeom prst="roundRect">
            <a:avLst/>
          </a:prstGeom>
          <a:solidFill>
            <a:srgbClr val="148991"/>
          </a:solidFill>
          <a:ln w="12700">
            <a:solidFill>
              <a:srgbClr val="14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32504" y="2980944"/>
            <a:ext cx="640080" cy="1554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数据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06624" y="3995928"/>
            <a:ext cx="2084831" cy="1143000"/>
          </a:xfrm>
          <a:prstGeom prst="roundRect">
            <a:avLst/>
          </a:prstGeom>
          <a:solidFill>
            <a:srgbClr val="E7F7F6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706624" y="3995928"/>
            <a:ext cx="64008" cy="1143000"/>
          </a:xfrm>
          <a:prstGeom prst="rect">
            <a:avLst/>
          </a:prstGeom>
          <a:solidFill>
            <a:srgbClr val="148991"/>
          </a:solidFill>
          <a:ln w="12700">
            <a:solidFill>
              <a:srgbClr val="14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34640" y="4078224"/>
            <a:ext cx="1856231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48991"/>
                </a:solidFill>
                <a:latin typeface="Microsoft YaHei"/>
              </a:rPr>
              <a:t>离子释放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34640" y="4389120"/>
            <a:ext cx="1856231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90" b="0">
                <a:solidFill>
                  <a:srgbClr val="2D2D2D"/>
                </a:solidFill>
                <a:latin typeface="Microsoft YaHei"/>
              </a:rPr>
              <a:t>介质孵育 + ICP-MS
Zn/Cu/Fe离子释放曲线
问题：颗粒效应还是离子效应？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032504" y="4078224"/>
            <a:ext cx="640080" cy="219456"/>
          </a:xfrm>
          <a:prstGeom prst="roundRect">
            <a:avLst/>
          </a:prstGeom>
          <a:solidFill>
            <a:srgbClr val="148991"/>
          </a:solidFill>
          <a:ln w="12700">
            <a:solidFill>
              <a:srgbClr val="14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32504" y="4087368"/>
            <a:ext cx="640080" cy="1554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判定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47488" y="1783080"/>
            <a:ext cx="2084831" cy="96012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47488" y="1783080"/>
            <a:ext cx="64008" cy="960120"/>
          </a:xfrm>
          <a:prstGeom prst="rect">
            <a:avLst/>
          </a:prstGeom>
          <a:solidFill>
            <a:srgbClr val="3A6CA6"/>
          </a:solidFill>
          <a:ln w="12700">
            <a:solidFill>
              <a:srgbClr val="3A6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75503" y="1865376"/>
            <a:ext cx="1856231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3A6CA6"/>
                </a:solidFill>
                <a:latin typeface="Microsoft YaHei"/>
              </a:rPr>
              <a:t>反应体系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75503" y="2176272"/>
            <a:ext cx="1856231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D2D2D"/>
                </a:solidFill>
                <a:latin typeface="Microsoft YaHei"/>
              </a:rPr>
              <a:t>Cys/GSH + NP
时间×剂量梯度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73367" y="1865376"/>
            <a:ext cx="640080" cy="219456"/>
          </a:xfrm>
          <a:prstGeom prst="roundRect">
            <a:avLst/>
          </a:prstGeom>
          <a:solidFill>
            <a:srgbClr val="3A6CA6"/>
          </a:solidFill>
          <a:ln w="12700">
            <a:solidFill>
              <a:srgbClr val="3A6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73367" y="1874519"/>
            <a:ext cx="640080" cy="1554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样品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47488" y="2889504"/>
            <a:ext cx="2084831" cy="96012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47488" y="2889504"/>
            <a:ext cx="64008" cy="960120"/>
          </a:xfrm>
          <a:prstGeom prst="rect">
            <a:avLst/>
          </a:prstGeom>
          <a:solidFill>
            <a:srgbClr val="3A6CA6"/>
          </a:solidFill>
          <a:ln w="12700">
            <a:solidFill>
              <a:srgbClr val="3A6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75503" y="2971800"/>
            <a:ext cx="1856231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3A6CA6"/>
                </a:solidFill>
                <a:latin typeface="Microsoft YaHei"/>
              </a:rPr>
              <a:t>巯基与氧化还原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75503" y="3282696"/>
            <a:ext cx="1856231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90" b="0">
                <a:solidFill>
                  <a:srgbClr val="2D2D2D"/>
                </a:solidFill>
                <a:latin typeface="Microsoft YaHei"/>
              </a:rPr>
              <a:t>Ellman/荧光：–SH
HPLC/LC–MS：Cys/cystine、GSH/GSSG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73367" y="2971800"/>
            <a:ext cx="640080" cy="219456"/>
          </a:xfrm>
          <a:prstGeom prst="roundRect">
            <a:avLst/>
          </a:prstGeom>
          <a:solidFill>
            <a:srgbClr val="3A6CA6"/>
          </a:solidFill>
          <a:ln w="12700">
            <a:solidFill>
              <a:srgbClr val="3A6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73367" y="2980944"/>
            <a:ext cx="640080" cy="1554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指标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047488" y="3995928"/>
            <a:ext cx="2084831" cy="11430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047488" y="3995928"/>
            <a:ext cx="64008" cy="1143000"/>
          </a:xfrm>
          <a:prstGeom prst="rect">
            <a:avLst/>
          </a:prstGeom>
          <a:solidFill>
            <a:srgbClr val="3A6CA6"/>
          </a:solidFill>
          <a:ln w="12700">
            <a:solidFill>
              <a:srgbClr val="3A6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75503" y="4078224"/>
            <a:ext cx="1856231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3A6CA6"/>
                </a:solidFill>
                <a:latin typeface="Microsoft YaHei"/>
              </a:rPr>
              <a:t>路径判定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75503" y="4389120"/>
            <a:ext cx="1856231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icrosoft YaHei"/>
              </a:rPr>
              <a:t>ROS检测、金属离子释放
无NP/TiO₂/金属离子/螯合剂对照
结果：建立材料“巯基指纹”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373367" y="4078224"/>
            <a:ext cx="640080" cy="219456"/>
          </a:xfrm>
          <a:prstGeom prst="roundRect">
            <a:avLst/>
          </a:prstGeom>
          <a:solidFill>
            <a:srgbClr val="3A6CA6"/>
          </a:solidFill>
          <a:ln w="12700">
            <a:solidFill>
              <a:srgbClr val="3A6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7" y="4087368"/>
            <a:ext cx="640080" cy="1554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结论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388352" y="1783080"/>
            <a:ext cx="2084831" cy="960120"/>
          </a:xfrm>
          <a:prstGeom prst="roundRect">
            <a:avLst/>
          </a:prstGeom>
          <a:solidFill>
            <a:srgbClr val="F3ECF8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388352" y="1783080"/>
            <a:ext cx="64008" cy="960120"/>
          </a:xfrm>
          <a:prstGeom prst="rect">
            <a:avLst/>
          </a:prstGeom>
          <a:solidFill>
            <a:srgbClr val="5C3084"/>
          </a:solidFill>
          <a:ln w="12700">
            <a:solidFill>
              <a:srgbClr val="5C3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16368" y="1865376"/>
            <a:ext cx="1856231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5C3084"/>
                </a:solidFill>
                <a:latin typeface="Microsoft YaHei"/>
              </a:rPr>
              <a:t>代表蛋白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516368" y="2176272"/>
            <a:ext cx="1856231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>
                <a:solidFill>
                  <a:srgbClr val="2D2D2D"/>
                </a:solidFill>
                <a:latin typeface="Microsoft YaHei"/>
              </a:rPr>
              <a:t>GAPDH ± NP
Protein–SH与GAPDH活性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714232" y="1865376"/>
            <a:ext cx="640080" cy="219456"/>
          </a:xfrm>
          <a:prstGeom prst="roundRect">
            <a:avLst/>
          </a:prstGeom>
          <a:solidFill>
            <a:srgbClr val="5C3084"/>
          </a:solidFill>
          <a:ln w="12700">
            <a:solidFill>
              <a:srgbClr val="5C3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714232" y="1874519"/>
            <a:ext cx="640080" cy="1554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验证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388352" y="2889504"/>
            <a:ext cx="2084831" cy="960120"/>
          </a:xfrm>
          <a:prstGeom prst="roundRect">
            <a:avLst/>
          </a:prstGeom>
          <a:solidFill>
            <a:srgbClr val="F3ECF8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8352" y="2889504"/>
            <a:ext cx="64008" cy="960120"/>
          </a:xfrm>
          <a:prstGeom prst="rect">
            <a:avLst/>
          </a:prstGeom>
          <a:solidFill>
            <a:srgbClr val="5C3084"/>
          </a:solidFill>
          <a:ln w="12700">
            <a:solidFill>
              <a:srgbClr val="5C3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16368" y="2971800"/>
            <a:ext cx="1856231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5C3084"/>
                </a:solidFill>
                <a:latin typeface="Microsoft YaHei"/>
              </a:rPr>
              <a:t>扩展蛋白（按结果）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16368" y="3282696"/>
            <a:ext cx="1856231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>
                <a:solidFill>
                  <a:srgbClr val="2D2D2D"/>
                </a:solidFill>
                <a:latin typeface="Microsoft YaHei"/>
              </a:rPr>
              <a:t>MT/PDI/Trx/Prx
蛋白巯基状态与功能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714232" y="2971800"/>
            <a:ext cx="640080" cy="219456"/>
          </a:xfrm>
          <a:prstGeom prst="roundRect">
            <a:avLst/>
          </a:prstGeom>
          <a:solidFill>
            <a:srgbClr val="5C3084"/>
          </a:solidFill>
          <a:ln w="12700">
            <a:solidFill>
              <a:srgbClr val="5C3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714232" y="2980944"/>
            <a:ext cx="640080" cy="1554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拟验证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388352" y="3995928"/>
            <a:ext cx="2084831" cy="1143000"/>
          </a:xfrm>
          <a:prstGeom prst="roundRect">
            <a:avLst/>
          </a:prstGeom>
          <a:solidFill>
            <a:srgbClr val="F3ECF8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388352" y="3995928"/>
            <a:ext cx="64008" cy="1143000"/>
          </a:xfrm>
          <a:prstGeom prst="rect">
            <a:avLst/>
          </a:prstGeom>
          <a:solidFill>
            <a:srgbClr val="5C3084"/>
          </a:solidFill>
          <a:ln w="12700">
            <a:solidFill>
              <a:srgbClr val="5C3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16368" y="4078224"/>
            <a:ext cx="1856231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5C3084"/>
                </a:solidFill>
                <a:latin typeface="Microsoft YaHei"/>
              </a:rPr>
              <a:t>细胞统一终点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516368" y="4389120"/>
            <a:ext cx="1856231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>
                <a:solidFill>
                  <a:srgbClr val="2D2D2D"/>
                </a:solidFill>
                <a:latin typeface="Microsoft YaHei"/>
              </a:rPr>
              <a:t>Protein–SH、GSH/GSSG、ROS、细胞活力
问题：巯基变化是否连接到细胞效应？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714232" y="4078224"/>
            <a:ext cx="640080" cy="219456"/>
          </a:xfrm>
          <a:prstGeom prst="roundRect">
            <a:avLst/>
          </a:prstGeom>
          <a:solidFill>
            <a:srgbClr val="5C3084"/>
          </a:solidFill>
          <a:ln w="12700">
            <a:solidFill>
              <a:srgbClr val="5C3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714232" y="4087368"/>
            <a:ext cx="640080" cy="1554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结论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729216" y="1783080"/>
            <a:ext cx="2084831" cy="960120"/>
          </a:xfrm>
          <a:prstGeom prst="roundRect">
            <a:avLst/>
          </a:prstGeom>
          <a:solidFill>
            <a:srgbClr val="FDEBEA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729216" y="1783080"/>
            <a:ext cx="64008" cy="960120"/>
          </a:xfrm>
          <a:prstGeom prst="rect">
            <a:avLst/>
          </a:prstGeom>
          <a:solidFill>
            <a:srgbClr val="C12A23"/>
          </a:solidFill>
          <a:ln w="12700">
            <a:solidFill>
              <a:srgbClr val="C12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857232" y="1865376"/>
            <a:ext cx="1856231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C12A23"/>
                </a:solidFill>
                <a:latin typeface="Microsoft YaHei"/>
              </a:rPr>
              <a:t>金属边谱学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857232" y="2176272"/>
            <a:ext cx="1856231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90" b="0">
                <a:solidFill>
                  <a:srgbClr val="2D2D2D"/>
                </a:solidFill>
                <a:latin typeface="Microsoft YaHei"/>
              </a:rPr>
              <a:t>Fe/Cu/Zn/Au K-edge
XANES/EXAFS：价态、局部配位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1055096" y="1865376"/>
            <a:ext cx="640080" cy="219456"/>
          </a:xfrm>
          <a:prstGeom prst="roundRect">
            <a:avLst/>
          </a:prstGeom>
          <a:solidFill>
            <a:srgbClr val="C12A23"/>
          </a:solidFill>
          <a:ln w="12700">
            <a:solidFill>
              <a:srgbClr val="C12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055096" y="1874519"/>
            <a:ext cx="640080" cy="1554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结构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729216" y="2889504"/>
            <a:ext cx="2084831" cy="960120"/>
          </a:xfrm>
          <a:prstGeom prst="roundRect">
            <a:avLst/>
          </a:prstGeom>
          <a:solidFill>
            <a:srgbClr val="FDEBEA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729216" y="2889504"/>
            <a:ext cx="64008" cy="960120"/>
          </a:xfrm>
          <a:prstGeom prst="rect">
            <a:avLst/>
          </a:prstGeom>
          <a:solidFill>
            <a:srgbClr val="C12A23"/>
          </a:solidFill>
          <a:ln w="12700">
            <a:solidFill>
              <a:srgbClr val="C12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857232" y="2971800"/>
            <a:ext cx="1856231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C12A23"/>
                </a:solidFill>
                <a:latin typeface="Microsoft YaHei"/>
              </a:rPr>
              <a:t>S K-edge XANES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857232" y="3282696"/>
            <a:ext cx="1856231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>
                <a:solidFill>
                  <a:srgbClr val="2D2D2D"/>
                </a:solidFill>
                <a:latin typeface="Microsoft YaHei"/>
              </a:rPr>
              <a:t>–SH、S–S、M–S、S=O
硫化学状态指纹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1055096" y="2971800"/>
            <a:ext cx="640080" cy="219456"/>
          </a:xfrm>
          <a:prstGeom prst="roundRect">
            <a:avLst/>
          </a:prstGeom>
          <a:solidFill>
            <a:srgbClr val="C12A23"/>
          </a:solidFill>
          <a:ln w="12700">
            <a:solidFill>
              <a:srgbClr val="C12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055096" y="2980944"/>
            <a:ext cx="640080" cy="1554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结构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9729216" y="3995928"/>
            <a:ext cx="2084831" cy="1143000"/>
          </a:xfrm>
          <a:prstGeom prst="roundRect">
            <a:avLst/>
          </a:prstGeom>
          <a:solidFill>
            <a:srgbClr val="FDEBEA"/>
          </a:solidFill>
          <a:ln w="12700">
            <a:solidFill>
              <a:srgbClr val="D4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729216" y="3995928"/>
            <a:ext cx="64008" cy="1143000"/>
          </a:xfrm>
          <a:prstGeom prst="rect">
            <a:avLst/>
          </a:prstGeom>
          <a:solidFill>
            <a:srgbClr val="C12A23"/>
          </a:solidFill>
          <a:ln w="12700">
            <a:solidFill>
              <a:srgbClr val="C12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857232" y="4078224"/>
            <a:ext cx="1856231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C12A23"/>
                </a:solidFill>
                <a:latin typeface="Microsoft YaHei"/>
              </a:rPr>
              <a:t>数据整合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857232" y="4389120"/>
            <a:ext cx="1856231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icrosoft YaHei"/>
              </a:rPr>
              <a:t>统计比较、效应量、剂量—时间关系
输出：材料特征—巯基状态—细胞效应机制图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1055096" y="4078224"/>
            <a:ext cx="640080" cy="219456"/>
          </a:xfrm>
          <a:prstGeom prst="roundRect">
            <a:avLst/>
          </a:prstGeom>
          <a:solidFill>
            <a:srgbClr val="C12A23"/>
          </a:solidFill>
          <a:ln w="12700">
            <a:solidFill>
              <a:srgbClr val="C12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1055096" y="4087368"/>
            <a:ext cx="640080" cy="1554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结论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408176" y="2761488"/>
            <a:ext cx="0" cy="91440"/>
          </a:xfrm>
          <a:prstGeom prst="line">
            <a:avLst/>
          </a:prstGeom>
          <a:ln w="15240">
            <a:solidFill>
              <a:srgbClr val="5C3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408176" y="3867912"/>
            <a:ext cx="0" cy="91440"/>
          </a:xfrm>
          <a:prstGeom prst="line">
            <a:avLst/>
          </a:prstGeom>
          <a:ln w="15240">
            <a:solidFill>
              <a:srgbClr val="5C3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3749039" y="2761488"/>
            <a:ext cx="0" cy="91440"/>
          </a:xfrm>
          <a:prstGeom prst="line">
            <a:avLst/>
          </a:prstGeom>
          <a:ln w="15240">
            <a:solidFill>
              <a:srgbClr val="5C3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3749039" y="3867912"/>
            <a:ext cx="0" cy="91440"/>
          </a:xfrm>
          <a:prstGeom prst="line">
            <a:avLst/>
          </a:prstGeom>
          <a:ln w="15240">
            <a:solidFill>
              <a:srgbClr val="5C3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6089903" y="2761488"/>
            <a:ext cx="0" cy="91440"/>
          </a:xfrm>
          <a:prstGeom prst="line">
            <a:avLst/>
          </a:prstGeom>
          <a:ln w="15240">
            <a:solidFill>
              <a:srgbClr val="5C3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6089903" y="3867912"/>
            <a:ext cx="0" cy="91440"/>
          </a:xfrm>
          <a:prstGeom prst="line">
            <a:avLst/>
          </a:prstGeom>
          <a:ln w="15240">
            <a:solidFill>
              <a:srgbClr val="5C3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8430768" y="2761488"/>
            <a:ext cx="0" cy="91440"/>
          </a:xfrm>
          <a:prstGeom prst="line">
            <a:avLst/>
          </a:prstGeom>
          <a:ln w="15240">
            <a:solidFill>
              <a:srgbClr val="5C3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8430768" y="3867912"/>
            <a:ext cx="0" cy="91440"/>
          </a:xfrm>
          <a:prstGeom prst="line">
            <a:avLst/>
          </a:prstGeom>
          <a:ln w="15240">
            <a:solidFill>
              <a:srgbClr val="5C3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771632" y="2761488"/>
            <a:ext cx="0" cy="91440"/>
          </a:xfrm>
          <a:prstGeom prst="line">
            <a:avLst/>
          </a:prstGeom>
          <a:ln w="15240">
            <a:solidFill>
              <a:srgbClr val="5C3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0771632" y="3867912"/>
            <a:ext cx="0" cy="91440"/>
          </a:xfrm>
          <a:prstGeom prst="line">
            <a:avLst/>
          </a:prstGeom>
          <a:ln w="15240">
            <a:solidFill>
              <a:srgbClr val="5C3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2468880" y="2258568"/>
            <a:ext cx="182880" cy="0"/>
          </a:xfrm>
          <a:prstGeom prst="line">
            <a:avLst/>
          </a:prstGeom>
          <a:ln w="12700">
            <a:solidFill>
              <a:srgbClr val="5C3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4809744" y="2258568"/>
            <a:ext cx="182880" cy="0"/>
          </a:xfrm>
          <a:prstGeom prst="line">
            <a:avLst/>
          </a:prstGeom>
          <a:ln w="12700">
            <a:solidFill>
              <a:srgbClr val="5C3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150608" y="2258568"/>
            <a:ext cx="182880" cy="0"/>
          </a:xfrm>
          <a:prstGeom prst="line">
            <a:avLst/>
          </a:prstGeom>
          <a:ln w="12700">
            <a:solidFill>
              <a:srgbClr val="5C3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9491472" y="2258568"/>
            <a:ext cx="182880" cy="0"/>
          </a:xfrm>
          <a:prstGeom prst="line">
            <a:avLst/>
          </a:prstGeom>
          <a:ln w="12700">
            <a:solidFill>
              <a:srgbClr val="5C3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365760" y="5413248"/>
            <a:ext cx="7223760" cy="621792"/>
          </a:xfrm>
          <a:prstGeom prst="roundRect">
            <a:avLst/>
          </a:prstGeom>
          <a:solidFill>
            <a:srgbClr val="F7F7F9"/>
          </a:solidFill>
          <a:ln w="12700"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02920" y="5559552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C3084"/>
                </a:solidFill>
                <a:latin typeface="Microsoft YaHei"/>
              </a:rPr>
              <a:t>关键对照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554480" y="5559552"/>
            <a:ext cx="1234440" cy="219456"/>
          </a:xfrm>
          <a:prstGeom prst="roundRect">
            <a:avLst/>
          </a:prstGeom>
          <a:solidFill>
            <a:srgbClr val="5C5C5C"/>
          </a:solidFill>
          <a:ln w="12700"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554480" y="5568696"/>
            <a:ext cx="1234440" cy="1554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无NP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2971800" y="5559552"/>
            <a:ext cx="1234440" cy="219456"/>
          </a:xfrm>
          <a:prstGeom prst="roundRect">
            <a:avLst/>
          </a:prstGeom>
          <a:solidFill>
            <a:srgbClr val="148991"/>
          </a:solidFill>
          <a:ln w="12700">
            <a:solidFill>
              <a:srgbClr val="14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71800" y="5568696"/>
            <a:ext cx="1234440" cy="1554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TiO₂低反应性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389120" y="5559552"/>
            <a:ext cx="1234440" cy="219456"/>
          </a:xfrm>
          <a:prstGeom prst="roundRect">
            <a:avLst/>
          </a:prstGeom>
          <a:solidFill>
            <a:srgbClr val="DC771C"/>
          </a:solidFill>
          <a:ln w="12700">
            <a:solidFill>
              <a:srgbClr val="DC7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389120" y="5568696"/>
            <a:ext cx="1234440" cy="1554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金属离子等量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806440" y="5559552"/>
            <a:ext cx="1234440" cy="219456"/>
          </a:xfrm>
          <a:prstGeom prst="roundRect">
            <a:avLst/>
          </a:prstGeom>
          <a:solidFill>
            <a:srgbClr val="3A6CA6"/>
          </a:solidFill>
          <a:ln w="12700">
            <a:solidFill>
              <a:srgbClr val="3A6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806440" y="5568696"/>
            <a:ext cx="1234440" cy="1554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抗氧化剂/螯合剂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7818120" y="5413248"/>
            <a:ext cx="3995928" cy="621792"/>
          </a:xfrm>
          <a:prstGeom prst="roundRect">
            <a:avLst/>
          </a:prstGeom>
          <a:solidFill>
            <a:srgbClr val="FDEBEA"/>
          </a:solidFill>
          <a:ln w="12700">
            <a:solidFill>
              <a:srgbClr val="C12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973568" y="5522976"/>
            <a:ext cx="37033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19" b="1">
                <a:solidFill>
                  <a:srgbClr val="C12A23"/>
                </a:solidFill>
                <a:latin typeface="Microsoft YaHei"/>
              </a:rPr>
              <a:t>不纳入动物实验：当前方案文件未安排动物模型
重点完成化学—蛋白—细胞—谱学闭环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28600" y="6547104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Microsoft YaHei"/>
              </a:rPr>
              <a:t>纳米颗粒—蛋白巯基—氧化应激｜示意图与拟验证内容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38428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