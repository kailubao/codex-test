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60120"/>
            <a:ext cx="10789920" cy="502920"/>
          </a:xfrm>
          <a:prstGeom prst="rect">
            <a:avLst/>
          </a:prstGeom>
          <a:noFill/>
        </p:spPr>
        <p:txBody>
          <a:bodyPr wrap="square" lIns="36576" rIns="36576" tIns="36576" bIns="36576" anchor="t">
            <a:spAutoFit/>
          </a:bodyPr>
          <a:lstStyle/>
          <a:p>
            <a:pPr algn="l"/>
            <a:r>
              <a:rPr sz="2900" b="1">
                <a:solidFill>
                  <a:srgbClr val="F5F8FA"/>
                </a:solidFill>
                <a:latin typeface="Microsoft YaHei"/>
              </a:rPr>
              <a:t>基于同步辐射谱学的典型金属及金属氧化物纳米颗粒</a:t>
            </a:r>
          </a:p>
        </p:txBody>
      </p:sp>
      <p:sp>
        <p:nvSpPr>
          <p:cNvPr id="4" name="TextBox 3"/>
          <p:cNvSpPr txBox="1"/>
          <p:nvPr/>
        </p:nvSpPr>
        <p:spPr>
          <a:xfrm>
            <a:off x="731520" y="1572768"/>
            <a:ext cx="10789920" cy="548640"/>
          </a:xfrm>
          <a:prstGeom prst="rect">
            <a:avLst/>
          </a:prstGeom>
          <a:noFill/>
        </p:spPr>
        <p:txBody>
          <a:bodyPr wrap="square" lIns="36576" rIns="36576" tIns="36576" bIns="36576" anchor="t">
            <a:spAutoFit/>
          </a:bodyPr>
          <a:lstStyle/>
          <a:p>
            <a:pPr algn="l"/>
            <a:r>
              <a:rPr sz="3000" b="1">
                <a:solidFill>
                  <a:srgbClr val="2CBEB1"/>
                </a:solidFill>
                <a:latin typeface="Microsoft YaHei"/>
              </a:rPr>
              <a:t>诱导氧化应激的巯基响应共性机制研究</a:t>
            </a:r>
          </a:p>
        </p:txBody>
      </p:sp>
      <p:sp>
        <p:nvSpPr>
          <p:cNvPr id="5" name="TextBox 4"/>
          <p:cNvSpPr txBox="1"/>
          <p:nvPr/>
        </p:nvSpPr>
        <p:spPr>
          <a:xfrm>
            <a:off x="768096" y="2395728"/>
            <a:ext cx="7132320" cy="329184"/>
          </a:xfrm>
          <a:prstGeom prst="rect">
            <a:avLst/>
          </a:prstGeom>
          <a:noFill/>
        </p:spPr>
        <p:txBody>
          <a:bodyPr wrap="square" lIns="36576" rIns="36576" tIns="36576" bIns="36576" anchor="t">
            <a:spAutoFit/>
          </a:bodyPr>
          <a:lstStyle/>
          <a:p>
            <a:pPr algn="l"/>
            <a:r>
              <a:rPr sz="1500" b="0">
                <a:solidFill>
                  <a:srgbClr val="AEC1CF"/>
                </a:solidFill>
                <a:latin typeface="Microsoft YaHei"/>
              </a:rPr>
              <a:t>开题报告｜研究方案与工作汇报整合版</a:t>
            </a:r>
          </a:p>
        </p:txBody>
      </p:sp>
      <p:sp>
        <p:nvSpPr>
          <p:cNvPr id="6" name="Oval 5"/>
          <p:cNvSpPr/>
          <p:nvPr/>
        </p:nvSpPr>
        <p:spPr>
          <a:xfrm>
            <a:off x="914400" y="3886200"/>
            <a:ext cx="1051560" cy="1051560"/>
          </a:xfrm>
          <a:prstGeom prst="ellipse">
            <a:avLst/>
          </a:prstGeom>
          <a:solidFill>
            <a:srgbClr val="F49D48"/>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959352"/>
            <a:ext cx="1051560" cy="941831"/>
          </a:xfrm>
          <a:prstGeom prst="rect">
            <a:avLst/>
          </a:prstGeom>
          <a:noFill/>
        </p:spPr>
        <p:txBody>
          <a:bodyPr wrap="square" lIns="36576" rIns="36576" tIns="36576" bIns="36576" anchor="ctr">
            <a:spAutoFit/>
          </a:bodyPr>
          <a:lstStyle/>
          <a:p>
            <a:pPr algn="ctr"/>
            <a:r>
              <a:rPr sz="2100" b="1">
                <a:solidFill>
                  <a:srgbClr val="F5F8FA"/>
                </a:solidFill>
                <a:latin typeface="Microsoft YaHei"/>
              </a:rPr>
              <a:t>NP</a:t>
            </a:r>
          </a:p>
        </p:txBody>
      </p:sp>
      <p:cxnSp>
        <p:nvCxnSpPr>
          <p:cNvPr id="8" name="Connector 7"/>
          <p:cNvCxnSpPr/>
          <p:nvPr/>
        </p:nvCxnSpPr>
        <p:spPr>
          <a:xfrm>
            <a:off x="2011680" y="4416552"/>
            <a:ext cx="868680" cy="0"/>
          </a:xfrm>
          <a:prstGeom prst="line">
            <a:avLst/>
          </a:prstGeom>
          <a:ln w="38100">
            <a:solidFill>
              <a:srgbClr val="F49D4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3063240" y="3886200"/>
            <a:ext cx="1051560" cy="1051560"/>
          </a:xfrm>
          <a:prstGeom prst="ellipse">
            <a:avLst/>
          </a:prstGeom>
          <a:solidFill>
            <a:srgbClr val="2CBEB1"/>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3240" y="3959352"/>
            <a:ext cx="1051560" cy="941831"/>
          </a:xfrm>
          <a:prstGeom prst="rect">
            <a:avLst/>
          </a:prstGeom>
          <a:noFill/>
        </p:spPr>
        <p:txBody>
          <a:bodyPr wrap="square" lIns="36576" rIns="36576" tIns="36576" bIns="36576" anchor="ctr">
            <a:spAutoFit/>
          </a:bodyPr>
          <a:lstStyle/>
          <a:p>
            <a:pPr algn="ctr"/>
            <a:r>
              <a:rPr sz="1600" b="1">
                <a:solidFill>
                  <a:srgbClr val="F5F8FA"/>
                </a:solidFill>
                <a:latin typeface="Microsoft YaHei"/>
              </a:rPr>
              <a:t>Cys–SH</a:t>
            </a:r>
          </a:p>
        </p:txBody>
      </p:sp>
      <p:cxnSp>
        <p:nvCxnSpPr>
          <p:cNvPr id="11" name="Connector 10"/>
          <p:cNvCxnSpPr/>
          <p:nvPr/>
        </p:nvCxnSpPr>
        <p:spPr>
          <a:xfrm>
            <a:off x="4160520" y="4416552"/>
            <a:ext cx="868680" cy="0"/>
          </a:xfrm>
          <a:prstGeom prst="line">
            <a:avLst/>
          </a:prstGeom>
          <a:ln w="38100">
            <a:solidFill>
              <a:srgbClr val="2CBEB1"/>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212080" y="3886200"/>
            <a:ext cx="1051560" cy="1051560"/>
          </a:xfrm>
          <a:prstGeom prst="ellipse">
            <a:avLst/>
          </a:prstGeom>
          <a:solidFill>
            <a:srgbClr val="E15B53"/>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3959352"/>
            <a:ext cx="1051560" cy="941831"/>
          </a:xfrm>
          <a:prstGeom prst="rect">
            <a:avLst/>
          </a:prstGeom>
          <a:noFill/>
        </p:spPr>
        <p:txBody>
          <a:bodyPr wrap="square" lIns="36576" rIns="36576" tIns="36576" bIns="36576" anchor="ctr">
            <a:spAutoFit/>
          </a:bodyPr>
          <a:lstStyle/>
          <a:p>
            <a:pPr algn="ctr"/>
            <a:r>
              <a:rPr sz="1800" b="1">
                <a:solidFill>
                  <a:srgbClr val="F5F8FA"/>
                </a:solidFill>
                <a:latin typeface="Microsoft YaHei"/>
              </a:rPr>
              <a:t>ROS</a:t>
            </a:r>
          </a:p>
        </p:txBody>
      </p:sp>
      <p:cxnSp>
        <p:nvCxnSpPr>
          <p:cNvPr id="14" name="Connector 13"/>
          <p:cNvCxnSpPr/>
          <p:nvPr/>
        </p:nvCxnSpPr>
        <p:spPr>
          <a:xfrm>
            <a:off x="6309360" y="4416552"/>
            <a:ext cx="868680" cy="0"/>
          </a:xfrm>
          <a:prstGeom prst="line">
            <a:avLst/>
          </a:prstGeom>
          <a:ln w="38100">
            <a:solidFill>
              <a:srgbClr val="E15B5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360920" y="3886200"/>
            <a:ext cx="1051560" cy="1051560"/>
          </a:xfrm>
          <a:prstGeom prst="ellipse">
            <a:avLst/>
          </a:prstGeom>
          <a:solidFill>
            <a:srgbClr val="9E7FDD"/>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959352"/>
            <a:ext cx="1051560" cy="941831"/>
          </a:xfrm>
          <a:prstGeom prst="rect">
            <a:avLst/>
          </a:prstGeom>
          <a:noFill/>
        </p:spPr>
        <p:txBody>
          <a:bodyPr wrap="square" lIns="36576" rIns="36576" tIns="36576" bIns="36576" anchor="ctr">
            <a:spAutoFit/>
          </a:bodyPr>
          <a:lstStyle/>
          <a:p>
            <a:pPr algn="ctr"/>
            <a:r>
              <a:rPr sz="1600" b="1">
                <a:solidFill>
                  <a:srgbClr val="F5F8FA"/>
                </a:solidFill>
                <a:latin typeface="Microsoft YaHei"/>
              </a:rPr>
              <a:t>命运</a:t>
            </a:r>
          </a:p>
        </p:txBody>
      </p:sp>
      <p:sp>
        <p:nvSpPr>
          <p:cNvPr id="17" name="TextBox 16"/>
          <p:cNvSpPr txBox="1"/>
          <p:nvPr/>
        </p:nvSpPr>
        <p:spPr>
          <a:xfrm>
            <a:off x="932688" y="5166360"/>
            <a:ext cx="8229600" cy="320040"/>
          </a:xfrm>
          <a:prstGeom prst="rect">
            <a:avLst/>
          </a:prstGeom>
          <a:noFill/>
        </p:spPr>
        <p:txBody>
          <a:bodyPr wrap="square" lIns="36576" rIns="36576" tIns="36576" bIns="36576" anchor="t">
            <a:spAutoFit/>
          </a:bodyPr>
          <a:lstStyle/>
          <a:p>
            <a:pPr algn="l"/>
            <a:r>
              <a:rPr sz="1500" b="0">
                <a:solidFill>
                  <a:srgbClr val="F5F8FA"/>
                </a:solidFill>
                <a:latin typeface="Microsoft YaHei"/>
              </a:rPr>
              <a:t>不同纳米材料的化学路径不同，是否存在可被同步辐射捕获的共同硫响应？</a:t>
            </a:r>
          </a:p>
        </p:txBody>
      </p:sp>
      <p:sp>
        <p:nvSpPr>
          <p:cNvPr id="18" name="TextBox 17"/>
          <p:cNvSpPr txBox="1"/>
          <p:nvPr/>
        </p:nvSpPr>
        <p:spPr>
          <a:xfrm>
            <a:off x="768096" y="6080760"/>
            <a:ext cx="5486400" cy="228600"/>
          </a:xfrm>
          <a:prstGeom prst="rect">
            <a:avLst/>
          </a:prstGeom>
          <a:noFill/>
        </p:spPr>
        <p:txBody>
          <a:bodyPr wrap="square" lIns="36576" rIns="36576" tIns="36576" bIns="36576" anchor="t">
            <a:spAutoFit/>
          </a:bodyPr>
          <a:lstStyle/>
          <a:p>
            <a:pPr algn="l"/>
            <a:r>
              <a:rPr sz="1100" b="0">
                <a:solidFill>
                  <a:srgbClr val="AEC1CF"/>
                </a:solidFill>
                <a:latin typeface="Microsoft YaHei"/>
              </a:rPr>
              <a:t>汇报人：鲍凯璐    2026.10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02</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从“纳米毒性”走向“机制可解释的巯基响应”</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老师要求：突出创新方法、共性机制与可调控性</a:t>
            </a:r>
          </a:p>
        </p:txBody>
      </p:sp>
      <p:sp>
        <p:nvSpPr>
          <p:cNvPr id="6" name="Rounded Rectangle 5"/>
          <p:cNvSpPr/>
          <p:nvPr/>
        </p:nvSpPr>
        <p:spPr>
          <a:xfrm>
            <a:off x="640080" y="1234440"/>
            <a:ext cx="3429000" cy="192024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234440"/>
            <a:ext cx="64008" cy="192024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1344168"/>
            <a:ext cx="3154680" cy="320040"/>
          </a:xfrm>
          <a:prstGeom prst="rect">
            <a:avLst/>
          </a:prstGeom>
          <a:noFill/>
        </p:spPr>
        <p:txBody>
          <a:bodyPr wrap="square" lIns="36576" rIns="36576" tIns="36576" bIns="36576" anchor="t">
            <a:spAutoFit/>
          </a:bodyPr>
          <a:lstStyle/>
          <a:p>
            <a:pPr algn="l"/>
            <a:r>
              <a:rPr sz="1500" b="1">
                <a:solidFill>
                  <a:srgbClr val="F49D48"/>
                </a:solidFill>
                <a:latin typeface="Microsoft YaHei"/>
              </a:rPr>
              <a:t>现实问题</a:t>
            </a:r>
          </a:p>
        </p:txBody>
      </p:sp>
      <p:sp>
        <p:nvSpPr>
          <p:cNvPr id="9" name="TextBox 8"/>
          <p:cNvSpPr txBox="1"/>
          <p:nvPr/>
        </p:nvSpPr>
        <p:spPr>
          <a:xfrm>
            <a:off x="804671" y="1709928"/>
            <a:ext cx="3136392" cy="1353312"/>
          </a:xfrm>
          <a:prstGeom prst="rect">
            <a:avLst/>
          </a:prstGeom>
          <a:noFill/>
        </p:spPr>
        <p:txBody>
          <a:bodyPr wrap="square" lIns="36576" rIns="36576" tIns="36576" bIns="36576" anchor="t">
            <a:spAutoFit/>
          </a:bodyPr>
          <a:lstStyle/>
          <a:p>
            <a:pPr algn="l"/>
            <a:r>
              <a:rPr sz="1300" b="0">
                <a:solidFill>
                  <a:srgbClr val="F5F8FA"/>
                </a:solidFill>
                <a:latin typeface="Microsoft YaHei"/>
              </a:rPr>
              <a:t>纳米颗粒进入生物体系后，会经历蛋白冠形成、溶解/离子释放、表面氧化还原与细胞内转化。仅测总ROS，难以解释不同材料为何产生不同细胞效应。</a:t>
            </a:r>
          </a:p>
        </p:txBody>
      </p:sp>
      <p:sp>
        <p:nvSpPr>
          <p:cNvPr id="10" name="Rounded Rectangle 9"/>
          <p:cNvSpPr/>
          <p:nvPr/>
        </p:nvSpPr>
        <p:spPr>
          <a:xfrm>
            <a:off x="4389120" y="1234440"/>
            <a:ext cx="3429000" cy="192024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234440"/>
            <a:ext cx="64008" cy="1920240"/>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344168"/>
            <a:ext cx="3154680" cy="320040"/>
          </a:xfrm>
          <a:prstGeom prst="rect">
            <a:avLst/>
          </a:prstGeom>
          <a:noFill/>
        </p:spPr>
        <p:txBody>
          <a:bodyPr wrap="square" lIns="36576" rIns="36576" tIns="36576" bIns="36576" anchor="t">
            <a:spAutoFit/>
          </a:bodyPr>
          <a:lstStyle/>
          <a:p>
            <a:pPr algn="l"/>
            <a:r>
              <a:rPr sz="1500" b="1">
                <a:solidFill>
                  <a:srgbClr val="2CBEB1"/>
                </a:solidFill>
                <a:latin typeface="Microsoft YaHei"/>
              </a:rPr>
              <a:t>科学问题</a:t>
            </a:r>
          </a:p>
        </p:txBody>
      </p:sp>
      <p:sp>
        <p:nvSpPr>
          <p:cNvPr id="13" name="TextBox 12"/>
          <p:cNvSpPr txBox="1"/>
          <p:nvPr/>
        </p:nvSpPr>
        <p:spPr>
          <a:xfrm>
            <a:off x="4553712" y="1709928"/>
            <a:ext cx="3136392" cy="1353312"/>
          </a:xfrm>
          <a:prstGeom prst="rect">
            <a:avLst/>
          </a:prstGeom>
          <a:noFill/>
        </p:spPr>
        <p:txBody>
          <a:bodyPr wrap="square" lIns="36576" rIns="36576" tIns="36576" bIns="36576" anchor="t">
            <a:spAutoFit/>
          </a:bodyPr>
          <a:lstStyle/>
          <a:p>
            <a:pPr algn="l"/>
            <a:r>
              <a:rPr sz="1300" b="0">
                <a:solidFill>
                  <a:srgbClr val="F5F8FA"/>
                </a:solidFill>
                <a:latin typeface="Microsoft YaHei"/>
              </a:rPr>
              <a:t>不同作用路径是否最终汇聚到蛋白巯基（Protein–SH）的共同化学变化？巯基是被氧化为二硫键，还是被金属配位/消耗？</a:t>
            </a:r>
          </a:p>
        </p:txBody>
      </p:sp>
      <p:sp>
        <p:nvSpPr>
          <p:cNvPr id="14" name="Rounded Rectangle 13"/>
          <p:cNvSpPr/>
          <p:nvPr/>
        </p:nvSpPr>
        <p:spPr>
          <a:xfrm>
            <a:off x="8138160" y="1234440"/>
            <a:ext cx="3429000" cy="192024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234440"/>
            <a:ext cx="64008" cy="1920240"/>
          </a:xfrm>
          <a:prstGeom prst="rect">
            <a:avLst/>
          </a:prstGeom>
          <a:solidFill>
            <a:srgbClr val="5DC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1344168"/>
            <a:ext cx="3154680" cy="320040"/>
          </a:xfrm>
          <a:prstGeom prst="rect">
            <a:avLst/>
          </a:prstGeom>
          <a:noFill/>
        </p:spPr>
        <p:txBody>
          <a:bodyPr wrap="square" lIns="36576" rIns="36576" tIns="36576" bIns="36576" anchor="t">
            <a:spAutoFit/>
          </a:bodyPr>
          <a:lstStyle/>
          <a:p>
            <a:pPr algn="l"/>
            <a:r>
              <a:rPr sz="1500" b="1">
                <a:solidFill>
                  <a:srgbClr val="5DCEDC"/>
                </a:solidFill>
                <a:latin typeface="Microsoft YaHei"/>
              </a:rPr>
              <a:t>研究价值</a:t>
            </a:r>
          </a:p>
        </p:txBody>
      </p:sp>
      <p:sp>
        <p:nvSpPr>
          <p:cNvPr id="17" name="TextBox 16"/>
          <p:cNvSpPr txBox="1"/>
          <p:nvPr/>
        </p:nvSpPr>
        <p:spPr>
          <a:xfrm>
            <a:off x="8302752" y="1709928"/>
            <a:ext cx="3136392" cy="1353312"/>
          </a:xfrm>
          <a:prstGeom prst="rect">
            <a:avLst/>
          </a:prstGeom>
          <a:noFill/>
        </p:spPr>
        <p:txBody>
          <a:bodyPr wrap="square" lIns="36576" rIns="36576" tIns="36576" bIns="36576" anchor="t">
            <a:spAutoFit/>
          </a:bodyPr>
          <a:lstStyle/>
          <a:p>
            <a:pPr algn="l"/>
            <a:r>
              <a:rPr sz="1300" b="0">
                <a:solidFill>
                  <a:srgbClr val="F5F8FA"/>
                </a:solidFill>
                <a:latin typeface="Microsoft YaHei"/>
              </a:rPr>
              <a:t>把“材料理化性质 → 巯基化学状态 → 蛋白功能 → 细胞命运”串成可验证链条，为纳米材料氧化应激调控提供靶点。</a:t>
            </a:r>
          </a:p>
        </p:txBody>
      </p:sp>
      <p:sp>
        <p:nvSpPr>
          <p:cNvPr id="18" name="TextBox 17"/>
          <p:cNvSpPr txBox="1"/>
          <p:nvPr/>
        </p:nvSpPr>
        <p:spPr>
          <a:xfrm>
            <a:off x="685800" y="3730752"/>
            <a:ext cx="10789920" cy="320040"/>
          </a:xfrm>
          <a:prstGeom prst="rect">
            <a:avLst/>
          </a:prstGeom>
          <a:noFill/>
        </p:spPr>
        <p:txBody>
          <a:bodyPr wrap="square" lIns="36576" rIns="36576" tIns="36576" bIns="36576" anchor="t">
            <a:spAutoFit/>
          </a:bodyPr>
          <a:lstStyle/>
          <a:p>
            <a:pPr algn="l"/>
            <a:r>
              <a:rPr sz="1500" b="1">
                <a:solidFill>
                  <a:srgbClr val="2CBEB1"/>
                </a:solidFill>
                <a:latin typeface="Microsoft YaHei"/>
              </a:rPr>
              <a:t>研究主线</a:t>
            </a:r>
          </a:p>
        </p:txBody>
      </p:sp>
      <p:cxnSp>
        <p:nvCxnSpPr>
          <p:cNvPr id="19" name="Connector 18"/>
          <p:cNvCxnSpPr/>
          <p:nvPr/>
        </p:nvCxnSpPr>
        <p:spPr>
          <a:xfrm>
            <a:off x="1097280" y="4645152"/>
            <a:ext cx="9692640" cy="0"/>
          </a:xfrm>
          <a:prstGeom prst="line">
            <a:avLst/>
          </a:prstGeom>
          <a:ln w="25400">
            <a:solidFill>
              <a:srgbClr val="2CBEB1"/>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914400" y="4160520"/>
            <a:ext cx="868680" cy="868680"/>
          </a:xfrm>
          <a:prstGeom prst="ellipse">
            <a:avLst/>
          </a:prstGeom>
          <a:solidFill>
            <a:srgbClr val="F49D48"/>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233672"/>
            <a:ext cx="868680" cy="758952"/>
          </a:xfrm>
          <a:prstGeom prst="rect">
            <a:avLst/>
          </a:prstGeom>
          <a:noFill/>
        </p:spPr>
        <p:txBody>
          <a:bodyPr wrap="square" lIns="36576" rIns="36576" tIns="36576" bIns="36576" anchor="ctr">
            <a:spAutoFit/>
          </a:bodyPr>
          <a:lstStyle/>
          <a:p>
            <a:pPr algn="ctr"/>
            <a:r>
              <a:rPr sz="1400" b="1">
                <a:solidFill>
                  <a:srgbClr val="F5F8FA"/>
                </a:solidFill>
                <a:latin typeface="Microsoft YaHei"/>
              </a:rPr>
              <a:t>材料</a:t>
            </a:r>
          </a:p>
        </p:txBody>
      </p:sp>
      <p:sp>
        <p:nvSpPr>
          <p:cNvPr id="22" name="TextBox 21"/>
          <p:cNvSpPr txBox="1"/>
          <p:nvPr/>
        </p:nvSpPr>
        <p:spPr>
          <a:xfrm>
            <a:off x="822960" y="5074920"/>
            <a:ext cx="1097280" cy="292608"/>
          </a:xfrm>
          <a:prstGeom prst="rect">
            <a:avLst/>
          </a:prstGeom>
          <a:noFill/>
        </p:spPr>
        <p:txBody>
          <a:bodyPr wrap="square" lIns="36576" rIns="36576" tIns="36576" bIns="36576" anchor="t">
            <a:spAutoFit/>
          </a:bodyPr>
          <a:lstStyle/>
          <a:p>
            <a:pPr algn="ctr"/>
            <a:r>
              <a:rPr sz="1000" b="0">
                <a:solidFill>
                  <a:srgbClr val="AEC1CF"/>
                </a:solidFill>
                <a:latin typeface="Microsoft YaHei"/>
              </a:rPr>
              <a:t>粒径/晶相/缺陷</a:t>
            </a:r>
          </a:p>
        </p:txBody>
      </p:sp>
      <p:sp>
        <p:nvSpPr>
          <p:cNvPr id="23" name="Oval 22"/>
          <p:cNvSpPr/>
          <p:nvPr/>
        </p:nvSpPr>
        <p:spPr>
          <a:xfrm>
            <a:off x="3154680" y="4160520"/>
            <a:ext cx="868680" cy="868680"/>
          </a:xfrm>
          <a:prstGeom prst="ellipse">
            <a:avLst/>
          </a:prstGeom>
          <a:solidFill>
            <a:srgbClr val="2CBEB1"/>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54680" y="4233672"/>
            <a:ext cx="868680" cy="758952"/>
          </a:xfrm>
          <a:prstGeom prst="rect">
            <a:avLst/>
          </a:prstGeom>
          <a:noFill/>
        </p:spPr>
        <p:txBody>
          <a:bodyPr wrap="square" lIns="36576" rIns="36576" tIns="36576" bIns="36576" anchor="ctr">
            <a:spAutoFit/>
          </a:bodyPr>
          <a:lstStyle/>
          <a:p>
            <a:pPr algn="ctr"/>
            <a:r>
              <a:rPr sz="1400" b="1">
                <a:solidFill>
                  <a:srgbClr val="F5F8FA"/>
                </a:solidFill>
                <a:latin typeface="Microsoft YaHei"/>
              </a:rPr>
              <a:t>界面</a:t>
            </a:r>
          </a:p>
        </p:txBody>
      </p:sp>
      <p:sp>
        <p:nvSpPr>
          <p:cNvPr id="25" name="TextBox 24"/>
          <p:cNvSpPr txBox="1"/>
          <p:nvPr/>
        </p:nvSpPr>
        <p:spPr>
          <a:xfrm>
            <a:off x="3063240" y="5074920"/>
            <a:ext cx="1097280" cy="292608"/>
          </a:xfrm>
          <a:prstGeom prst="rect">
            <a:avLst/>
          </a:prstGeom>
          <a:noFill/>
        </p:spPr>
        <p:txBody>
          <a:bodyPr wrap="square" lIns="36576" rIns="36576" tIns="36576" bIns="36576" anchor="t">
            <a:spAutoFit/>
          </a:bodyPr>
          <a:lstStyle/>
          <a:p>
            <a:pPr algn="ctr"/>
            <a:r>
              <a:rPr sz="1000" b="0">
                <a:solidFill>
                  <a:srgbClr val="AEC1CF"/>
                </a:solidFill>
                <a:latin typeface="Microsoft YaHei"/>
              </a:rPr>
              <a:t>吸附/溶解/配位</a:t>
            </a:r>
          </a:p>
        </p:txBody>
      </p:sp>
      <p:sp>
        <p:nvSpPr>
          <p:cNvPr id="26" name="Oval 25"/>
          <p:cNvSpPr/>
          <p:nvPr/>
        </p:nvSpPr>
        <p:spPr>
          <a:xfrm>
            <a:off x="5394960" y="4160520"/>
            <a:ext cx="868680" cy="868680"/>
          </a:xfrm>
          <a:prstGeom prst="ellipse">
            <a:avLst/>
          </a:prstGeom>
          <a:solidFill>
            <a:srgbClr val="5DCEDC"/>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4960" y="4233672"/>
            <a:ext cx="868680" cy="758952"/>
          </a:xfrm>
          <a:prstGeom prst="rect">
            <a:avLst/>
          </a:prstGeom>
          <a:noFill/>
        </p:spPr>
        <p:txBody>
          <a:bodyPr wrap="square" lIns="36576" rIns="36576" tIns="36576" bIns="36576" anchor="ctr">
            <a:spAutoFit/>
          </a:bodyPr>
          <a:lstStyle/>
          <a:p>
            <a:pPr algn="ctr"/>
            <a:r>
              <a:rPr sz="1400" b="1">
                <a:solidFill>
                  <a:srgbClr val="F5F8FA"/>
                </a:solidFill>
                <a:latin typeface="Microsoft YaHei"/>
              </a:rPr>
              <a:t>巯基</a:t>
            </a:r>
          </a:p>
        </p:txBody>
      </p:sp>
      <p:sp>
        <p:nvSpPr>
          <p:cNvPr id="28" name="TextBox 27"/>
          <p:cNvSpPr txBox="1"/>
          <p:nvPr/>
        </p:nvSpPr>
        <p:spPr>
          <a:xfrm>
            <a:off x="5303520" y="5074920"/>
            <a:ext cx="1097280" cy="292608"/>
          </a:xfrm>
          <a:prstGeom prst="rect">
            <a:avLst/>
          </a:prstGeom>
          <a:noFill/>
        </p:spPr>
        <p:txBody>
          <a:bodyPr wrap="square" lIns="36576" rIns="36576" tIns="36576" bIns="36576" anchor="t">
            <a:spAutoFit/>
          </a:bodyPr>
          <a:lstStyle/>
          <a:p>
            <a:pPr algn="ctr"/>
            <a:r>
              <a:rPr sz="1000" b="0">
                <a:solidFill>
                  <a:srgbClr val="AEC1CF"/>
                </a:solidFill>
                <a:latin typeface="Microsoft YaHei"/>
              </a:rPr>
              <a:t>–SH / S–S / M–S</a:t>
            </a:r>
          </a:p>
        </p:txBody>
      </p:sp>
      <p:sp>
        <p:nvSpPr>
          <p:cNvPr id="29" name="Oval 28"/>
          <p:cNvSpPr/>
          <p:nvPr/>
        </p:nvSpPr>
        <p:spPr>
          <a:xfrm>
            <a:off x="7635240" y="4160520"/>
            <a:ext cx="868680" cy="868680"/>
          </a:xfrm>
          <a:prstGeom prst="ellipse">
            <a:avLst/>
          </a:prstGeom>
          <a:solidFill>
            <a:srgbClr val="72CD91"/>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35240" y="4233672"/>
            <a:ext cx="868680" cy="758952"/>
          </a:xfrm>
          <a:prstGeom prst="rect">
            <a:avLst/>
          </a:prstGeom>
          <a:noFill/>
        </p:spPr>
        <p:txBody>
          <a:bodyPr wrap="square" lIns="36576" rIns="36576" tIns="36576" bIns="36576" anchor="ctr">
            <a:spAutoFit/>
          </a:bodyPr>
          <a:lstStyle/>
          <a:p>
            <a:pPr algn="ctr"/>
            <a:r>
              <a:rPr sz="1400" b="1">
                <a:solidFill>
                  <a:srgbClr val="F5F8FA"/>
                </a:solidFill>
                <a:latin typeface="Microsoft YaHei"/>
              </a:rPr>
              <a:t>蛋白</a:t>
            </a:r>
          </a:p>
        </p:txBody>
      </p:sp>
      <p:sp>
        <p:nvSpPr>
          <p:cNvPr id="31" name="TextBox 30"/>
          <p:cNvSpPr txBox="1"/>
          <p:nvPr/>
        </p:nvSpPr>
        <p:spPr>
          <a:xfrm>
            <a:off x="7543800" y="5074920"/>
            <a:ext cx="1097280" cy="292608"/>
          </a:xfrm>
          <a:prstGeom prst="rect">
            <a:avLst/>
          </a:prstGeom>
          <a:noFill/>
        </p:spPr>
        <p:txBody>
          <a:bodyPr wrap="square" lIns="36576" rIns="36576" tIns="36576" bIns="36576" anchor="t">
            <a:spAutoFit/>
          </a:bodyPr>
          <a:lstStyle/>
          <a:p>
            <a:pPr algn="ctr"/>
            <a:r>
              <a:rPr sz="1000" b="0">
                <a:solidFill>
                  <a:srgbClr val="AEC1CF"/>
                </a:solidFill>
                <a:latin typeface="Microsoft YaHei"/>
              </a:rPr>
              <a:t>功能与信号</a:t>
            </a:r>
          </a:p>
        </p:txBody>
      </p:sp>
      <p:sp>
        <p:nvSpPr>
          <p:cNvPr id="32" name="Oval 31"/>
          <p:cNvSpPr/>
          <p:nvPr/>
        </p:nvSpPr>
        <p:spPr>
          <a:xfrm>
            <a:off x="9875520" y="4160520"/>
            <a:ext cx="868680" cy="868680"/>
          </a:xfrm>
          <a:prstGeom prst="ellipse">
            <a:avLst/>
          </a:prstGeom>
          <a:solidFill>
            <a:srgbClr val="9E7FDD"/>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0" y="4233672"/>
            <a:ext cx="868680" cy="758952"/>
          </a:xfrm>
          <a:prstGeom prst="rect">
            <a:avLst/>
          </a:prstGeom>
          <a:noFill/>
        </p:spPr>
        <p:txBody>
          <a:bodyPr wrap="square" lIns="36576" rIns="36576" tIns="36576" bIns="36576" anchor="ctr">
            <a:spAutoFit/>
          </a:bodyPr>
          <a:lstStyle/>
          <a:p>
            <a:pPr algn="ctr"/>
            <a:r>
              <a:rPr sz="1400" b="1">
                <a:solidFill>
                  <a:srgbClr val="F5F8FA"/>
                </a:solidFill>
                <a:latin typeface="Microsoft YaHei"/>
              </a:rPr>
              <a:t>细胞</a:t>
            </a:r>
          </a:p>
        </p:txBody>
      </p:sp>
      <p:sp>
        <p:nvSpPr>
          <p:cNvPr id="34" name="TextBox 33"/>
          <p:cNvSpPr txBox="1"/>
          <p:nvPr/>
        </p:nvSpPr>
        <p:spPr>
          <a:xfrm>
            <a:off x="9784080" y="5074920"/>
            <a:ext cx="1097280" cy="292608"/>
          </a:xfrm>
          <a:prstGeom prst="rect">
            <a:avLst/>
          </a:prstGeom>
          <a:noFill/>
        </p:spPr>
        <p:txBody>
          <a:bodyPr wrap="square" lIns="36576" rIns="36576" tIns="36576" bIns="36576" anchor="t">
            <a:spAutoFit/>
          </a:bodyPr>
          <a:lstStyle/>
          <a:p>
            <a:pPr algn="ctr"/>
            <a:r>
              <a:rPr sz="1000" b="0">
                <a:solidFill>
                  <a:srgbClr val="AEC1CF"/>
                </a:solidFill>
                <a:latin typeface="Microsoft YaHei"/>
              </a:rPr>
              <a:t>ROS/命运</a:t>
            </a:r>
          </a:p>
        </p:txBody>
      </p:sp>
      <p:sp>
        <p:nvSpPr>
          <p:cNvPr id="35" name="TextBox 34"/>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36" name="TextBox 35"/>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03</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研究对象：可反应的半胱氨酸巯基网络</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关注“可接近、可反应、可逆调控”的 Cys–SH，而非笼统的含硫蛋白</a:t>
            </a:r>
          </a:p>
        </p:txBody>
      </p:sp>
      <p:sp>
        <p:nvSpPr>
          <p:cNvPr id="6" name="TextBox 5"/>
          <p:cNvSpPr txBox="1"/>
          <p:nvPr/>
        </p:nvSpPr>
        <p:spPr>
          <a:xfrm>
            <a:off x="658368" y="1170432"/>
            <a:ext cx="3749039" cy="274320"/>
          </a:xfrm>
          <a:prstGeom prst="rect">
            <a:avLst/>
          </a:prstGeom>
          <a:noFill/>
        </p:spPr>
        <p:txBody>
          <a:bodyPr wrap="square" lIns="36576" rIns="36576" tIns="36576" bIns="36576" anchor="t">
            <a:spAutoFit/>
          </a:bodyPr>
          <a:lstStyle/>
          <a:p>
            <a:pPr algn="l"/>
            <a:r>
              <a:rPr sz="1500" b="1">
                <a:solidFill>
                  <a:srgbClr val="2CBEB1"/>
                </a:solidFill>
                <a:latin typeface="Microsoft YaHei"/>
              </a:rPr>
              <a:t>蛋白巯基的功能分层</a:t>
            </a:r>
          </a:p>
        </p:txBody>
      </p:sp>
      <p:sp>
        <p:nvSpPr>
          <p:cNvPr id="7" name="Rounded Rectangle 6"/>
          <p:cNvSpPr/>
          <p:nvPr/>
        </p:nvSpPr>
        <p:spPr>
          <a:xfrm>
            <a:off x="685800" y="1554480"/>
            <a:ext cx="3474720" cy="1078992"/>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554480"/>
            <a:ext cx="64008" cy="1078992"/>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664207"/>
            <a:ext cx="3200400" cy="320040"/>
          </a:xfrm>
          <a:prstGeom prst="rect">
            <a:avLst/>
          </a:prstGeom>
          <a:noFill/>
        </p:spPr>
        <p:txBody>
          <a:bodyPr wrap="square" lIns="36576" rIns="36576" tIns="36576" bIns="36576" anchor="t">
            <a:spAutoFit/>
          </a:bodyPr>
          <a:lstStyle/>
          <a:p>
            <a:pPr algn="l"/>
            <a:r>
              <a:rPr sz="1300" b="1">
                <a:solidFill>
                  <a:srgbClr val="2CBEB1"/>
                </a:solidFill>
                <a:latin typeface="Microsoft YaHei"/>
              </a:rPr>
              <a:t>氧化还原调控</a:t>
            </a:r>
          </a:p>
        </p:txBody>
      </p:sp>
      <p:sp>
        <p:nvSpPr>
          <p:cNvPr id="10" name="TextBox 9"/>
          <p:cNvSpPr txBox="1"/>
          <p:nvPr/>
        </p:nvSpPr>
        <p:spPr>
          <a:xfrm>
            <a:off x="850392" y="2029967"/>
            <a:ext cx="3182112" cy="512063"/>
          </a:xfrm>
          <a:prstGeom prst="rect">
            <a:avLst/>
          </a:prstGeom>
          <a:noFill/>
        </p:spPr>
        <p:txBody>
          <a:bodyPr wrap="square" lIns="36576" rIns="36576" tIns="36576" bIns="36576" anchor="t">
            <a:spAutoFit/>
          </a:bodyPr>
          <a:lstStyle/>
          <a:p>
            <a:pPr algn="l"/>
            <a:r>
              <a:rPr sz="1100" b="0">
                <a:solidFill>
                  <a:srgbClr val="F5F8FA"/>
                </a:solidFill>
                <a:latin typeface="Microsoft YaHei"/>
              </a:rPr>
              <a:t>Trx / Grx / Prx；维持还原稳态</a:t>
            </a:r>
          </a:p>
        </p:txBody>
      </p:sp>
      <p:sp>
        <p:nvSpPr>
          <p:cNvPr id="11" name="Rounded Rectangle 10"/>
          <p:cNvSpPr/>
          <p:nvPr/>
        </p:nvSpPr>
        <p:spPr>
          <a:xfrm>
            <a:off x="685800" y="2971800"/>
            <a:ext cx="3474720" cy="1078992"/>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971800"/>
            <a:ext cx="64008" cy="1078992"/>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081528"/>
            <a:ext cx="3200400" cy="320040"/>
          </a:xfrm>
          <a:prstGeom prst="rect">
            <a:avLst/>
          </a:prstGeom>
          <a:noFill/>
        </p:spPr>
        <p:txBody>
          <a:bodyPr wrap="square" lIns="36576" rIns="36576" tIns="36576" bIns="36576" anchor="t">
            <a:spAutoFit/>
          </a:bodyPr>
          <a:lstStyle/>
          <a:p>
            <a:pPr algn="l"/>
            <a:r>
              <a:rPr sz="1300" b="1">
                <a:solidFill>
                  <a:srgbClr val="F49D48"/>
                </a:solidFill>
                <a:latin typeface="Microsoft YaHei"/>
              </a:rPr>
              <a:t>金属结合</a:t>
            </a:r>
          </a:p>
        </p:txBody>
      </p:sp>
      <p:sp>
        <p:nvSpPr>
          <p:cNvPr id="14" name="TextBox 13"/>
          <p:cNvSpPr txBox="1"/>
          <p:nvPr/>
        </p:nvSpPr>
        <p:spPr>
          <a:xfrm>
            <a:off x="850392" y="3447288"/>
            <a:ext cx="3182112" cy="512063"/>
          </a:xfrm>
          <a:prstGeom prst="rect">
            <a:avLst/>
          </a:prstGeom>
          <a:noFill/>
        </p:spPr>
        <p:txBody>
          <a:bodyPr wrap="square" lIns="36576" rIns="36576" tIns="36576" bIns="36576" anchor="t">
            <a:spAutoFit/>
          </a:bodyPr>
          <a:lstStyle/>
          <a:p>
            <a:pPr algn="l"/>
            <a:r>
              <a:rPr sz="1100" b="0">
                <a:solidFill>
                  <a:srgbClr val="F5F8FA"/>
                </a:solidFill>
                <a:latin typeface="Microsoft YaHei"/>
              </a:rPr>
              <a:t>MT / 锌指；金属稳态与应激响应</a:t>
            </a:r>
          </a:p>
        </p:txBody>
      </p:sp>
      <p:sp>
        <p:nvSpPr>
          <p:cNvPr id="15" name="Rounded Rectangle 14"/>
          <p:cNvSpPr/>
          <p:nvPr/>
        </p:nvSpPr>
        <p:spPr>
          <a:xfrm>
            <a:off x="685800" y="4389120"/>
            <a:ext cx="3474720" cy="1078992"/>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389120"/>
            <a:ext cx="64008" cy="1078992"/>
          </a:xfrm>
          <a:prstGeom prst="rect">
            <a:avLst/>
          </a:prstGeom>
          <a:solidFill>
            <a:srgbClr val="5DC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498848"/>
            <a:ext cx="3200400" cy="320040"/>
          </a:xfrm>
          <a:prstGeom prst="rect">
            <a:avLst/>
          </a:prstGeom>
          <a:noFill/>
        </p:spPr>
        <p:txBody>
          <a:bodyPr wrap="square" lIns="36576" rIns="36576" tIns="36576" bIns="36576" anchor="t">
            <a:spAutoFit/>
          </a:bodyPr>
          <a:lstStyle/>
          <a:p>
            <a:pPr algn="l"/>
            <a:r>
              <a:rPr sz="1300" b="1">
                <a:solidFill>
                  <a:srgbClr val="5DCEDC"/>
                </a:solidFill>
                <a:latin typeface="Microsoft YaHei"/>
              </a:rPr>
              <a:t>Cys依赖酶</a:t>
            </a:r>
          </a:p>
        </p:txBody>
      </p:sp>
      <p:sp>
        <p:nvSpPr>
          <p:cNvPr id="18" name="TextBox 17"/>
          <p:cNvSpPr txBox="1"/>
          <p:nvPr/>
        </p:nvSpPr>
        <p:spPr>
          <a:xfrm>
            <a:off x="850392" y="4864608"/>
            <a:ext cx="3182112" cy="512063"/>
          </a:xfrm>
          <a:prstGeom prst="rect">
            <a:avLst/>
          </a:prstGeom>
          <a:noFill/>
        </p:spPr>
        <p:txBody>
          <a:bodyPr wrap="square" lIns="36576" rIns="36576" tIns="36576" bIns="36576" anchor="t">
            <a:spAutoFit/>
          </a:bodyPr>
          <a:lstStyle/>
          <a:p>
            <a:pPr algn="l"/>
            <a:r>
              <a:rPr sz="1100" b="0">
                <a:solidFill>
                  <a:srgbClr val="F5F8FA"/>
                </a:solidFill>
                <a:latin typeface="Microsoft YaHei"/>
              </a:rPr>
              <a:t>GAPDH / PTP / PTEN；氧化即失活</a:t>
            </a:r>
          </a:p>
        </p:txBody>
      </p:sp>
      <p:sp>
        <p:nvSpPr>
          <p:cNvPr id="19" name="Rounded Rectangle 18"/>
          <p:cNvSpPr/>
          <p:nvPr/>
        </p:nvSpPr>
        <p:spPr>
          <a:xfrm>
            <a:off x="685800" y="1554480"/>
            <a:ext cx="3474720" cy="1078992"/>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1554480"/>
            <a:ext cx="64008" cy="1078992"/>
          </a:xfrm>
          <a:prstGeom prst="rect">
            <a:avLst/>
          </a:prstGeom>
          <a:solidFill>
            <a:srgbClr val="72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1664207"/>
            <a:ext cx="3200400" cy="320040"/>
          </a:xfrm>
          <a:prstGeom prst="rect">
            <a:avLst/>
          </a:prstGeom>
          <a:noFill/>
        </p:spPr>
        <p:txBody>
          <a:bodyPr wrap="square" lIns="36576" rIns="36576" tIns="36576" bIns="36576" anchor="t">
            <a:spAutoFit/>
          </a:bodyPr>
          <a:lstStyle/>
          <a:p>
            <a:pPr algn="l"/>
            <a:r>
              <a:rPr sz="1300" b="1">
                <a:solidFill>
                  <a:srgbClr val="72CD91"/>
                </a:solidFill>
                <a:latin typeface="Microsoft YaHei"/>
              </a:rPr>
              <a:t>氧化还原感应</a:t>
            </a:r>
          </a:p>
        </p:txBody>
      </p:sp>
      <p:sp>
        <p:nvSpPr>
          <p:cNvPr id="22" name="TextBox 21"/>
          <p:cNvSpPr txBox="1"/>
          <p:nvPr/>
        </p:nvSpPr>
        <p:spPr>
          <a:xfrm>
            <a:off x="850392" y="2029967"/>
            <a:ext cx="3182112" cy="512063"/>
          </a:xfrm>
          <a:prstGeom prst="rect">
            <a:avLst/>
          </a:prstGeom>
          <a:noFill/>
        </p:spPr>
        <p:txBody>
          <a:bodyPr wrap="square" lIns="36576" rIns="36576" tIns="36576" bIns="36576" anchor="t">
            <a:spAutoFit/>
          </a:bodyPr>
          <a:lstStyle/>
          <a:p>
            <a:pPr algn="l"/>
            <a:r>
              <a:rPr sz="1100" b="0">
                <a:solidFill>
                  <a:srgbClr val="F5F8FA"/>
                </a:solidFill>
                <a:latin typeface="Microsoft YaHei"/>
              </a:rPr>
              <a:t>Keap1–Nrf2；把氧化信号转为转录响应</a:t>
            </a:r>
          </a:p>
        </p:txBody>
      </p:sp>
      <p:sp>
        <p:nvSpPr>
          <p:cNvPr id="23" name="Rounded Rectangle 22"/>
          <p:cNvSpPr/>
          <p:nvPr/>
        </p:nvSpPr>
        <p:spPr>
          <a:xfrm>
            <a:off x="685800" y="2971800"/>
            <a:ext cx="3474720" cy="1078992"/>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2971800"/>
            <a:ext cx="64008" cy="1078992"/>
          </a:xfrm>
          <a:prstGeom prst="rect">
            <a:avLst/>
          </a:prstGeom>
          <a:solidFill>
            <a:srgbClr val="9E7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 y="3081528"/>
            <a:ext cx="3200400" cy="320040"/>
          </a:xfrm>
          <a:prstGeom prst="rect">
            <a:avLst/>
          </a:prstGeom>
          <a:noFill/>
        </p:spPr>
        <p:txBody>
          <a:bodyPr wrap="square" lIns="36576" rIns="36576" tIns="36576" bIns="36576" anchor="t">
            <a:spAutoFit/>
          </a:bodyPr>
          <a:lstStyle/>
          <a:p>
            <a:pPr algn="l"/>
            <a:r>
              <a:rPr sz="1300" b="1">
                <a:solidFill>
                  <a:srgbClr val="9E7FDD"/>
                </a:solidFill>
                <a:latin typeface="Microsoft YaHei"/>
              </a:rPr>
              <a:t>胞外缓冲</a:t>
            </a:r>
          </a:p>
        </p:txBody>
      </p:sp>
      <p:sp>
        <p:nvSpPr>
          <p:cNvPr id="26" name="TextBox 25"/>
          <p:cNvSpPr txBox="1"/>
          <p:nvPr/>
        </p:nvSpPr>
        <p:spPr>
          <a:xfrm>
            <a:off x="850392" y="3447288"/>
            <a:ext cx="3182112" cy="512063"/>
          </a:xfrm>
          <a:prstGeom prst="rect">
            <a:avLst/>
          </a:prstGeom>
          <a:noFill/>
        </p:spPr>
        <p:txBody>
          <a:bodyPr wrap="square" lIns="36576" rIns="36576" tIns="36576" bIns="36576" anchor="t">
            <a:spAutoFit/>
          </a:bodyPr>
          <a:lstStyle/>
          <a:p>
            <a:pPr algn="l"/>
            <a:r>
              <a:rPr sz="1100" b="0">
                <a:solidFill>
                  <a:srgbClr val="F5F8FA"/>
                </a:solidFill>
                <a:latin typeface="Microsoft YaHei"/>
              </a:rPr>
              <a:t>HSA-Cys34；反映系统性氧化应激</a:t>
            </a:r>
          </a:p>
        </p:txBody>
      </p:sp>
      <p:sp>
        <p:nvSpPr>
          <p:cNvPr id="27" name="TextBox 26"/>
          <p:cNvSpPr txBox="1"/>
          <p:nvPr/>
        </p:nvSpPr>
        <p:spPr>
          <a:xfrm>
            <a:off x="4709160" y="1170432"/>
            <a:ext cx="3017520" cy="274320"/>
          </a:xfrm>
          <a:prstGeom prst="rect">
            <a:avLst/>
          </a:prstGeom>
          <a:noFill/>
        </p:spPr>
        <p:txBody>
          <a:bodyPr wrap="square" lIns="36576" rIns="36576" tIns="36576" bIns="36576" anchor="t">
            <a:spAutoFit/>
          </a:bodyPr>
          <a:lstStyle/>
          <a:p>
            <a:pPr algn="l"/>
            <a:r>
              <a:rPr sz="1500" b="1">
                <a:solidFill>
                  <a:srgbClr val="2CBEB1"/>
                </a:solidFill>
                <a:latin typeface="Microsoft YaHei"/>
              </a:rPr>
              <a:t>亚细胞环境</a:t>
            </a:r>
          </a:p>
        </p:txBody>
      </p:sp>
      <p:sp>
        <p:nvSpPr>
          <p:cNvPr id="28" name="Oval 27"/>
          <p:cNvSpPr/>
          <p:nvPr/>
        </p:nvSpPr>
        <p:spPr>
          <a:xfrm>
            <a:off x="4754880" y="1645920"/>
            <a:ext cx="566928" cy="566928"/>
          </a:xfrm>
          <a:prstGeom prst="ellipse">
            <a:avLst/>
          </a:prstGeom>
          <a:solidFill>
            <a:srgbClr val="2CBEB1"/>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0" y="1719072"/>
            <a:ext cx="566928" cy="457200"/>
          </a:xfrm>
          <a:prstGeom prst="rect">
            <a:avLst/>
          </a:prstGeom>
          <a:noFill/>
        </p:spPr>
        <p:txBody>
          <a:bodyPr wrap="square" lIns="36576" rIns="36576" tIns="36576" bIns="36576" anchor="ctr">
            <a:spAutoFit/>
          </a:bodyPr>
          <a:lstStyle/>
          <a:p>
            <a:pPr algn="ctr"/>
            <a:r>
              <a:rPr sz="1200" b="1">
                <a:solidFill>
                  <a:srgbClr val="F5F8FA"/>
                </a:solidFill>
                <a:latin typeface="Microsoft YaHei"/>
              </a:rPr>
              <a:t>胞质</a:t>
            </a:r>
          </a:p>
        </p:txBody>
      </p:sp>
      <p:sp>
        <p:nvSpPr>
          <p:cNvPr id="30" name="TextBox 29"/>
          <p:cNvSpPr txBox="1"/>
          <p:nvPr/>
        </p:nvSpPr>
        <p:spPr>
          <a:xfrm>
            <a:off x="5440680" y="1691640"/>
            <a:ext cx="2468880" cy="457200"/>
          </a:xfrm>
          <a:prstGeom prst="rect">
            <a:avLst/>
          </a:prstGeom>
          <a:noFill/>
        </p:spPr>
        <p:txBody>
          <a:bodyPr wrap="square" lIns="36576" rIns="36576" tIns="36576" bIns="36576" anchor="t">
            <a:spAutoFit/>
          </a:bodyPr>
          <a:lstStyle/>
          <a:p>
            <a:pPr algn="l"/>
            <a:r>
              <a:rPr sz="1100" b="0">
                <a:solidFill>
                  <a:srgbClr val="F5F8FA"/>
                </a:solidFill>
                <a:latin typeface="Microsoft YaHei"/>
              </a:rPr>
              <a:t>胞质/细胞核
偏还原；Cys作为氧化还原开关</a:t>
            </a:r>
          </a:p>
        </p:txBody>
      </p:sp>
      <p:sp>
        <p:nvSpPr>
          <p:cNvPr id="31" name="Oval 30"/>
          <p:cNvSpPr/>
          <p:nvPr/>
        </p:nvSpPr>
        <p:spPr>
          <a:xfrm>
            <a:off x="4754880" y="2788920"/>
            <a:ext cx="566928" cy="566928"/>
          </a:xfrm>
          <a:prstGeom prst="ellipse">
            <a:avLst/>
          </a:prstGeom>
          <a:solidFill>
            <a:srgbClr val="F49D48"/>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54880" y="2862072"/>
            <a:ext cx="566928" cy="457200"/>
          </a:xfrm>
          <a:prstGeom prst="rect">
            <a:avLst/>
          </a:prstGeom>
          <a:noFill/>
        </p:spPr>
        <p:txBody>
          <a:bodyPr wrap="square" lIns="36576" rIns="36576" tIns="36576" bIns="36576" anchor="ctr">
            <a:spAutoFit/>
          </a:bodyPr>
          <a:lstStyle/>
          <a:p>
            <a:pPr algn="ctr"/>
            <a:r>
              <a:rPr sz="1200" b="1">
                <a:solidFill>
                  <a:srgbClr val="F5F8FA"/>
                </a:solidFill>
                <a:latin typeface="Microsoft YaHei"/>
              </a:rPr>
              <a:t>内质</a:t>
            </a:r>
          </a:p>
        </p:txBody>
      </p:sp>
      <p:sp>
        <p:nvSpPr>
          <p:cNvPr id="33" name="TextBox 32"/>
          <p:cNvSpPr txBox="1"/>
          <p:nvPr/>
        </p:nvSpPr>
        <p:spPr>
          <a:xfrm>
            <a:off x="5440680" y="2834639"/>
            <a:ext cx="2468880" cy="457200"/>
          </a:xfrm>
          <a:prstGeom prst="rect">
            <a:avLst/>
          </a:prstGeom>
          <a:noFill/>
        </p:spPr>
        <p:txBody>
          <a:bodyPr wrap="square" lIns="36576" rIns="36576" tIns="36576" bIns="36576" anchor="t">
            <a:spAutoFit/>
          </a:bodyPr>
          <a:lstStyle/>
          <a:p>
            <a:pPr algn="l"/>
            <a:r>
              <a:rPr sz="1100" b="0">
                <a:solidFill>
                  <a:srgbClr val="F5F8FA"/>
                </a:solidFill>
                <a:latin typeface="Microsoft YaHei"/>
              </a:rPr>
              <a:t>内质网
偏氧化；二硫键形成与重排</a:t>
            </a:r>
          </a:p>
        </p:txBody>
      </p:sp>
      <p:sp>
        <p:nvSpPr>
          <p:cNvPr id="34" name="Oval 33"/>
          <p:cNvSpPr/>
          <p:nvPr/>
        </p:nvSpPr>
        <p:spPr>
          <a:xfrm>
            <a:off x="4754880" y="3931920"/>
            <a:ext cx="566928" cy="566928"/>
          </a:xfrm>
          <a:prstGeom prst="ellipse">
            <a:avLst/>
          </a:prstGeom>
          <a:solidFill>
            <a:srgbClr val="5DCEDC"/>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0" y="4005072"/>
            <a:ext cx="566928" cy="457200"/>
          </a:xfrm>
          <a:prstGeom prst="rect">
            <a:avLst/>
          </a:prstGeom>
          <a:noFill/>
        </p:spPr>
        <p:txBody>
          <a:bodyPr wrap="square" lIns="36576" rIns="36576" tIns="36576" bIns="36576" anchor="ctr">
            <a:spAutoFit/>
          </a:bodyPr>
          <a:lstStyle/>
          <a:p>
            <a:pPr algn="ctr"/>
            <a:r>
              <a:rPr sz="1200" b="1">
                <a:solidFill>
                  <a:srgbClr val="F5F8FA"/>
                </a:solidFill>
                <a:latin typeface="Microsoft YaHei"/>
              </a:rPr>
              <a:t>线粒</a:t>
            </a:r>
          </a:p>
        </p:txBody>
      </p:sp>
      <p:sp>
        <p:nvSpPr>
          <p:cNvPr id="36" name="TextBox 35"/>
          <p:cNvSpPr txBox="1"/>
          <p:nvPr/>
        </p:nvSpPr>
        <p:spPr>
          <a:xfrm>
            <a:off x="5440680" y="3977639"/>
            <a:ext cx="2468880" cy="457200"/>
          </a:xfrm>
          <a:prstGeom prst="rect">
            <a:avLst/>
          </a:prstGeom>
          <a:noFill/>
        </p:spPr>
        <p:txBody>
          <a:bodyPr wrap="square" lIns="36576" rIns="36576" tIns="36576" bIns="36576" anchor="t">
            <a:spAutoFit/>
          </a:bodyPr>
          <a:lstStyle/>
          <a:p>
            <a:pPr algn="l"/>
            <a:r>
              <a:rPr sz="1100" b="0">
                <a:solidFill>
                  <a:srgbClr val="F5F8FA"/>
                </a:solidFill>
                <a:latin typeface="Microsoft YaHei"/>
              </a:rPr>
              <a:t>线粒体
ROS清除、Fe–S簇与能量代谢</a:t>
            </a:r>
          </a:p>
        </p:txBody>
      </p:sp>
      <p:sp>
        <p:nvSpPr>
          <p:cNvPr id="37" name="Oval 36"/>
          <p:cNvSpPr/>
          <p:nvPr/>
        </p:nvSpPr>
        <p:spPr>
          <a:xfrm>
            <a:off x="4754880" y="5074920"/>
            <a:ext cx="566928" cy="566928"/>
          </a:xfrm>
          <a:prstGeom prst="ellipse">
            <a:avLst/>
          </a:prstGeom>
          <a:solidFill>
            <a:srgbClr val="9E7FDD"/>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80" y="5148072"/>
            <a:ext cx="566928" cy="457200"/>
          </a:xfrm>
          <a:prstGeom prst="rect">
            <a:avLst/>
          </a:prstGeom>
          <a:noFill/>
        </p:spPr>
        <p:txBody>
          <a:bodyPr wrap="square" lIns="36576" rIns="36576" tIns="36576" bIns="36576" anchor="ctr">
            <a:spAutoFit/>
          </a:bodyPr>
          <a:lstStyle/>
          <a:p>
            <a:pPr algn="ctr"/>
            <a:r>
              <a:rPr sz="1200" b="1">
                <a:solidFill>
                  <a:srgbClr val="F5F8FA"/>
                </a:solidFill>
                <a:latin typeface="Microsoft YaHei"/>
              </a:rPr>
              <a:t>胞外</a:t>
            </a:r>
          </a:p>
        </p:txBody>
      </p:sp>
      <p:sp>
        <p:nvSpPr>
          <p:cNvPr id="39" name="TextBox 38"/>
          <p:cNvSpPr txBox="1"/>
          <p:nvPr/>
        </p:nvSpPr>
        <p:spPr>
          <a:xfrm>
            <a:off x="5440680" y="5120640"/>
            <a:ext cx="2468880" cy="457200"/>
          </a:xfrm>
          <a:prstGeom prst="rect">
            <a:avLst/>
          </a:prstGeom>
          <a:noFill/>
        </p:spPr>
        <p:txBody>
          <a:bodyPr wrap="square" lIns="36576" rIns="36576" tIns="36576" bIns="36576" anchor="t">
            <a:spAutoFit/>
          </a:bodyPr>
          <a:lstStyle/>
          <a:p>
            <a:pPr algn="l"/>
            <a:r>
              <a:rPr sz="1100" b="0">
                <a:solidFill>
                  <a:srgbClr val="F5F8FA"/>
                </a:solidFill>
                <a:latin typeface="Microsoft YaHei"/>
              </a:rPr>
              <a:t>胞外
稳定二硫键 + HSA自由巯基</a:t>
            </a:r>
          </a:p>
        </p:txBody>
      </p:sp>
      <p:sp>
        <p:nvSpPr>
          <p:cNvPr id="40" name="TextBox 39"/>
          <p:cNvSpPr txBox="1"/>
          <p:nvPr/>
        </p:nvSpPr>
        <p:spPr>
          <a:xfrm>
            <a:off x="8229600" y="1170432"/>
            <a:ext cx="3017520" cy="274320"/>
          </a:xfrm>
          <a:prstGeom prst="rect">
            <a:avLst/>
          </a:prstGeom>
          <a:noFill/>
        </p:spPr>
        <p:txBody>
          <a:bodyPr wrap="square" lIns="36576" rIns="36576" tIns="36576" bIns="36576" anchor="t">
            <a:spAutoFit/>
          </a:bodyPr>
          <a:lstStyle/>
          <a:p>
            <a:pPr algn="l"/>
            <a:r>
              <a:rPr sz="1500" b="1">
                <a:solidFill>
                  <a:srgbClr val="2CBEB1"/>
                </a:solidFill>
                <a:latin typeface="Microsoft YaHei"/>
              </a:rPr>
              <a:t>本课题的可测读出</a:t>
            </a:r>
          </a:p>
        </p:txBody>
      </p:sp>
      <p:sp>
        <p:nvSpPr>
          <p:cNvPr id="41" name="Rounded Rectangle 40"/>
          <p:cNvSpPr/>
          <p:nvPr/>
        </p:nvSpPr>
        <p:spPr>
          <a:xfrm>
            <a:off x="8229600" y="1554480"/>
            <a:ext cx="3246120" cy="109728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29600" y="1554480"/>
            <a:ext cx="64008" cy="1097280"/>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94192" y="1664207"/>
            <a:ext cx="2971800" cy="320040"/>
          </a:xfrm>
          <a:prstGeom prst="rect">
            <a:avLst/>
          </a:prstGeom>
          <a:noFill/>
        </p:spPr>
        <p:txBody>
          <a:bodyPr wrap="square" lIns="36576" rIns="36576" tIns="36576" bIns="36576" anchor="t">
            <a:spAutoFit/>
          </a:bodyPr>
          <a:lstStyle/>
          <a:p>
            <a:pPr algn="l"/>
            <a:r>
              <a:rPr sz="1300" b="1">
                <a:solidFill>
                  <a:srgbClr val="2CBEB1"/>
                </a:solidFill>
                <a:latin typeface="Microsoft YaHei"/>
              </a:rPr>
              <a:t>总量</a:t>
            </a:r>
          </a:p>
        </p:txBody>
      </p:sp>
      <p:sp>
        <p:nvSpPr>
          <p:cNvPr id="44" name="TextBox 43"/>
          <p:cNvSpPr txBox="1"/>
          <p:nvPr/>
        </p:nvSpPr>
        <p:spPr>
          <a:xfrm>
            <a:off x="8394192" y="2029967"/>
            <a:ext cx="2953512" cy="530352"/>
          </a:xfrm>
          <a:prstGeom prst="rect">
            <a:avLst/>
          </a:prstGeom>
          <a:noFill/>
        </p:spPr>
        <p:txBody>
          <a:bodyPr wrap="square" lIns="36576" rIns="36576" tIns="36576" bIns="36576" anchor="t">
            <a:spAutoFit/>
          </a:bodyPr>
          <a:lstStyle/>
          <a:p>
            <a:pPr algn="l"/>
            <a:r>
              <a:rPr sz="1200" b="0">
                <a:solidFill>
                  <a:srgbClr val="F5F8FA"/>
                </a:solidFill>
                <a:latin typeface="Microsoft YaHei"/>
              </a:rPr>
              <a:t>Protein–SH、GSH/GSSG、Cys/cystine</a:t>
            </a:r>
          </a:p>
        </p:txBody>
      </p:sp>
      <p:sp>
        <p:nvSpPr>
          <p:cNvPr id="45" name="Rounded Rectangle 44"/>
          <p:cNvSpPr/>
          <p:nvPr/>
        </p:nvSpPr>
        <p:spPr>
          <a:xfrm>
            <a:off x="8229600" y="2834640"/>
            <a:ext cx="3246120" cy="109728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29600" y="2834640"/>
            <a:ext cx="64008" cy="109728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94192" y="2944368"/>
            <a:ext cx="2971800" cy="320040"/>
          </a:xfrm>
          <a:prstGeom prst="rect">
            <a:avLst/>
          </a:prstGeom>
          <a:noFill/>
        </p:spPr>
        <p:txBody>
          <a:bodyPr wrap="square" lIns="36576" rIns="36576" tIns="36576" bIns="36576" anchor="t">
            <a:spAutoFit/>
          </a:bodyPr>
          <a:lstStyle/>
          <a:p>
            <a:pPr algn="l"/>
            <a:r>
              <a:rPr sz="1300" b="1">
                <a:solidFill>
                  <a:srgbClr val="F49D48"/>
                </a:solidFill>
                <a:latin typeface="Microsoft YaHei"/>
              </a:rPr>
              <a:t>状态</a:t>
            </a:r>
          </a:p>
        </p:txBody>
      </p:sp>
      <p:sp>
        <p:nvSpPr>
          <p:cNvPr id="48" name="TextBox 47"/>
          <p:cNvSpPr txBox="1"/>
          <p:nvPr/>
        </p:nvSpPr>
        <p:spPr>
          <a:xfrm>
            <a:off x="8394192" y="3310128"/>
            <a:ext cx="2953512" cy="530352"/>
          </a:xfrm>
          <a:prstGeom prst="rect">
            <a:avLst/>
          </a:prstGeom>
          <a:noFill/>
        </p:spPr>
        <p:txBody>
          <a:bodyPr wrap="square" lIns="36576" rIns="36576" tIns="36576" bIns="36576" anchor="t">
            <a:spAutoFit/>
          </a:bodyPr>
          <a:lstStyle/>
          <a:p>
            <a:pPr algn="l"/>
            <a:r>
              <a:rPr sz="1200" b="0">
                <a:solidFill>
                  <a:srgbClr val="F5F8FA"/>
                </a:solidFill>
                <a:latin typeface="Microsoft YaHei"/>
              </a:rPr>
              <a:t>S–S、M–S、氧化硫物种；S K-edge XANES</a:t>
            </a:r>
          </a:p>
        </p:txBody>
      </p:sp>
      <p:sp>
        <p:nvSpPr>
          <p:cNvPr id="49" name="Rounded Rectangle 48"/>
          <p:cNvSpPr/>
          <p:nvPr/>
        </p:nvSpPr>
        <p:spPr>
          <a:xfrm>
            <a:off x="8229600" y="4114800"/>
            <a:ext cx="3246120" cy="109728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229600" y="4114800"/>
            <a:ext cx="64008" cy="1097280"/>
          </a:xfrm>
          <a:prstGeom prst="rect">
            <a:avLst/>
          </a:prstGeom>
          <a:solidFill>
            <a:srgbClr val="9E7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94192" y="4224528"/>
            <a:ext cx="2971800" cy="320040"/>
          </a:xfrm>
          <a:prstGeom prst="rect">
            <a:avLst/>
          </a:prstGeom>
          <a:noFill/>
        </p:spPr>
        <p:txBody>
          <a:bodyPr wrap="square" lIns="36576" rIns="36576" tIns="36576" bIns="36576" anchor="t">
            <a:spAutoFit/>
          </a:bodyPr>
          <a:lstStyle/>
          <a:p>
            <a:pPr algn="l"/>
            <a:r>
              <a:rPr sz="1300" b="1">
                <a:solidFill>
                  <a:srgbClr val="9E7FDD"/>
                </a:solidFill>
                <a:latin typeface="Microsoft YaHei"/>
              </a:rPr>
              <a:t>功能</a:t>
            </a:r>
          </a:p>
        </p:txBody>
      </p:sp>
      <p:sp>
        <p:nvSpPr>
          <p:cNvPr id="52" name="TextBox 51"/>
          <p:cNvSpPr txBox="1"/>
          <p:nvPr/>
        </p:nvSpPr>
        <p:spPr>
          <a:xfrm>
            <a:off x="8394192" y="4590288"/>
            <a:ext cx="2953512" cy="530352"/>
          </a:xfrm>
          <a:prstGeom prst="rect">
            <a:avLst/>
          </a:prstGeom>
          <a:noFill/>
        </p:spPr>
        <p:txBody>
          <a:bodyPr wrap="square" lIns="36576" rIns="36576" tIns="36576" bIns="36576" anchor="t">
            <a:spAutoFit/>
          </a:bodyPr>
          <a:lstStyle/>
          <a:p>
            <a:pPr algn="l"/>
            <a:r>
              <a:rPr sz="1200" b="0">
                <a:solidFill>
                  <a:srgbClr val="F5F8FA"/>
                </a:solidFill>
                <a:latin typeface="Microsoft YaHei"/>
              </a:rPr>
              <a:t>GAPDH活性、Keap1–Nrf2、细胞活力/死亡</a:t>
            </a:r>
          </a:p>
        </p:txBody>
      </p:sp>
      <p:sp>
        <p:nvSpPr>
          <p:cNvPr id="53" name="TextBox 52"/>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54" name="TextBox 53"/>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04</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纳米颗粒选择：用“作用机制谱”构建横向比较</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四种重点材料覆盖直接结合、溶解配位、复合氧化与ROS间接氧化</a:t>
            </a:r>
          </a:p>
        </p:txBody>
      </p:sp>
      <p:sp>
        <p:nvSpPr>
          <p:cNvPr id="6" name="TextBox 5"/>
          <p:cNvSpPr txBox="1"/>
          <p:nvPr/>
        </p:nvSpPr>
        <p:spPr>
          <a:xfrm>
            <a:off x="640080" y="1234440"/>
            <a:ext cx="2286000" cy="274320"/>
          </a:xfrm>
          <a:prstGeom prst="rect">
            <a:avLst/>
          </a:prstGeom>
          <a:noFill/>
        </p:spPr>
        <p:txBody>
          <a:bodyPr wrap="square" lIns="36576" rIns="36576" tIns="36576" bIns="36576" anchor="t">
            <a:spAutoFit/>
          </a:bodyPr>
          <a:lstStyle/>
          <a:p>
            <a:pPr algn="l"/>
            <a:r>
              <a:rPr sz="1300" b="1">
                <a:solidFill>
                  <a:srgbClr val="2CBEB1"/>
                </a:solidFill>
                <a:latin typeface="Microsoft YaHei"/>
              </a:rPr>
              <a:t>材料</a:t>
            </a:r>
          </a:p>
        </p:txBody>
      </p:sp>
      <p:sp>
        <p:nvSpPr>
          <p:cNvPr id="7" name="TextBox 6"/>
          <p:cNvSpPr txBox="1"/>
          <p:nvPr/>
        </p:nvSpPr>
        <p:spPr>
          <a:xfrm>
            <a:off x="2057400" y="1234440"/>
            <a:ext cx="2286000" cy="274320"/>
          </a:xfrm>
          <a:prstGeom prst="rect">
            <a:avLst/>
          </a:prstGeom>
          <a:noFill/>
        </p:spPr>
        <p:txBody>
          <a:bodyPr wrap="square" lIns="36576" rIns="36576" tIns="36576" bIns="36576" anchor="t">
            <a:spAutoFit/>
          </a:bodyPr>
          <a:lstStyle/>
          <a:p>
            <a:pPr algn="l"/>
            <a:r>
              <a:rPr sz="1300" b="1">
                <a:solidFill>
                  <a:srgbClr val="2CBEB1"/>
                </a:solidFill>
                <a:latin typeface="Microsoft YaHei"/>
              </a:rPr>
              <a:t>主导路径</a:t>
            </a:r>
          </a:p>
        </p:txBody>
      </p:sp>
      <p:sp>
        <p:nvSpPr>
          <p:cNvPr id="8" name="TextBox 7"/>
          <p:cNvSpPr txBox="1"/>
          <p:nvPr/>
        </p:nvSpPr>
        <p:spPr>
          <a:xfrm>
            <a:off x="4572000" y="1234440"/>
            <a:ext cx="2286000" cy="274320"/>
          </a:xfrm>
          <a:prstGeom prst="rect">
            <a:avLst/>
          </a:prstGeom>
          <a:noFill/>
        </p:spPr>
        <p:txBody>
          <a:bodyPr wrap="square" lIns="36576" rIns="36576" tIns="36576" bIns="36576" anchor="t">
            <a:spAutoFit/>
          </a:bodyPr>
          <a:lstStyle/>
          <a:p>
            <a:pPr algn="l"/>
            <a:r>
              <a:rPr sz="1300" b="1">
                <a:solidFill>
                  <a:srgbClr val="2CBEB1"/>
                </a:solidFill>
                <a:latin typeface="Microsoft YaHei"/>
              </a:rPr>
              <a:t>可检验化学事件</a:t>
            </a:r>
          </a:p>
        </p:txBody>
      </p:sp>
      <p:sp>
        <p:nvSpPr>
          <p:cNvPr id="9" name="TextBox 8"/>
          <p:cNvSpPr txBox="1"/>
          <p:nvPr/>
        </p:nvSpPr>
        <p:spPr>
          <a:xfrm>
            <a:off x="7498079" y="1234440"/>
            <a:ext cx="2286000" cy="274320"/>
          </a:xfrm>
          <a:prstGeom prst="rect">
            <a:avLst/>
          </a:prstGeom>
          <a:noFill/>
        </p:spPr>
        <p:txBody>
          <a:bodyPr wrap="square" lIns="36576" rIns="36576" tIns="36576" bIns="36576" anchor="t">
            <a:spAutoFit/>
          </a:bodyPr>
          <a:lstStyle/>
          <a:p>
            <a:pPr algn="l"/>
            <a:r>
              <a:rPr sz="1300" b="1">
                <a:solidFill>
                  <a:srgbClr val="2CBEB1"/>
                </a:solidFill>
                <a:latin typeface="Microsoft YaHei"/>
              </a:rPr>
              <a:t>同步辐射价值</a:t>
            </a:r>
          </a:p>
        </p:txBody>
      </p:sp>
      <p:sp>
        <p:nvSpPr>
          <p:cNvPr id="10" name="Rounded Rectangle 9"/>
          <p:cNvSpPr/>
          <p:nvPr/>
        </p:nvSpPr>
        <p:spPr>
          <a:xfrm>
            <a:off x="621792" y="1554480"/>
            <a:ext cx="10835640" cy="621792"/>
          </a:xfrm>
          <a:prstGeom prst="roundRect">
            <a:avLst/>
          </a:prstGeom>
          <a:solidFill>
            <a:srgbClr val="142D46"/>
          </a:solidFill>
          <a:ln>
            <a:solidFill>
              <a:srgbClr val="254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27632"/>
            <a:ext cx="1051560" cy="274320"/>
          </a:xfrm>
          <a:prstGeom prst="rect">
            <a:avLst/>
          </a:prstGeom>
          <a:noFill/>
        </p:spPr>
        <p:txBody>
          <a:bodyPr wrap="square" lIns="36576" rIns="36576" tIns="36576" bIns="36576" anchor="t">
            <a:spAutoFit/>
          </a:bodyPr>
          <a:lstStyle/>
          <a:p>
            <a:pPr algn="l"/>
            <a:r>
              <a:rPr sz="1400" b="1">
                <a:solidFill>
                  <a:srgbClr val="F49D48"/>
                </a:solidFill>
                <a:latin typeface="Microsoft YaHei"/>
              </a:rPr>
              <a:t>AuNP</a:t>
            </a:r>
          </a:p>
        </p:txBody>
      </p:sp>
      <p:sp>
        <p:nvSpPr>
          <p:cNvPr id="12" name="TextBox 11"/>
          <p:cNvSpPr txBox="1"/>
          <p:nvPr/>
        </p:nvSpPr>
        <p:spPr>
          <a:xfrm>
            <a:off x="2057400" y="1627632"/>
            <a:ext cx="2331720" cy="347472"/>
          </a:xfrm>
          <a:prstGeom prst="rect">
            <a:avLst/>
          </a:prstGeom>
          <a:noFill/>
        </p:spPr>
        <p:txBody>
          <a:bodyPr wrap="square" lIns="36576" rIns="36576" tIns="36576" bIns="36576" anchor="t">
            <a:spAutoFit/>
          </a:bodyPr>
          <a:lstStyle/>
          <a:p>
            <a:pPr algn="l"/>
            <a:r>
              <a:rPr sz="1200" b="0">
                <a:solidFill>
                  <a:srgbClr val="F5F8FA"/>
                </a:solidFill>
                <a:latin typeface="Microsoft YaHei"/>
              </a:rPr>
              <a:t>直接 Au–S</a:t>
            </a:r>
          </a:p>
        </p:txBody>
      </p:sp>
      <p:sp>
        <p:nvSpPr>
          <p:cNvPr id="13" name="TextBox 12"/>
          <p:cNvSpPr txBox="1"/>
          <p:nvPr/>
        </p:nvSpPr>
        <p:spPr>
          <a:xfrm>
            <a:off x="4572000" y="1627632"/>
            <a:ext cx="2743200" cy="347472"/>
          </a:xfrm>
          <a:prstGeom prst="rect">
            <a:avLst/>
          </a:prstGeom>
          <a:noFill/>
        </p:spPr>
        <p:txBody>
          <a:bodyPr wrap="square" lIns="36576" rIns="36576" tIns="36576" bIns="36576" anchor="t">
            <a:spAutoFit/>
          </a:bodyPr>
          <a:lstStyle/>
          <a:p>
            <a:pPr algn="l"/>
            <a:r>
              <a:rPr sz="1200" b="0">
                <a:solidFill>
                  <a:srgbClr val="F5F8FA"/>
                </a:solidFill>
                <a:latin typeface="Microsoft YaHei"/>
              </a:rPr>
              <a:t>Protein–Cys–S–Au；表面巯基吸附</a:t>
            </a:r>
          </a:p>
        </p:txBody>
      </p:sp>
      <p:sp>
        <p:nvSpPr>
          <p:cNvPr id="14" name="TextBox 13"/>
          <p:cNvSpPr txBox="1"/>
          <p:nvPr/>
        </p:nvSpPr>
        <p:spPr>
          <a:xfrm>
            <a:off x="7498079" y="1627632"/>
            <a:ext cx="3383280" cy="347472"/>
          </a:xfrm>
          <a:prstGeom prst="rect">
            <a:avLst/>
          </a:prstGeom>
          <a:noFill/>
        </p:spPr>
        <p:txBody>
          <a:bodyPr wrap="square" lIns="36576" rIns="36576" tIns="36576" bIns="36576" anchor="t">
            <a:spAutoFit/>
          </a:bodyPr>
          <a:lstStyle/>
          <a:p>
            <a:pPr algn="l"/>
            <a:r>
              <a:rPr sz="1200" b="0">
                <a:solidFill>
                  <a:srgbClr val="AEC1CF"/>
                </a:solidFill>
                <a:latin typeface="Microsoft YaHei"/>
              </a:rPr>
              <a:t>Au L-edge / S K-edge</a:t>
            </a:r>
          </a:p>
        </p:txBody>
      </p:sp>
      <p:sp>
        <p:nvSpPr>
          <p:cNvPr id="15" name="Rounded Rectangle 14"/>
          <p:cNvSpPr/>
          <p:nvPr/>
        </p:nvSpPr>
        <p:spPr>
          <a:xfrm>
            <a:off x="621792" y="2340864"/>
            <a:ext cx="10835640" cy="621792"/>
          </a:xfrm>
          <a:prstGeom prst="roundRect">
            <a:avLst/>
          </a:prstGeom>
          <a:solidFill>
            <a:srgbClr val="142D46"/>
          </a:solidFill>
          <a:ln>
            <a:solidFill>
              <a:srgbClr val="254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14016"/>
            <a:ext cx="1051560" cy="274320"/>
          </a:xfrm>
          <a:prstGeom prst="rect">
            <a:avLst/>
          </a:prstGeom>
          <a:noFill/>
        </p:spPr>
        <p:txBody>
          <a:bodyPr wrap="square" lIns="36576" rIns="36576" tIns="36576" bIns="36576" anchor="t">
            <a:spAutoFit/>
          </a:bodyPr>
          <a:lstStyle/>
          <a:p>
            <a:pPr algn="l"/>
            <a:r>
              <a:rPr sz="1400" b="1">
                <a:solidFill>
                  <a:srgbClr val="2CBEB1"/>
                </a:solidFill>
                <a:latin typeface="Microsoft YaHei"/>
              </a:rPr>
              <a:t>ZnO</a:t>
            </a:r>
          </a:p>
        </p:txBody>
      </p:sp>
      <p:sp>
        <p:nvSpPr>
          <p:cNvPr id="17" name="TextBox 16"/>
          <p:cNvSpPr txBox="1"/>
          <p:nvPr/>
        </p:nvSpPr>
        <p:spPr>
          <a:xfrm>
            <a:off x="2057400" y="2414016"/>
            <a:ext cx="2331720" cy="347472"/>
          </a:xfrm>
          <a:prstGeom prst="rect">
            <a:avLst/>
          </a:prstGeom>
          <a:noFill/>
        </p:spPr>
        <p:txBody>
          <a:bodyPr wrap="square" lIns="36576" rIns="36576" tIns="36576" bIns="36576" anchor="t">
            <a:spAutoFit/>
          </a:bodyPr>
          <a:lstStyle/>
          <a:p>
            <a:pPr algn="l"/>
            <a:r>
              <a:rPr sz="1200" b="0">
                <a:solidFill>
                  <a:srgbClr val="F5F8FA"/>
                </a:solidFill>
                <a:latin typeface="Microsoft YaHei"/>
              </a:rPr>
              <a:t>溶解/离子介导</a:t>
            </a:r>
          </a:p>
        </p:txBody>
      </p:sp>
      <p:sp>
        <p:nvSpPr>
          <p:cNvPr id="18" name="TextBox 17"/>
          <p:cNvSpPr txBox="1"/>
          <p:nvPr/>
        </p:nvSpPr>
        <p:spPr>
          <a:xfrm>
            <a:off x="4572000" y="2414016"/>
            <a:ext cx="2743200" cy="347472"/>
          </a:xfrm>
          <a:prstGeom prst="rect">
            <a:avLst/>
          </a:prstGeom>
          <a:noFill/>
        </p:spPr>
        <p:txBody>
          <a:bodyPr wrap="square" lIns="36576" rIns="36576" tIns="36576" bIns="36576" anchor="t">
            <a:spAutoFit/>
          </a:bodyPr>
          <a:lstStyle/>
          <a:p>
            <a:pPr algn="l"/>
            <a:r>
              <a:rPr sz="1200" b="0">
                <a:solidFill>
                  <a:srgbClr val="F5F8FA"/>
                </a:solidFill>
                <a:latin typeface="Microsoft YaHei"/>
              </a:rPr>
              <a:t>ZnO→Zn²⁺→Cys–S 配位</a:t>
            </a:r>
          </a:p>
        </p:txBody>
      </p:sp>
      <p:sp>
        <p:nvSpPr>
          <p:cNvPr id="19" name="TextBox 18"/>
          <p:cNvSpPr txBox="1"/>
          <p:nvPr/>
        </p:nvSpPr>
        <p:spPr>
          <a:xfrm>
            <a:off x="7498079" y="2414016"/>
            <a:ext cx="3383280" cy="347472"/>
          </a:xfrm>
          <a:prstGeom prst="rect">
            <a:avLst/>
          </a:prstGeom>
          <a:noFill/>
        </p:spPr>
        <p:txBody>
          <a:bodyPr wrap="square" lIns="36576" rIns="36576" tIns="36576" bIns="36576" anchor="t">
            <a:spAutoFit/>
          </a:bodyPr>
          <a:lstStyle/>
          <a:p>
            <a:pPr algn="l"/>
            <a:r>
              <a:rPr sz="1200" b="0">
                <a:solidFill>
                  <a:srgbClr val="AEC1CF"/>
                </a:solidFill>
                <a:latin typeface="Microsoft YaHei"/>
              </a:rPr>
              <a:t>Zn K-edge：Zn–S</a:t>
            </a:r>
          </a:p>
        </p:txBody>
      </p:sp>
      <p:sp>
        <p:nvSpPr>
          <p:cNvPr id="20" name="Rounded Rectangle 19"/>
          <p:cNvSpPr/>
          <p:nvPr/>
        </p:nvSpPr>
        <p:spPr>
          <a:xfrm>
            <a:off x="621792" y="3127248"/>
            <a:ext cx="10835640" cy="621792"/>
          </a:xfrm>
          <a:prstGeom prst="roundRect">
            <a:avLst/>
          </a:prstGeom>
          <a:solidFill>
            <a:srgbClr val="142D46"/>
          </a:solidFill>
          <a:ln>
            <a:solidFill>
              <a:srgbClr val="254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200400"/>
            <a:ext cx="1051560" cy="274320"/>
          </a:xfrm>
          <a:prstGeom prst="rect">
            <a:avLst/>
          </a:prstGeom>
          <a:noFill/>
        </p:spPr>
        <p:txBody>
          <a:bodyPr wrap="square" lIns="36576" rIns="36576" tIns="36576" bIns="36576" anchor="t">
            <a:spAutoFit/>
          </a:bodyPr>
          <a:lstStyle/>
          <a:p>
            <a:pPr algn="l"/>
            <a:r>
              <a:rPr sz="1400" b="1">
                <a:solidFill>
                  <a:srgbClr val="E15B53"/>
                </a:solidFill>
                <a:latin typeface="Microsoft YaHei"/>
              </a:rPr>
              <a:t>CuO</a:t>
            </a:r>
          </a:p>
        </p:txBody>
      </p:sp>
      <p:sp>
        <p:nvSpPr>
          <p:cNvPr id="22" name="TextBox 21"/>
          <p:cNvSpPr txBox="1"/>
          <p:nvPr/>
        </p:nvSpPr>
        <p:spPr>
          <a:xfrm>
            <a:off x="2057400" y="3200400"/>
            <a:ext cx="2331720" cy="347472"/>
          </a:xfrm>
          <a:prstGeom prst="rect">
            <a:avLst/>
          </a:prstGeom>
          <a:noFill/>
        </p:spPr>
        <p:txBody>
          <a:bodyPr wrap="square" lIns="36576" rIns="36576" tIns="36576" bIns="36576" anchor="t">
            <a:spAutoFit/>
          </a:bodyPr>
          <a:lstStyle/>
          <a:p>
            <a:pPr algn="l"/>
            <a:r>
              <a:rPr sz="1200" b="0">
                <a:solidFill>
                  <a:srgbClr val="F5F8FA"/>
                </a:solidFill>
                <a:latin typeface="Microsoft YaHei"/>
              </a:rPr>
              <a:t>配位 + 氧化复合</a:t>
            </a:r>
          </a:p>
        </p:txBody>
      </p:sp>
      <p:sp>
        <p:nvSpPr>
          <p:cNvPr id="23" name="TextBox 22"/>
          <p:cNvSpPr txBox="1"/>
          <p:nvPr/>
        </p:nvSpPr>
        <p:spPr>
          <a:xfrm>
            <a:off x="4572000" y="3200400"/>
            <a:ext cx="2743200" cy="347472"/>
          </a:xfrm>
          <a:prstGeom prst="rect">
            <a:avLst/>
          </a:prstGeom>
          <a:noFill/>
        </p:spPr>
        <p:txBody>
          <a:bodyPr wrap="square" lIns="36576" rIns="36576" tIns="36576" bIns="36576" anchor="t">
            <a:spAutoFit/>
          </a:bodyPr>
          <a:lstStyle/>
          <a:p>
            <a:pPr algn="l"/>
            <a:r>
              <a:rPr sz="1200" b="0">
                <a:solidFill>
                  <a:srgbClr val="F5F8FA"/>
                </a:solidFill>
                <a:latin typeface="Microsoft YaHei"/>
              </a:rPr>
              <a:t>Cu²⁺释放、金属稳态、SH下降</a:t>
            </a:r>
          </a:p>
        </p:txBody>
      </p:sp>
      <p:sp>
        <p:nvSpPr>
          <p:cNvPr id="24" name="TextBox 23"/>
          <p:cNvSpPr txBox="1"/>
          <p:nvPr/>
        </p:nvSpPr>
        <p:spPr>
          <a:xfrm>
            <a:off x="7498079" y="3200400"/>
            <a:ext cx="3383280" cy="347472"/>
          </a:xfrm>
          <a:prstGeom prst="rect">
            <a:avLst/>
          </a:prstGeom>
          <a:noFill/>
        </p:spPr>
        <p:txBody>
          <a:bodyPr wrap="square" lIns="36576" rIns="36576" tIns="36576" bIns="36576" anchor="t">
            <a:spAutoFit/>
          </a:bodyPr>
          <a:lstStyle/>
          <a:p>
            <a:pPr algn="l"/>
            <a:r>
              <a:rPr sz="1200" b="0">
                <a:solidFill>
                  <a:srgbClr val="AEC1CF"/>
                </a:solidFill>
                <a:latin typeface="Microsoft YaHei"/>
              </a:rPr>
              <a:t>Cu K-edge：价态/配位</a:t>
            </a:r>
          </a:p>
        </p:txBody>
      </p:sp>
      <p:sp>
        <p:nvSpPr>
          <p:cNvPr id="25" name="Rounded Rectangle 24"/>
          <p:cNvSpPr/>
          <p:nvPr/>
        </p:nvSpPr>
        <p:spPr>
          <a:xfrm>
            <a:off x="621792" y="3913632"/>
            <a:ext cx="10835640" cy="621792"/>
          </a:xfrm>
          <a:prstGeom prst="roundRect">
            <a:avLst/>
          </a:prstGeom>
          <a:solidFill>
            <a:srgbClr val="142D46"/>
          </a:solidFill>
          <a:ln>
            <a:solidFill>
              <a:srgbClr val="254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986784"/>
            <a:ext cx="1051560" cy="274320"/>
          </a:xfrm>
          <a:prstGeom prst="rect">
            <a:avLst/>
          </a:prstGeom>
          <a:noFill/>
        </p:spPr>
        <p:txBody>
          <a:bodyPr wrap="square" lIns="36576" rIns="36576" tIns="36576" bIns="36576" anchor="t">
            <a:spAutoFit/>
          </a:bodyPr>
          <a:lstStyle/>
          <a:p>
            <a:pPr algn="l"/>
            <a:r>
              <a:rPr sz="1400" b="1">
                <a:solidFill>
                  <a:srgbClr val="9E7FDD"/>
                </a:solidFill>
                <a:latin typeface="Microsoft YaHei"/>
              </a:rPr>
              <a:t>Fe₃O₄</a:t>
            </a:r>
          </a:p>
        </p:txBody>
      </p:sp>
      <p:sp>
        <p:nvSpPr>
          <p:cNvPr id="27" name="TextBox 26"/>
          <p:cNvSpPr txBox="1"/>
          <p:nvPr/>
        </p:nvSpPr>
        <p:spPr>
          <a:xfrm>
            <a:off x="2057400" y="3986784"/>
            <a:ext cx="2331720" cy="347472"/>
          </a:xfrm>
          <a:prstGeom prst="rect">
            <a:avLst/>
          </a:prstGeom>
          <a:noFill/>
        </p:spPr>
        <p:txBody>
          <a:bodyPr wrap="square" lIns="36576" rIns="36576" tIns="36576" bIns="36576" anchor="t">
            <a:spAutoFit/>
          </a:bodyPr>
          <a:lstStyle/>
          <a:p>
            <a:pPr algn="l"/>
            <a:r>
              <a:rPr sz="1200" b="0">
                <a:solidFill>
                  <a:srgbClr val="F5F8FA"/>
                </a:solidFill>
                <a:latin typeface="Microsoft YaHei"/>
              </a:rPr>
              <a:t>ROS/Fenton间接氧化</a:t>
            </a:r>
          </a:p>
        </p:txBody>
      </p:sp>
      <p:sp>
        <p:nvSpPr>
          <p:cNvPr id="28" name="TextBox 27"/>
          <p:cNvSpPr txBox="1"/>
          <p:nvPr/>
        </p:nvSpPr>
        <p:spPr>
          <a:xfrm>
            <a:off x="4572000" y="3986784"/>
            <a:ext cx="2743200" cy="347472"/>
          </a:xfrm>
          <a:prstGeom prst="rect">
            <a:avLst/>
          </a:prstGeom>
          <a:noFill/>
        </p:spPr>
        <p:txBody>
          <a:bodyPr wrap="square" lIns="36576" rIns="36576" tIns="36576" bIns="36576" anchor="t">
            <a:spAutoFit/>
          </a:bodyPr>
          <a:lstStyle/>
          <a:p>
            <a:pPr algn="l"/>
            <a:r>
              <a:rPr sz="1200" b="0">
                <a:solidFill>
                  <a:srgbClr val="F5F8FA"/>
                </a:solidFill>
                <a:latin typeface="Microsoft YaHei"/>
              </a:rPr>
              <a:t>Fe²⁺/Fe³⁺→ROS→Cys氧化</a:t>
            </a:r>
          </a:p>
        </p:txBody>
      </p:sp>
      <p:sp>
        <p:nvSpPr>
          <p:cNvPr id="29" name="TextBox 28"/>
          <p:cNvSpPr txBox="1"/>
          <p:nvPr/>
        </p:nvSpPr>
        <p:spPr>
          <a:xfrm>
            <a:off x="7498079" y="3986784"/>
            <a:ext cx="3383280" cy="347472"/>
          </a:xfrm>
          <a:prstGeom prst="rect">
            <a:avLst/>
          </a:prstGeom>
          <a:noFill/>
        </p:spPr>
        <p:txBody>
          <a:bodyPr wrap="square" lIns="36576" rIns="36576" tIns="36576" bIns="36576" anchor="t">
            <a:spAutoFit/>
          </a:bodyPr>
          <a:lstStyle/>
          <a:p>
            <a:pPr algn="l"/>
            <a:r>
              <a:rPr sz="1200" b="0">
                <a:solidFill>
                  <a:srgbClr val="AEC1CF"/>
                </a:solidFill>
                <a:latin typeface="Microsoft YaHei"/>
              </a:rPr>
              <a:t>Fe K-edge：价态/局部结构</a:t>
            </a:r>
          </a:p>
        </p:txBody>
      </p:sp>
      <p:sp>
        <p:nvSpPr>
          <p:cNvPr id="30" name="Rounded Rectangle 29"/>
          <p:cNvSpPr/>
          <p:nvPr/>
        </p:nvSpPr>
        <p:spPr>
          <a:xfrm>
            <a:off x="621792" y="4700016"/>
            <a:ext cx="10835640" cy="621792"/>
          </a:xfrm>
          <a:prstGeom prst="roundRect">
            <a:avLst/>
          </a:prstGeom>
          <a:solidFill>
            <a:srgbClr val="142D46"/>
          </a:solidFill>
          <a:ln>
            <a:solidFill>
              <a:srgbClr val="254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773168"/>
            <a:ext cx="1051560" cy="274320"/>
          </a:xfrm>
          <a:prstGeom prst="rect">
            <a:avLst/>
          </a:prstGeom>
          <a:noFill/>
        </p:spPr>
        <p:txBody>
          <a:bodyPr wrap="square" lIns="36576" rIns="36576" tIns="36576" bIns="36576" anchor="t">
            <a:spAutoFit/>
          </a:bodyPr>
          <a:lstStyle/>
          <a:p>
            <a:pPr algn="l"/>
            <a:r>
              <a:rPr sz="1400" b="1">
                <a:solidFill>
                  <a:srgbClr val="6E91A0"/>
                </a:solidFill>
                <a:latin typeface="Microsoft YaHei"/>
              </a:rPr>
              <a:t>TiO₂（对照）</a:t>
            </a:r>
          </a:p>
        </p:txBody>
      </p:sp>
      <p:sp>
        <p:nvSpPr>
          <p:cNvPr id="32" name="TextBox 31"/>
          <p:cNvSpPr txBox="1"/>
          <p:nvPr/>
        </p:nvSpPr>
        <p:spPr>
          <a:xfrm>
            <a:off x="2057400" y="4773168"/>
            <a:ext cx="2331720" cy="347472"/>
          </a:xfrm>
          <a:prstGeom prst="rect">
            <a:avLst/>
          </a:prstGeom>
          <a:noFill/>
        </p:spPr>
        <p:txBody>
          <a:bodyPr wrap="square" lIns="36576" rIns="36576" tIns="36576" bIns="36576" anchor="t">
            <a:spAutoFit/>
          </a:bodyPr>
          <a:lstStyle/>
          <a:p>
            <a:pPr algn="l"/>
            <a:r>
              <a:rPr sz="1200" b="0">
                <a:solidFill>
                  <a:srgbClr val="F5F8FA"/>
                </a:solidFill>
                <a:latin typeface="Microsoft YaHei"/>
              </a:rPr>
              <a:t>低反应性对照</a:t>
            </a:r>
          </a:p>
        </p:txBody>
      </p:sp>
      <p:sp>
        <p:nvSpPr>
          <p:cNvPr id="33" name="TextBox 32"/>
          <p:cNvSpPr txBox="1"/>
          <p:nvPr/>
        </p:nvSpPr>
        <p:spPr>
          <a:xfrm>
            <a:off x="4572000" y="4773168"/>
            <a:ext cx="2743200" cy="347472"/>
          </a:xfrm>
          <a:prstGeom prst="rect">
            <a:avLst/>
          </a:prstGeom>
          <a:noFill/>
        </p:spPr>
        <p:txBody>
          <a:bodyPr wrap="square" lIns="36576" rIns="36576" tIns="36576" bIns="36576" anchor="t">
            <a:spAutoFit/>
          </a:bodyPr>
          <a:lstStyle/>
          <a:p>
            <a:pPr algn="l"/>
            <a:r>
              <a:rPr sz="1200" b="0">
                <a:solidFill>
                  <a:srgbClr val="F5F8FA"/>
                </a:solidFill>
                <a:latin typeface="Microsoft YaHei"/>
              </a:rPr>
              <a:t>低ROS；避光无紫外条件</a:t>
            </a:r>
          </a:p>
        </p:txBody>
      </p:sp>
      <p:sp>
        <p:nvSpPr>
          <p:cNvPr id="34" name="TextBox 33"/>
          <p:cNvSpPr txBox="1"/>
          <p:nvPr/>
        </p:nvSpPr>
        <p:spPr>
          <a:xfrm>
            <a:off x="7498079" y="4773168"/>
            <a:ext cx="3383280" cy="347472"/>
          </a:xfrm>
          <a:prstGeom prst="rect">
            <a:avLst/>
          </a:prstGeom>
          <a:noFill/>
        </p:spPr>
        <p:txBody>
          <a:bodyPr wrap="square" lIns="36576" rIns="36576" tIns="36576" bIns="36576" anchor="t">
            <a:spAutoFit/>
          </a:bodyPr>
          <a:lstStyle/>
          <a:p>
            <a:pPr algn="l"/>
            <a:r>
              <a:rPr sz="1200" b="0">
                <a:solidFill>
                  <a:srgbClr val="AEC1CF"/>
                </a:solidFill>
                <a:latin typeface="Microsoft YaHei"/>
              </a:rPr>
              <a:t>排除非特异效应</a:t>
            </a:r>
          </a:p>
        </p:txBody>
      </p:sp>
      <p:sp>
        <p:nvSpPr>
          <p:cNvPr id="35" name="TextBox 34"/>
          <p:cNvSpPr txBox="1"/>
          <p:nvPr/>
        </p:nvSpPr>
        <p:spPr>
          <a:xfrm>
            <a:off x="713232" y="5715000"/>
            <a:ext cx="10607040" cy="411480"/>
          </a:xfrm>
          <a:prstGeom prst="rect">
            <a:avLst/>
          </a:prstGeom>
          <a:noFill/>
        </p:spPr>
        <p:txBody>
          <a:bodyPr wrap="square" lIns="36576" rIns="36576" tIns="36576" bIns="36576" anchor="t">
            <a:spAutoFit/>
          </a:bodyPr>
          <a:lstStyle/>
          <a:p>
            <a:pPr algn="l"/>
            <a:r>
              <a:rPr sz="1300" b="1">
                <a:solidFill>
                  <a:srgbClr val="F49D48"/>
                </a:solidFill>
                <a:latin typeface="Microsoft YaHei"/>
              </a:rPr>
              <a:t>对照原则：无纳米粒子 + 低反应性 TiO₂；所有材料先做理化表征与离子释放曲线，再进入统一巯基体系。</a:t>
            </a:r>
          </a:p>
        </p:txBody>
      </p:sp>
      <p:sp>
        <p:nvSpPr>
          <p:cNvPr id="36" name="TextBox 35"/>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37" name="TextBox 36"/>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05</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研究空白与拟解决的关键缺口</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已有研究多聚焦单一材料或单一终点，缺少跨机制、跨尺度的统一比较</a:t>
            </a:r>
          </a:p>
        </p:txBody>
      </p:sp>
      <p:sp>
        <p:nvSpPr>
          <p:cNvPr id="6" name="Rounded Rectangle 5"/>
          <p:cNvSpPr/>
          <p:nvPr/>
        </p:nvSpPr>
        <p:spPr>
          <a:xfrm>
            <a:off x="685800" y="1234440"/>
            <a:ext cx="3291840" cy="196596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234440"/>
            <a:ext cx="64008" cy="196596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344168"/>
            <a:ext cx="3017520" cy="320040"/>
          </a:xfrm>
          <a:prstGeom prst="rect">
            <a:avLst/>
          </a:prstGeom>
          <a:noFill/>
        </p:spPr>
        <p:txBody>
          <a:bodyPr wrap="square" lIns="36576" rIns="36576" tIns="36576" bIns="36576" anchor="t">
            <a:spAutoFit/>
          </a:bodyPr>
          <a:lstStyle/>
          <a:p>
            <a:pPr algn="l"/>
            <a:r>
              <a:rPr sz="1500" b="1">
                <a:solidFill>
                  <a:srgbClr val="F49D48"/>
                </a:solidFill>
                <a:latin typeface="Microsoft YaHei"/>
              </a:rPr>
              <a:t>空白 1｜比较维度不足</a:t>
            </a:r>
          </a:p>
        </p:txBody>
      </p:sp>
      <p:sp>
        <p:nvSpPr>
          <p:cNvPr id="9" name="TextBox 8"/>
          <p:cNvSpPr txBox="1"/>
          <p:nvPr/>
        </p:nvSpPr>
        <p:spPr>
          <a:xfrm>
            <a:off x="850392" y="1709928"/>
            <a:ext cx="2999232" cy="1399031"/>
          </a:xfrm>
          <a:prstGeom prst="rect">
            <a:avLst/>
          </a:prstGeom>
          <a:noFill/>
        </p:spPr>
        <p:txBody>
          <a:bodyPr wrap="square" lIns="36576" rIns="36576" tIns="36576" bIns="36576" anchor="t">
            <a:spAutoFit/>
          </a:bodyPr>
          <a:lstStyle/>
          <a:p>
            <a:pPr algn="l"/>
            <a:r>
              <a:rPr sz="1300" b="0">
                <a:solidFill>
                  <a:srgbClr val="F5F8FA"/>
                </a:solidFill>
                <a:latin typeface="Microsoft YaHei"/>
              </a:rPr>
              <a:t>Au–S、Zn–S、ROS氧化常被分开研究，难以回答“共同终点”与“路径特异性”的关系。</a:t>
            </a:r>
          </a:p>
        </p:txBody>
      </p:sp>
      <p:sp>
        <p:nvSpPr>
          <p:cNvPr id="10" name="Rounded Rectangle 9"/>
          <p:cNvSpPr/>
          <p:nvPr/>
        </p:nvSpPr>
        <p:spPr>
          <a:xfrm>
            <a:off x="4434840" y="1234440"/>
            <a:ext cx="3291840" cy="196596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1234440"/>
            <a:ext cx="64008" cy="1965960"/>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1344168"/>
            <a:ext cx="3017520" cy="320040"/>
          </a:xfrm>
          <a:prstGeom prst="rect">
            <a:avLst/>
          </a:prstGeom>
          <a:noFill/>
        </p:spPr>
        <p:txBody>
          <a:bodyPr wrap="square" lIns="36576" rIns="36576" tIns="36576" bIns="36576" anchor="t">
            <a:spAutoFit/>
          </a:bodyPr>
          <a:lstStyle/>
          <a:p>
            <a:pPr algn="l"/>
            <a:r>
              <a:rPr sz="1500" b="1">
                <a:solidFill>
                  <a:srgbClr val="2CBEB1"/>
                </a:solidFill>
                <a:latin typeface="Microsoft YaHei"/>
              </a:rPr>
              <a:t>空白 2｜化学状态不清</a:t>
            </a:r>
          </a:p>
        </p:txBody>
      </p:sp>
      <p:sp>
        <p:nvSpPr>
          <p:cNvPr id="13" name="TextBox 12"/>
          <p:cNvSpPr txBox="1"/>
          <p:nvPr/>
        </p:nvSpPr>
        <p:spPr>
          <a:xfrm>
            <a:off x="4599431" y="1709928"/>
            <a:ext cx="2999232" cy="1399031"/>
          </a:xfrm>
          <a:prstGeom prst="rect">
            <a:avLst/>
          </a:prstGeom>
          <a:noFill/>
        </p:spPr>
        <p:txBody>
          <a:bodyPr wrap="square" lIns="36576" rIns="36576" tIns="36576" bIns="36576" anchor="t">
            <a:spAutoFit/>
          </a:bodyPr>
          <a:lstStyle/>
          <a:p>
            <a:pPr algn="l"/>
            <a:r>
              <a:rPr sz="1300" b="0">
                <a:solidFill>
                  <a:srgbClr val="F5F8FA"/>
                </a:solidFill>
                <a:latin typeface="Microsoft YaHei"/>
              </a:rPr>
              <a:t>总巯基下降不能区分 S–S、M–S、亚砜/磺酸等状态；传统比色法缺乏结构信息。</a:t>
            </a:r>
          </a:p>
        </p:txBody>
      </p:sp>
      <p:sp>
        <p:nvSpPr>
          <p:cNvPr id="14" name="Rounded Rectangle 13"/>
          <p:cNvSpPr/>
          <p:nvPr/>
        </p:nvSpPr>
        <p:spPr>
          <a:xfrm>
            <a:off x="8183879" y="1234440"/>
            <a:ext cx="3291840" cy="196596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79" y="1234440"/>
            <a:ext cx="64008" cy="1965960"/>
          </a:xfrm>
          <a:prstGeom prst="rect">
            <a:avLst/>
          </a:prstGeom>
          <a:solidFill>
            <a:srgbClr val="5DC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1" y="1344168"/>
            <a:ext cx="3017520" cy="320040"/>
          </a:xfrm>
          <a:prstGeom prst="rect">
            <a:avLst/>
          </a:prstGeom>
          <a:noFill/>
        </p:spPr>
        <p:txBody>
          <a:bodyPr wrap="square" lIns="36576" rIns="36576" tIns="36576" bIns="36576" anchor="t">
            <a:spAutoFit/>
          </a:bodyPr>
          <a:lstStyle/>
          <a:p>
            <a:pPr algn="l"/>
            <a:r>
              <a:rPr sz="1500" b="1">
                <a:solidFill>
                  <a:srgbClr val="5DCEDC"/>
                </a:solidFill>
                <a:latin typeface="Microsoft YaHei"/>
              </a:rPr>
              <a:t>空白 3｜材料可调控性不足</a:t>
            </a:r>
          </a:p>
        </p:txBody>
      </p:sp>
      <p:sp>
        <p:nvSpPr>
          <p:cNvPr id="17" name="TextBox 16"/>
          <p:cNvSpPr txBox="1"/>
          <p:nvPr/>
        </p:nvSpPr>
        <p:spPr>
          <a:xfrm>
            <a:off x="8348471" y="1709928"/>
            <a:ext cx="2999232" cy="1399031"/>
          </a:xfrm>
          <a:prstGeom prst="rect">
            <a:avLst/>
          </a:prstGeom>
          <a:noFill/>
        </p:spPr>
        <p:txBody>
          <a:bodyPr wrap="square" lIns="36576" rIns="36576" tIns="36576" bIns="36576" anchor="t">
            <a:spAutoFit/>
          </a:bodyPr>
          <a:lstStyle/>
          <a:p>
            <a:pPr algn="l"/>
            <a:r>
              <a:rPr sz="1300" b="0">
                <a:solidFill>
                  <a:srgbClr val="F5F8FA"/>
                </a:solidFill>
                <a:latin typeface="Microsoft YaHei"/>
              </a:rPr>
              <a:t>尚未把表面包覆、溶解性、缺陷与巯基氧化状态建立因果联系。</a:t>
            </a:r>
          </a:p>
        </p:txBody>
      </p:sp>
      <p:sp>
        <p:nvSpPr>
          <p:cNvPr id="18" name="TextBox 17"/>
          <p:cNvSpPr txBox="1"/>
          <p:nvPr/>
        </p:nvSpPr>
        <p:spPr>
          <a:xfrm>
            <a:off x="731520" y="3749039"/>
            <a:ext cx="10789920" cy="320040"/>
          </a:xfrm>
          <a:prstGeom prst="rect">
            <a:avLst/>
          </a:prstGeom>
          <a:noFill/>
        </p:spPr>
        <p:txBody>
          <a:bodyPr wrap="square" lIns="36576" rIns="36576" tIns="36576" bIns="36576" anchor="t">
            <a:spAutoFit/>
          </a:bodyPr>
          <a:lstStyle/>
          <a:p>
            <a:pPr algn="l"/>
            <a:r>
              <a:rPr sz="1500" b="1">
                <a:solidFill>
                  <a:srgbClr val="2CBEB1"/>
                </a:solidFill>
                <a:latin typeface="Microsoft YaHei"/>
              </a:rPr>
              <a:t>拟形成的创新点</a:t>
            </a:r>
          </a:p>
        </p:txBody>
      </p:sp>
      <p:sp>
        <p:nvSpPr>
          <p:cNvPr id="19" name="Oval 18"/>
          <p:cNvSpPr/>
          <p:nvPr/>
        </p:nvSpPr>
        <p:spPr>
          <a:xfrm>
            <a:off x="822960" y="4297680"/>
            <a:ext cx="713232" cy="713232"/>
          </a:xfrm>
          <a:prstGeom prst="ellipse">
            <a:avLst/>
          </a:prstGeom>
          <a:solidFill>
            <a:srgbClr val="2CBEB1"/>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370832"/>
            <a:ext cx="713232" cy="603504"/>
          </a:xfrm>
          <a:prstGeom prst="rect">
            <a:avLst/>
          </a:prstGeom>
          <a:noFill/>
        </p:spPr>
        <p:txBody>
          <a:bodyPr wrap="square" lIns="36576" rIns="36576" tIns="36576" bIns="36576" anchor="ctr">
            <a:spAutoFit/>
          </a:bodyPr>
          <a:lstStyle/>
          <a:p>
            <a:pPr algn="ctr"/>
            <a:r>
              <a:rPr sz="1400" b="1">
                <a:solidFill>
                  <a:srgbClr val="F5F8FA"/>
                </a:solidFill>
                <a:latin typeface="Microsoft YaHei"/>
              </a:rPr>
              <a:t>01</a:t>
            </a:r>
          </a:p>
        </p:txBody>
      </p:sp>
      <p:sp>
        <p:nvSpPr>
          <p:cNvPr id="21" name="TextBox 20"/>
          <p:cNvSpPr txBox="1"/>
          <p:nvPr/>
        </p:nvSpPr>
        <p:spPr>
          <a:xfrm>
            <a:off x="1691640" y="4297680"/>
            <a:ext cx="2651760" cy="274320"/>
          </a:xfrm>
          <a:prstGeom prst="rect">
            <a:avLst/>
          </a:prstGeom>
          <a:noFill/>
        </p:spPr>
        <p:txBody>
          <a:bodyPr wrap="square" lIns="36576" rIns="36576" tIns="36576" bIns="36576" anchor="t">
            <a:spAutoFit/>
          </a:bodyPr>
          <a:lstStyle/>
          <a:p>
            <a:pPr algn="l"/>
            <a:r>
              <a:rPr sz="1400" b="1">
                <a:solidFill>
                  <a:srgbClr val="F5F8FA"/>
                </a:solidFill>
                <a:latin typeface="Microsoft YaHei"/>
              </a:rPr>
              <a:t>统一横向比较</a:t>
            </a:r>
          </a:p>
        </p:txBody>
      </p:sp>
      <p:sp>
        <p:nvSpPr>
          <p:cNvPr id="22" name="TextBox 21"/>
          <p:cNvSpPr txBox="1"/>
          <p:nvPr/>
        </p:nvSpPr>
        <p:spPr>
          <a:xfrm>
            <a:off x="1691640" y="4690872"/>
            <a:ext cx="2697480" cy="731520"/>
          </a:xfrm>
          <a:prstGeom prst="rect">
            <a:avLst/>
          </a:prstGeom>
          <a:noFill/>
        </p:spPr>
        <p:txBody>
          <a:bodyPr wrap="square" lIns="36576" rIns="36576" tIns="36576" bIns="36576" anchor="t">
            <a:spAutoFit/>
          </a:bodyPr>
          <a:lstStyle/>
          <a:p>
            <a:pPr algn="l"/>
            <a:r>
              <a:rPr sz="1100" b="0">
                <a:solidFill>
                  <a:srgbClr val="AEC1CF"/>
                </a:solidFill>
                <a:latin typeface="Microsoft YaHei"/>
              </a:rPr>
              <a:t>同一套 Cys/GSH–蛋白–细胞体系比较 4+1 种材料</a:t>
            </a:r>
          </a:p>
        </p:txBody>
      </p:sp>
      <p:sp>
        <p:nvSpPr>
          <p:cNvPr id="23" name="Oval 22"/>
          <p:cNvSpPr/>
          <p:nvPr/>
        </p:nvSpPr>
        <p:spPr>
          <a:xfrm>
            <a:off x="4572000" y="4297680"/>
            <a:ext cx="713232" cy="713232"/>
          </a:xfrm>
          <a:prstGeom prst="ellipse">
            <a:avLst/>
          </a:prstGeom>
          <a:solidFill>
            <a:srgbClr val="F49D48"/>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4370832"/>
            <a:ext cx="713232" cy="603504"/>
          </a:xfrm>
          <a:prstGeom prst="rect">
            <a:avLst/>
          </a:prstGeom>
          <a:noFill/>
        </p:spPr>
        <p:txBody>
          <a:bodyPr wrap="square" lIns="36576" rIns="36576" tIns="36576" bIns="36576" anchor="ctr">
            <a:spAutoFit/>
          </a:bodyPr>
          <a:lstStyle/>
          <a:p>
            <a:pPr algn="ctr"/>
            <a:r>
              <a:rPr sz="1400" b="1">
                <a:solidFill>
                  <a:srgbClr val="F5F8FA"/>
                </a:solidFill>
                <a:latin typeface="Microsoft YaHei"/>
              </a:rPr>
              <a:t>02</a:t>
            </a:r>
          </a:p>
        </p:txBody>
      </p:sp>
      <p:sp>
        <p:nvSpPr>
          <p:cNvPr id="25" name="TextBox 24"/>
          <p:cNvSpPr txBox="1"/>
          <p:nvPr/>
        </p:nvSpPr>
        <p:spPr>
          <a:xfrm>
            <a:off x="5440680" y="4297680"/>
            <a:ext cx="2651760" cy="274320"/>
          </a:xfrm>
          <a:prstGeom prst="rect">
            <a:avLst/>
          </a:prstGeom>
          <a:noFill/>
        </p:spPr>
        <p:txBody>
          <a:bodyPr wrap="square" lIns="36576" rIns="36576" tIns="36576" bIns="36576" anchor="t">
            <a:spAutoFit/>
          </a:bodyPr>
          <a:lstStyle/>
          <a:p>
            <a:pPr algn="l"/>
            <a:r>
              <a:rPr sz="1400" b="1">
                <a:solidFill>
                  <a:srgbClr val="F5F8FA"/>
                </a:solidFill>
                <a:latin typeface="Microsoft YaHei"/>
              </a:rPr>
              <a:t>谱学解析化学状态</a:t>
            </a:r>
          </a:p>
        </p:txBody>
      </p:sp>
      <p:sp>
        <p:nvSpPr>
          <p:cNvPr id="26" name="TextBox 25"/>
          <p:cNvSpPr txBox="1"/>
          <p:nvPr/>
        </p:nvSpPr>
        <p:spPr>
          <a:xfrm>
            <a:off x="5440680" y="4690872"/>
            <a:ext cx="2697480" cy="731520"/>
          </a:xfrm>
          <a:prstGeom prst="rect">
            <a:avLst/>
          </a:prstGeom>
          <a:noFill/>
        </p:spPr>
        <p:txBody>
          <a:bodyPr wrap="square" lIns="36576" rIns="36576" tIns="36576" bIns="36576" anchor="t">
            <a:spAutoFit/>
          </a:bodyPr>
          <a:lstStyle/>
          <a:p>
            <a:pPr algn="l"/>
            <a:r>
              <a:rPr sz="1100" b="0">
                <a:solidFill>
                  <a:srgbClr val="AEC1CF"/>
                </a:solidFill>
                <a:latin typeface="Microsoft YaHei"/>
              </a:rPr>
              <a:t>S K-edge + 金属 K-edge XANES/EXAFS 识别 S–S、M–S 与价态变化</a:t>
            </a:r>
          </a:p>
        </p:txBody>
      </p:sp>
      <p:sp>
        <p:nvSpPr>
          <p:cNvPr id="27" name="Oval 26"/>
          <p:cNvSpPr/>
          <p:nvPr/>
        </p:nvSpPr>
        <p:spPr>
          <a:xfrm>
            <a:off x="8321040" y="4297680"/>
            <a:ext cx="713232" cy="713232"/>
          </a:xfrm>
          <a:prstGeom prst="ellipse">
            <a:avLst/>
          </a:prstGeom>
          <a:solidFill>
            <a:srgbClr val="9E7FDD"/>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4370832"/>
            <a:ext cx="713232" cy="603504"/>
          </a:xfrm>
          <a:prstGeom prst="rect">
            <a:avLst/>
          </a:prstGeom>
          <a:noFill/>
        </p:spPr>
        <p:txBody>
          <a:bodyPr wrap="square" lIns="36576" rIns="36576" tIns="36576" bIns="36576" anchor="ctr">
            <a:spAutoFit/>
          </a:bodyPr>
          <a:lstStyle/>
          <a:p>
            <a:pPr algn="ctr"/>
            <a:r>
              <a:rPr sz="1400" b="1">
                <a:solidFill>
                  <a:srgbClr val="F5F8FA"/>
                </a:solidFill>
                <a:latin typeface="Microsoft YaHei"/>
              </a:rPr>
              <a:t>03</a:t>
            </a:r>
          </a:p>
        </p:txBody>
      </p:sp>
      <p:sp>
        <p:nvSpPr>
          <p:cNvPr id="29" name="TextBox 28"/>
          <p:cNvSpPr txBox="1"/>
          <p:nvPr/>
        </p:nvSpPr>
        <p:spPr>
          <a:xfrm>
            <a:off x="9189719" y="4297680"/>
            <a:ext cx="2651760" cy="274320"/>
          </a:xfrm>
          <a:prstGeom prst="rect">
            <a:avLst/>
          </a:prstGeom>
          <a:noFill/>
        </p:spPr>
        <p:txBody>
          <a:bodyPr wrap="square" lIns="36576" rIns="36576" tIns="36576" bIns="36576" anchor="t">
            <a:spAutoFit/>
          </a:bodyPr>
          <a:lstStyle/>
          <a:p>
            <a:pPr algn="l"/>
            <a:r>
              <a:rPr sz="1400" b="1">
                <a:solidFill>
                  <a:srgbClr val="F5F8FA"/>
                </a:solidFill>
                <a:latin typeface="Microsoft YaHei"/>
              </a:rPr>
              <a:t>从机制到调控</a:t>
            </a:r>
          </a:p>
        </p:txBody>
      </p:sp>
      <p:sp>
        <p:nvSpPr>
          <p:cNvPr id="30" name="TextBox 29"/>
          <p:cNvSpPr txBox="1"/>
          <p:nvPr/>
        </p:nvSpPr>
        <p:spPr>
          <a:xfrm>
            <a:off x="9189719" y="4690872"/>
            <a:ext cx="2697480" cy="731520"/>
          </a:xfrm>
          <a:prstGeom prst="rect">
            <a:avLst/>
          </a:prstGeom>
          <a:noFill/>
        </p:spPr>
        <p:txBody>
          <a:bodyPr wrap="square" lIns="36576" rIns="36576" tIns="36576" bIns="36576" anchor="t">
            <a:spAutoFit/>
          </a:bodyPr>
          <a:lstStyle/>
          <a:p>
            <a:pPr algn="l"/>
            <a:r>
              <a:rPr sz="1100" b="0">
                <a:solidFill>
                  <a:srgbClr val="AEC1CF"/>
                </a:solidFill>
                <a:latin typeface="Microsoft YaHei"/>
              </a:rPr>
              <a:t>以表面包覆、缺陷、溶解性为旋钮，验证氧化应激能否被调控</a:t>
            </a:r>
          </a:p>
        </p:txBody>
      </p:sp>
      <p:sp>
        <p:nvSpPr>
          <p:cNvPr id="31" name="TextBox 30"/>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32" name="TextBox 31"/>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06</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科学假设与研究目标</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核心假设：不同材料通过不同上游路径，汇聚为可分型的蛋白巯基化学响应</a:t>
            </a:r>
          </a:p>
        </p:txBody>
      </p:sp>
      <p:sp>
        <p:nvSpPr>
          <p:cNvPr id="6" name="TextBox 5"/>
          <p:cNvSpPr txBox="1"/>
          <p:nvPr/>
        </p:nvSpPr>
        <p:spPr>
          <a:xfrm>
            <a:off x="731520" y="1188720"/>
            <a:ext cx="10607040" cy="640080"/>
          </a:xfrm>
          <a:prstGeom prst="rect">
            <a:avLst/>
          </a:prstGeom>
          <a:noFill/>
        </p:spPr>
        <p:txBody>
          <a:bodyPr wrap="square" lIns="36576" rIns="36576" tIns="36576" bIns="36576" anchor="ctr">
            <a:spAutoFit/>
          </a:bodyPr>
          <a:lstStyle/>
          <a:p>
            <a:pPr algn="ctr"/>
            <a:r>
              <a:rPr sz="1800" b="1">
                <a:solidFill>
                  <a:srgbClr val="F5F8FA"/>
                </a:solidFill>
                <a:latin typeface="Microsoft YaHei"/>
              </a:rPr>
              <a:t>材料理化性质差异  →  界面/离子/ROS路径差异  →  Protein–SH 状态分流  →  蛋白功能与细胞命运差异</a:t>
            </a:r>
          </a:p>
        </p:txBody>
      </p:sp>
      <p:cxnSp>
        <p:nvCxnSpPr>
          <p:cNvPr id="7" name="Connector 6"/>
          <p:cNvCxnSpPr/>
          <p:nvPr/>
        </p:nvCxnSpPr>
        <p:spPr>
          <a:xfrm>
            <a:off x="1828800" y="2240280"/>
            <a:ext cx="8412480" cy="0"/>
          </a:xfrm>
          <a:prstGeom prst="line">
            <a:avLst/>
          </a:prstGeom>
          <a:ln w="25400">
            <a:solidFill>
              <a:srgbClr val="2CBEB1"/>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914400" y="1920240"/>
            <a:ext cx="914400" cy="914400"/>
          </a:xfrm>
          <a:prstGeom prst="ellipse">
            <a:avLst/>
          </a:prstGeom>
          <a:solidFill>
            <a:srgbClr val="F49D48"/>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93392"/>
            <a:ext cx="914400" cy="804672"/>
          </a:xfrm>
          <a:prstGeom prst="rect">
            <a:avLst/>
          </a:prstGeom>
          <a:noFill/>
        </p:spPr>
        <p:txBody>
          <a:bodyPr wrap="square" lIns="36576" rIns="36576" tIns="36576" bIns="36576" anchor="ctr">
            <a:spAutoFit/>
          </a:bodyPr>
          <a:lstStyle/>
          <a:p>
            <a:pPr algn="ctr"/>
            <a:r>
              <a:rPr sz="1300" b="1">
                <a:solidFill>
                  <a:srgbClr val="F5F8FA"/>
                </a:solidFill>
                <a:latin typeface="Microsoft YaHei"/>
              </a:rPr>
              <a:t>表面结合</a:t>
            </a:r>
          </a:p>
        </p:txBody>
      </p:sp>
      <p:sp>
        <p:nvSpPr>
          <p:cNvPr id="10" name="Oval 9"/>
          <p:cNvSpPr/>
          <p:nvPr/>
        </p:nvSpPr>
        <p:spPr>
          <a:xfrm>
            <a:off x="3337560" y="1920240"/>
            <a:ext cx="914400" cy="914400"/>
          </a:xfrm>
          <a:prstGeom prst="ellipse">
            <a:avLst/>
          </a:prstGeom>
          <a:solidFill>
            <a:srgbClr val="2CBEB1"/>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1993392"/>
            <a:ext cx="914400" cy="804672"/>
          </a:xfrm>
          <a:prstGeom prst="rect">
            <a:avLst/>
          </a:prstGeom>
          <a:noFill/>
        </p:spPr>
        <p:txBody>
          <a:bodyPr wrap="square" lIns="36576" rIns="36576" tIns="36576" bIns="36576" anchor="ctr">
            <a:spAutoFit/>
          </a:bodyPr>
          <a:lstStyle/>
          <a:p>
            <a:pPr algn="ctr"/>
            <a:r>
              <a:rPr sz="1300" b="1">
                <a:solidFill>
                  <a:srgbClr val="F5F8FA"/>
                </a:solidFill>
                <a:latin typeface="Microsoft YaHei"/>
              </a:rPr>
              <a:t>溶解配位</a:t>
            </a:r>
          </a:p>
        </p:txBody>
      </p:sp>
      <p:sp>
        <p:nvSpPr>
          <p:cNvPr id="12" name="Oval 11"/>
          <p:cNvSpPr/>
          <p:nvPr/>
        </p:nvSpPr>
        <p:spPr>
          <a:xfrm>
            <a:off x="5760720" y="1920240"/>
            <a:ext cx="914400" cy="914400"/>
          </a:xfrm>
          <a:prstGeom prst="ellipse">
            <a:avLst/>
          </a:prstGeom>
          <a:solidFill>
            <a:srgbClr val="E15B53"/>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1993392"/>
            <a:ext cx="914400" cy="804672"/>
          </a:xfrm>
          <a:prstGeom prst="rect">
            <a:avLst/>
          </a:prstGeom>
          <a:noFill/>
        </p:spPr>
        <p:txBody>
          <a:bodyPr wrap="square" lIns="36576" rIns="36576" tIns="36576" bIns="36576" anchor="ctr">
            <a:spAutoFit/>
          </a:bodyPr>
          <a:lstStyle/>
          <a:p>
            <a:pPr algn="ctr"/>
            <a:r>
              <a:rPr sz="1300" b="1">
                <a:solidFill>
                  <a:srgbClr val="F5F8FA"/>
                </a:solidFill>
                <a:latin typeface="Microsoft YaHei"/>
              </a:rPr>
              <a:t>ROS氧化</a:t>
            </a:r>
          </a:p>
        </p:txBody>
      </p:sp>
      <p:sp>
        <p:nvSpPr>
          <p:cNvPr id="14" name="Oval 13"/>
          <p:cNvSpPr/>
          <p:nvPr/>
        </p:nvSpPr>
        <p:spPr>
          <a:xfrm>
            <a:off x="8183879" y="1920240"/>
            <a:ext cx="914400" cy="914400"/>
          </a:xfrm>
          <a:prstGeom prst="ellipse">
            <a:avLst/>
          </a:prstGeom>
          <a:solidFill>
            <a:srgbClr val="9E7FDD"/>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1993392"/>
            <a:ext cx="914400" cy="804672"/>
          </a:xfrm>
          <a:prstGeom prst="rect">
            <a:avLst/>
          </a:prstGeom>
          <a:noFill/>
        </p:spPr>
        <p:txBody>
          <a:bodyPr wrap="square" lIns="36576" rIns="36576" tIns="36576" bIns="36576" anchor="ctr">
            <a:spAutoFit/>
          </a:bodyPr>
          <a:lstStyle/>
          <a:p>
            <a:pPr algn="ctr"/>
            <a:r>
              <a:rPr sz="1300" b="1">
                <a:solidFill>
                  <a:srgbClr val="F5F8FA"/>
                </a:solidFill>
                <a:latin typeface="Microsoft YaHei"/>
              </a:rPr>
              <a:t>混合型</a:t>
            </a:r>
          </a:p>
        </p:txBody>
      </p:sp>
      <p:sp>
        <p:nvSpPr>
          <p:cNvPr id="16" name="Rounded Rectangle 15"/>
          <p:cNvSpPr/>
          <p:nvPr/>
        </p:nvSpPr>
        <p:spPr>
          <a:xfrm>
            <a:off x="731520" y="3017520"/>
            <a:ext cx="3429000" cy="219456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17520"/>
            <a:ext cx="64008" cy="219456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3127248"/>
            <a:ext cx="3154680" cy="320040"/>
          </a:xfrm>
          <a:prstGeom prst="rect">
            <a:avLst/>
          </a:prstGeom>
          <a:noFill/>
        </p:spPr>
        <p:txBody>
          <a:bodyPr wrap="square" lIns="36576" rIns="36576" tIns="36576" bIns="36576" anchor="t">
            <a:spAutoFit/>
          </a:bodyPr>
          <a:lstStyle/>
          <a:p>
            <a:pPr algn="l"/>
            <a:r>
              <a:rPr sz="1400" b="1">
                <a:solidFill>
                  <a:srgbClr val="F49D48"/>
                </a:solidFill>
                <a:latin typeface="Microsoft YaHei"/>
              </a:rPr>
              <a:t>目标 1｜建立材料谱</a:t>
            </a:r>
          </a:p>
        </p:txBody>
      </p:sp>
      <p:sp>
        <p:nvSpPr>
          <p:cNvPr id="19" name="TextBox 18"/>
          <p:cNvSpPr txBox="1"/>
          <p:nvPr/>
        </p:nvSpPr>
        <p:spPr>
          <a:xfrm>
            <a:off x="896112" y="3493008"/>
            <a:ext cx="3136392" cy="1627631"/>
          </a:xfrm>
          <a:prstGeom prst="rect">
            <a:avLst/>
          </a:prstGeom>
          <a:noFill/>
        </p:spPr>
        <p:txBody>
          <a:bodyPr wrap="square" lIns="36576" rIns="36576" tIns="36576" bIns="36576" anchor="t">
            <a:spAutoFit/>
          </a:bodyPr>
          <a:lstStyle/>
          <a:p>
            <a:pPr algn="l"/>
            <a:r>
              <a:rPr sz="1200" b="0">
                <a:solidFill>
                  <a:srgbClr val="F5F8FA"/>
                </a:solidFill>
                <a:latin typeface="Microsoft YaHei"/>
              </a:rPr>
              <a:t>完成 AuNP、ZnO、CuO、Fe₃O₄ 与 TiO₂ 的粒径、形貌、晶相、表面电荷、价态、分散性与离子释放表征。</a:t>
            </a:r>
          </a:p>
        </p:txBody>
      </p:sp>
      <p:sp>
        <p:nvSpPr>
          <p:cNvPr id="20" name="Rounded Rectangle 19"/>
          <p:cNvSpPr/>
          <p:nvPr/>
        </p:nvSpPr>
        <p:spPr>
          <a:xfrm>
            <a:off x="4389120" y="3017520"/>
            <a:ext cx="3429000" cy="219456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89120" y="3017520"/>
            <a:ext cx="64008" cy="2194560"/>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53712" y="3127248"/>
            <a:ext cx="3154680" cy="320040"/>
          </a:xfrm>
          <a:prstGeom prst="rect">
            <a:avLst/>
          </a:prstGeom>
          <a:noFill/>
        </p:spPr>
        <p:txBody>
          <a:bodyPr wrap="square" lIns="36576" rIns="36576" tIns="36576" bIns="36576" anchor="t">
            <a:spAutoFit/>
          </a:bodyPr>
          <a:lstStyle/>
          <a:p>
            <a:pPr algn="l"/>
            <a:r>
              <a:rPr sz="1400" b="1">
                <a:solidFill>
                  <a:srgbClr val="2CBEB1"/>
                </a:solidFill>
                <a:latin typeface="Microsoft YaHei"/>
              </a:rPr>
              <a:t>目标 2｜解析巯基分流</a:t>
            </a:r>
          </a:p>
        </p:txBody>
      </p:sp>
      <p:sp>
        <p:nvSpPr>
          <p:cNvPr id="23" name="TextBox 22"/>
          <p:cNvSpPr txBox="1"/>
          <p:nvPr/>
        </p:nvSpPr>
        <p:spPr>
          <a:xfrm>
            <a:off x="4553712" y="3493008"/>
            <a:ext cx="3136392" cy="1627631"/>
          </a:xfrm>
          <a:prstGeom prst="rect">
            <a:avLst/>
          </a:prstGeom>
          <a:noFill/>
        </p:spPr>
        <p:txBody>
          <a:bodyPr wrap="square" lIns="36576" rIns="36576" tIns="36576" bIns="36576" anchor="t">
            <a:spAutoFit/>
          </a:bodyPr>
          <a:lstStyle/>
          <a:p>
            <a:pPr algn="l"/>
            <a:r>
              <a:rPr sz="1200" b="0">
                <a:solidFill>
                  <a:srgbClr val="F5F8FA"/>
                </a:solidFill>
                <a:latin typeface="Microsoft YaHei"/>
              </a:rPr>
              <a:t>在 Cys/GSH、GAPDH 等模型中，区分 –SH 消耗、S–S 形成、M–S 配位及蛋白功能改变。</a:t>
            </a:r>
          </a:p>
        </p:txBody>
      </p:sp>
      <p:sp>
        <p:nvSpPr>
          <p:cNvPr id="24" name="Rounded Rectangle 23"/>
          <p:cNvSpPr/>
          <p:nvPr/>
        </p:nvSpPr>
        <p:spPr>
          <a:xfrm>
            <a:off x="8046720" y="3017520"/>
            <a:ext cx="3429000" cy="219456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0" y="3017520"/>
            <a:ext cx="64008" cy="2194560"/>
          </a:xfrm>
          <a:prstGeom prst="rect">
            <a:avLst/>
          </a:prstGeom>
          <a:solidFill>
            <a:srgbClr val="5DC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11312" y="3127248"/>
            <a:ext cx="3154680" cy="320040"/>
          </a:xfrm>
          <a:prstGeom prst="rect">
            <a:avLst/>
          </a:prstGeom>
          <a:noFill/>
        </p:spPr>
        <p:txBody>
          <a:bodyPr wrap="square" lIns="36576" rIns="36576" tIns="36576" bIns="36576" anchor="t">
            <a:spAutoFit/>
          </a:bodyPr>
          <a:lstStyle/>
          <a:p>
            <a:pPr algn="l"/>
            <a:r>
              <a:rPr sz="1400" b="1">
                <a:solidFill>
                  <a:srgbClr val="5DCEDC"/>
                </a:solidFill>
                <a:latin typeface="Microsoft YaHei"/>
              </a:rPr>
              <a:t>目标 3｜连接细胞与调控</a:t>
            </a:r>
          </a:p>
        </p:txBody>
      </p:sp>
      <p:sp>
        <p:nvSpPr>
          <p:cNvPr id="27" name="TextBox 26"/>
          <p:cNvSpPr txBox="1"/>
          <p:nvPr/>
        </p:nvSpPr>
        <p:spPr>
          <a:xfrm>
            <a:off x="8211312" y="3493008"/>
            <a:ext cx="3136392" cy="1627631"/>
          </a:xfrm>
          <a:prstGeom prst="rect">
            <a:avLst/>
          </a:prstGeom>
          <a:noFill/>
        </p:spPr>
        <p:txBody>
          <a:bodyPr wrap="square" lIns="36576" rIns="36576" tIns="36576" bIns="36576" anchor="t">
            <a:spAutoFit/>
          </a:bodyPr>
          <a:lstStyle/>
          <a:p>
            <a:pPr algn="l"/>
            <a:r>
              <a:rPr sz="1200" b="0">
                <a:solidFill>
                  <a:srgbClr val="F5F8FA"/>
                </a:solidFill>
                <a:latin typeface="Microsoft YaHei"/>
              </a:rPr>
              <a:t>在细胞中验证 Protein–SH、GSH/GSSG、ROS 与命运；调节包覆/缺陷/溶解性验证因果。</a:t>
            </a:r>
          </a:p>
        </p:txBody>
      </p:sp>
      <p:sp>
        <p:nvSpPr>
          <p:cNvPr id="28" name="TextBox 27"/>
          <p:cNvSpPr txBox="1"/>
          <p:nvPr/>
        </p:nvSpPr>
        <p:spPr>
          <a:xfrm>
            <a:off x="777240" y="5623560"/>
            <a:ext cx="10515600" cy="384048"/>
          </a:xfrm>
          <a:prstGeom prst="rect">
            <a:avLst/>
          </a:prstGeom>
          <a:noFill/>
        </p:spPr>
        <p:txBody>
          <a:bodyPr wrap="square" lIns="36576" rIns="36576" tIns="36576" bIns="36576" anchor="t">
            <a:spAutoFit/>
          </a:bodyPr>
          <a:lstStyle/>
          <a:p>
            <a:pPr algn="ctr"/>
            <a:r>
              <a:rPr sz="1500" b="1">
                <a:solidFill>
                  <a:srgbClr val="72CD91"/>
                </a:solidFill>
                <a:latin typeface="Microsoft YaHei"/>
              </a:rPr>
              <a:t>预期产出：一张“材料特征—巯基状态—生物效应”的机制图谱。</a:t>
            </a:r>
          </a:p>
        </p:txBody>
      </p:sp>
      <p:sp>
        <p:nvSpPr>
          <p:cNvPr id="29" name="TextBox 28"/>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30" name="TextBox 29"/>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07</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总体技术路线</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由简单体系递进到蛋白与细胞，最后用同步辐射完成化学状态闭环</a:t>
            </a:r>
          </a:p>
        </p:txBody>
      </p:sp>
      <p:sp>
        <p:nvSpPr>
          <p:cNvPr id="6" name="Oval 5"/>
          <p:cNvSpPr/>
          <p:nvPr/>
        </p:nvSpPr>
        <p:spPr>
          <a:xfrm>
            <a:off x="502920" y="1143000"/>
            <a:ext cx="658368" cy="658368"/>
          </a:xfrm>
          <a:prstGeom prst="ellipse">
            <a:avLst/>
          </a:prstGeom>
          <a:solidFill>
            <a:srgbClr val="F49D48"/>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16152"/>
            <a:ext cx="658368" cy="548640"/>
          </a:xfrm>
          <a:prstGeom prst="rect">
            <a:avLst/>
          </a:prstGeom>
          <a:noFill/>
        </p:spPr>
        <p:txBody>
          <a:bodyPr wrap="square" lIns="36576" rIns="36576" tIns="36576" bIns="36576" anchor="ctr">
            <a:spAutoFit/>
          </a:bodyPr>
          <a:lstStyle/>
          <a:p>
            <a:pPr algn="ctr"/>
            <a:r>
              <a:rPr sz="1500" b="1">
                <a:solidFill>
                  <a:srgbClr val="F5F8FA"/>
                </a:solidFill>
                <a:latin typeface="Microsoft YaHei"/>
              </a:rPr>
              <a:t>I</a:t>
            </a:r>
          </a:p>
        </p:txBody>
      </p:sp>
      <p:sp>
        <p:nvSpPr>
          <p:cNvPr id="8" name="TextBox 7"/>
          <p:cNvSpPr txBox="1"/>
          <p:nvPr/>
        </p:nvSpPr>
        <p:spPr>
          <a:xfrm>
            <a:off x="320040" y="1874519"/>
            <a:ext cx="1051560" cy="457200"/>
          </a:xfrm>
          <a:prstGeom prst="rect">
            <a:avLst/>
          </a:prstGeom>
          <a:noFill/>
        </p:spPr>
        <p:txBody>
          <a:bodyPr wrap="square" lIns="36576" rIns="36576" tIns="36576" bIns="36576" anchor="t">
            <a:spAutoFit/>
          </a:bodyPr>
          <a:lstStyle/>
          <a:p>
            <a:pPr algn="ctr"/>
            <a:r>
              <a:rPr sz="1300" b="1">
                <a:solidFill>
                  <a:srgbClr val="F5F8FA"/>
                </a:solidFill>
                <a:latin typeface="Microsoft YaHei"/>
              </a:rPr>
              <a:t>材料制备与表征</a:t>
            </a:r>
          </a:p>
        </p:txBody>
      </p:sp>
      <p:sp>
        <p:nvSpPr>
          <p:cNvPr id="9" name="TextBox 8"/>
          <p:cNvSpPr txBox="1"/>
          <p:nvPr/>
        </p:nvSpPr>
        <p:spPr>
          <a:xfrm>
            <a:off x="0" y="2514600"/>
            <a:ext cx="1828800" cy="914400"/>
          </a:xfrm>
          <a:prstGeom prst="rect">
            <a:avLst/>
          </a:prstGeom>
          <a:noFill/>
        </p:spPr>
        <p:txBody>
          <a:bodyPr wrap="square" lIns="36576" rIns="36576" tIns="36576" bIns="36576" anchor="t">
            <a:spAutoFit/>
          </a:bodyPr>
          <a:lstStyle/>
          <a:p>
            <a:pPr algn="ctr"/>
            <a:r>
              <a:rPr sz="1100" b="0">
                <a:solidFill>
                  <a:srgbClr val="AEC1CF"/>
                </a:solidFill>
                <a:latin typeface="Microsoft YaHei"/>
              </a:rPr>
              <a:t>粒径｜形貌｜晶相｜ζ电位
价态｜分散性｜离子释放</a:t>
            </a:r>
          </a:p>
        </p:txBody>
      </p:sp>
      <p:cxnSp>
        <p:nvCxnSpPr>
          <p:cNvPr id="10" name="Connector 9"/>
          <p:cNvCxnSpPr/>
          <p:nvPr/>
        </p:nvCxnSpPr>
        <p:spPr>
          <a:xfrm>
            <a:off x="1216152" y="1472184"/>
            <a:ext cx="1344168" cy="0"/>
          </a:xfrm>
          <a:prstGeom prst="line">
            <a:avLst/>
          </a:prstGeom>
          <a:ln w="25400">
            <a:solidFill>
              <a:srgbClr val="F49D48"/>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843784" y="1143000"/>
            <a:ext cx="658368" cy="658368"/>
          </a:xfrm>
          <a:prstGeom prst="ellipse">
            <a:avLst/>
          </a:prstGeom>
          <a:solidFill>
            <a:srgbClr val="2CBEB1"/>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43784" y="1216152"/>
            <a:ext cx="658368" cy="548640"/>
          </a:xfrm>
          <a:prstGeom prst="rect">
            <a:avLst/>
          </a:prstGeom>
          <a:noFill/>
        </p:spPr>
        <p:txBody>
          <a:bodyPr wrap="square" lIns="36576" rIns="36576" tIns="36576" bIns="36576" anchor="ctr">
            <a:spAutoFit/>
          </a:bodyPr>
          <a:lstStyle/>
          <a:p>
            <a:pPr algn="ctr"/>
            <a:r>
              <a:rPr sz="1500" b="1">
                <a:solidFill>
                  <a:srgbClr val="F5F8FA"/>
                </a:solidFill>
                <a:latin typeface="Microsoft YaHei"/>
              </a:rPr>
              <a:t>II</a:t>
            </a:r>
          </a:p>
        </p:txBody>
      </p:sp>
      <p:sp>
        <p:nvSpPr>
          <p:cNvPr id="13" name="TextBox 12"/>
          <p:cNvSpPr txBox="1"/>
          <p:nvPr/>
        </p:nvSpPr>
        <p:spPr>
          <a:xfrm>
            <a:off x="2660904" y="1874519"/>
            <a:ext cx="1051560" cy="457200"/>
          </a:xfrm>
          <a:prstGeom prst="rect">
            <a:avLst/>
          </a:prstGeom>
          <a:noFill/>
        </p:spPr>
        <p:txBody>
          <a:bodyPr wrap="square" lIns="36576" rIns="36576" tIns="36576" bIns="36576" anchor="t">
            <a:spAutoFit/>
          </a:bodyPr>
          <a:lstStyle/>
          <a:p>
            <a:pPr algn="ctr"/>
            <a:r>
              <a:rPr sz="1300" b="1">
                <a:solidFill>
                  <a:srgbClr val="F5F8FA"/>
                </a:solidFill>
                <a:latin typeface="Microsoft YaHei"/>
              </a:rPr>
              <a:t>Cys/GSH模型</a:t>
            </a:r>
          </a:p>
        </p:txBody>
      </p:sp>
      <p:sp>
        <p:nvSpPr>
          <p:cNvPr id="14" name="TextBox 13"/>
          <p:cNvSpPr txBox="1"/>
          <p:nvPr/>
        </p:nvSpPr>
        <p:spPr>
          <a:xfrm>
            <a:off x="2340864" y="2514600"/>
            <a:ext cx="1828800" cy="914400"/>
          </a:xfrm>
          <a:prstGeom prst="rect">
            <a:avLst/>
          </a:prstGeom>
          <a:noFill/>
        </p:spPr>
        <p:txBody>
          <a:bodyPr wrap="square" lIns="36576" rIns="36576" tIns="36576" bIns="36576" anchor="t">
            <a:spAutoFit/>
          </a:bodyPr>
          <a:lstStyle/>
          <a:p>
            <a:pPr algn="ctr"/>
            <a:r>
              <a:rPr sz="1100" b="0">
                <a:solidFill>
                  <a:srgbClr val="AEC1CF"/>
                </a:solidFill>
                <a:latin typeface="Microsoft YaHei"/>
              </a:rPr>
              <a:t>自由–SH｜Cys/cystine
GSH/GSSG｜金属释放</a:t>
            </a:r>
          </a:p>
        </p:txBody>
      </p:sp>
      <p:cxnSp>
        <p:nvCxnSpPr>
          <p:cNvPr id="15" name="Connector 14"/>
          <p:cNvCxnSpPr/>
          <p:nvPr/>
        </p:nvCxnSpPr>
        <p:spPr>
          <a:xfrm>
            <a:off x="3557016" y="1472184"/>
            <a:ext cx="1344168" cy="0"/>
          </a:xfrm>
          <a:prstGeom prst="line">
            <a:avLst/>
          </a:prstGeom>
          <a:ln w="25400">
            <a:solidFill>
              <a:srgbClr val="2CBEB1"/>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184648" y="1143000"/>
            <a:ext cx="658368" cy="658368"/>
          </a:xfrm>
          <a:prstGeom prst="ellipse">
            <a:avLst/>
          </a:prstGeom>
          <a:solidFill>
            <a:srgbClr val="5DCEDC"/>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4648" y="1216152"/>
            <a:ext cx="658368" cy="548640"/>
          </a:xfrm>
          <a:prstGeom prst="rect">
            <a:avLst/>
          </a:prstGeom>
          <a:noFill/>
        </p:spPr>
        <p:txBody>
          <a:bodyPr wrap="square" lIns="36576" rIns="36576" tIns="36576" bIns="36576" anchor="ctr">
            <a:spAutoFit/>
          </a:bodyPr>
          <a:lstStyle/>
          <a:p>
            <a:pPr algn="ctr"/>
            <a:r>
              <a:rPr sz="1500" b="1">
                <a:solidFill>
                  <a:srgbClr val="F5F8FA"/>
                </a:solidFill>
                <a:latin typeface="Microsoft YaHei"/>
              </a:rPr>
              <a:t>III</a:t>
            </a:r>
          </a:p>
        </p:txBody>
      </p:sp>
      <p:sp>
        <p:nvSpPr>
          <p:cNvPr id="18" name="TextBox 17"/>
          <p:cNvSpPr txBox="1"/>
          <p:nvPr/>
        </p:nvSpPr>
        <p:spPr>
          <a:xfrm>
            <a:off x="5001768" y="1874519"/>
            <a:ext cx="1051560" cy="457200"/>
          </a:xfrm>
          <a:prstGeom prst="rect">
            <a:avLst/>
          </a:prstGeom>
          <a:noFill/>
        </p:spPr>
        <p:txBody>
          <a:bodyPr wrap="square" lIns="36576" rIns="36576" tIns="36576" bIns="36576" anchor="t">
            <a:spAutoFit/>
          </a:bodyPr>
          <a:lstStyle/>
          <a:p>
            <a:pPr algn="ctr"/>
            <a:r>
              <a:rPr sz="1300" b="1">
                <a:solidFill>
                  <a:srgbClr val="F5F8FA"/>
                </a:solidFill>
                <a:latin typeface="Microsoft YaHei"/>
              </a:rPr>
              <a:t>代表蛋白</a:t>
            </a:r>
          </a:p>
        </p:txBody>
      </p:sp>
      <p:sp>
        <p:nvSpPr>
          <p:cNvPr id="19" name="TextBox 18"/>
          <p:cNvSpPr txBox="1"/>
          <p:nvPr/>
        </p:nvSpPr>
        <p:spPr>
          <a:xfrm>
            <a:off x="4681728" y="2514600"/>
            <a:ext cx="1828800" cy="914400"/>
          </a:xfrm>
          <a:prstGeom prst="rect">
            <a:avLst/>
          </a:prstGeom>
          <a:noFill/>
        </p:spPr>
        <p:txBody>
          <a:bodyPr wrap="square" lIns="36576" rIns="36576" tIns="36576" bIns="36576" anchor="t">
            <a:spAutoFit/>
          </a:bodyPr>
          <a:lstStyle/>
          <a:p>
            <a:pPr algn="ctr"/>
            <a:r>
              <a:rPr sz="1100" b="0">
                <a:solidFill>
                  <a:srgbClr val="AEC1CF"/>
                </a:solidFill>
                <a:latin typeface="Microsoft YaHei"/>
              </a:rPr>
              <a:t>GAPDH功能｜Protein–SH
必要时扩展 MT/PDI/Trx/Prx</a:t>
            </a:r>
          </a:p>
        </p:txBody>
      </p:sp>
      <p:cxnSp>
        <p:nvCxnSpPr>
          <p:cNvPr id="20" name="Connector 19"/>
          <p:cNvCxnSpPr/>
          <p:nvPr/>
        </p:nvCxnSpPr>
        <p:spPr>
          <a:xfrm>
            <a:off x="5897880" y="1472184"/>
            <a:ext cx="1344168" cy="0"/>
          </a:xfrm>
          <a:prstGeom prst="line">
            <a:avLst/>
          </a:prstGeom>
          <a:ln w="25400">
            <a:solidFill>
              <a:srgbClr val="5DCEDC"/>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525512" y="1143000"/>
            <a:ext cx="658368" cy="658368"/>
          </a:xfrm>
          <a:prstGeom prst="ellipse">
            <a:avLst/>
          </a:prstGeom>
          <a:solidFill>
            <a:srgbClr val="9E7FDD"/>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25512" y="1216152"/>
            <a:ext cx="658368" cy="548640"/>
          </a:xfrm>
          <a:prstGeom prst="rect">
            <a:avLst/>
          </a:prstGeom>
          <a:noFill/>
        </p:spPr>
        <p:txBody>
          <a:bodyPr wrap="square" lIns="36576" rIns="36576" tIns="36576" bIns="36576" anchor="ctr">
            <a:spAutoFit/>
          </a:bodyPr>
          <a:lstStyle/>
          <a:p>
            <a:pPr algn="ctr"/>
            <a:r>
              <a:rPr sz="1500" b="1">
                <a:solidFill>
                  <a:srgbClr val="F5F8FA"/>
                </a:solidFill>
                <a:latin typeface="Microsoft YaHei"/>
              </a:rPr>
              <a:t>IV</a:t>
            </a:r>
          </a:p>
        </p:txBody>
      </p:sp>
      <p:sp>
        <p:nvSpPr>
          <p:cNvPr id="23" name="TextBox 22"/>
          <p:cNvSpPr txBox="1"/>
          <p:nvPr/>
        </p:nvSpPr>
        <p:spPr>
          <a:xfrm>
            <a:off x="7342632" y="1874519"/>
            <a:ext cx="1051560" cy="457200"/>
          </a:xfrm>
          <a:prstGeom prst="rect">
            <a:avLst/>
          </a:prstGeom>
          <a:noFill/>
        </p:spPr>
        <p:txBody>
          <a:bodyPr wrap="square" lIns="36576" rIns="36576" tIns="36576" bIns="36576" anchor="t">
            <a:spAutoFit/>
          </a:bodyPr>
          <a:lstStyle/>
          <a:p>
            <a:pPr algn="ctr"/>
            <a:r>
              <a:rPr sz="1300" b="1">
                <a:solidFill>
                  <a:srgbClr val="F5F8FA"/>
                </a:solidFill>
                <a:latin typeface="Microsoft YaHei"/>
              </a:rPr>
              <a:t>细胞验证</a:t>
            </a:r>
          </a:p>
        </p:txBody>
      </p:sp>
      <p:sp>
        <p:nvSpPr>
          <p:cNvPr id="24" name="TextBox 23"/>
          <p:cNvSpPr txBox="1"/>
          <p:nvPr/>
        </p:nvSpPr>
        <p:spPr>
          <a:xfrm>
            <a:off x="7022592" y="2514600"/>
            <a:ext cx="1828800" cy="914400"/>
          </a:xfrm>
          <a:prstGeom prst="rect">
            <a:avLst/>
          </a:prstGeom>
          <a:noFill/>
        </p:spPr>
        <p:txBody>
          <a:bodyPr wrap="square" lIns="36576" rIns="36576" tIns="36576" bIns="36576" anchor="t">
            <a:spAutoFit/>
          </a:bodyPr>
          <a:lstStyle/>
          <a:p>
            <a:pPr algn="ctr"/>
            <a:r>
              <a:rPr sz="1100" b="0">
                <a:solidFill>
                  <a:srgbClr val="AEC1CF"/>
                </a:solidFill>
                <a:latin typeface="Microsoft YaHei"/>
              </a:rPr>
              <a:t>ROS｜Protein–SH｜GSH/GSSG
活力｜凋亡/铁死亡</a:t>
            </a:r>
          </a:p>
        </p:txBody>
      </p:sp>
      <p:cxnSp>
        <p:nvCxnSpPr>
          <p:cNvPr id="25" name="Connector 24"/>
          <p:cNvCxnSpPr/>
          <p:nvPr/>
        </p:nvCxnSpPr>
        <p:spPr>
          <a:xfrm>
            <a:off x="8238744" y="1472184"/>
            <a:ext cx="1344168" cy="0"/>
          </a:xfrm>
          <a:prstGeom prst="line">
            <a:avLst/>
          </a:prstGeom>
          <a:ln w="25400">
            <a:solidFill>
              <a:srgbClr val="9E7FDD"/>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9866376" y="1143000"/>
            <a:ext cx="658368" cy="658368"/>
          </a:xfrm>
          <a:prstGeom prst="ellipse">
            <a:avLst/>
          </a:prstGeom>
          <a:solidFill>
            <a:srgbClr val="72CD91"/>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66376" y="1216152"/>
            <a:ext cx="658368" cy="548640"/>
          </a:xfrm>
          <a:prstGeom prst="rect">
            <a:avLst/>
          </a:prstGeom>
          <a:noFill/>
        </p:spPr>
        <p:txBody>
          <a:bodyPr wrap="square" lIns="36576" rIns="36576" tIns="36576" bIns="36576" anchor="ctr">
            <a:spAutoFit/>
          </a:bodyPr>
          <a:lstStyle/>
          <a:p>
            <a:pPr algn="ctr"/>
            <a:r>
              <a:rPr sz="1500" b="1">
                <a:solidFill>
                  <a:srgbClr val="F5F8FA"/>
                </a:solidFill>
                <a:latin typeface="Microsoft YaHei"/>
              </a:rPr>
              <a:t>V</a:t>
            </a:r>
          </a:p>
        </p:txBody>
      </p:sp>
      <p:sp>
        <p:nvSpPr>
          <p:cNvPr id="28" name="TextBox 27"/>
          <p:cNvSpPr txBox="1"/>
          <p:nvPr/>
        </p:nvSpPr>
        <p:spPr>
          <a:xfrm>
            <a:off x="9683496" y="1874519"/>
            <a:ext cx="1051560" cy="457200"/>
          </a:xfrm>
          <a:prstGeom prst="rect">
            <a:avLst/>
          </a:prstGeom>
          <a:noFill/>
        </p:spPr>
        <p:txBody>
          <a:bodyPr wrap="square" lIns="36576" rIns="36576" tIns="36576" bIns="36576" anchor="t">
            <a:spAutoFit/>
          </a:bodyPr>
          <a:lstStyle/>
          <a:p>
            <a:pPr algn="ctr"/>
            <a:r>
              <a:rPr sz="1300" b="1">
                <a:solidFill>
                  <a:srgbClr val="F5F8FA"/>
                </a:solidFill>
                <a:latin typeface="Microsoft YaHei"/>
              </a:rPr>
              <a:t>同步辐射解析</a:t>
            </a:r>
          </a:p>
        </p:txBody>
      </p:sp>
      <p:sp>
        <p:nvSpPr>
          <p:cNvPr id="29" name="TextBox 28"/>
          <p:cNvSpPr txBox="1"/>
          <p:nvPr/>
        </p:nvSpPr>
        <p:spPr>
          <a:xfrm>
            <a:off x="9363456" y="2514600"/>
            <a:ext cx="1828800" cy="914400"/>
          </a:xfrm>
          <a:prstGeom prst="rect">
            <a:avLst/>
          </a:prstGeom>
          <a:noFill/>
        </p:spPr>
        <p:txBody>
          <a:bodyPr wrap="square" lIns="36576" rIns="36576" tIns="36576" bIns="36576" anchor="t">
            <a:spAutoFit/>
          </a:bodyPr>
          <a:lstStyle/>
          <a:p>
            <a:pPr algn="ctr"/>
            <a:r>
              <a:rPr sz="1100" b="0">
                <a:solidFill>
                  <a:srgbClr val="AEC1CF"/>
                </a:solidFill>
                <a:latin typeface="Microsoft YaHei"/>
              </a:rPr>
              <a:t>金属 K-edge XANES/EXAFS
S K-edge：S–S/M–S/氧化硫</a:t>
            </a:r>
          </a:p>
        </p:txBody>
      </p:sp>
      <p:sp>
        <p:nvSpPr>
          <p:cNvPr id="30" name="TextBox 29"/>
          <p:cNvSpPr txBox="1"/>
          <p:nvPr/>
        </p:nvSpPr>
        <p:spPr>
          <a:xfrm>
            <a:off x="731520" y="3977639"/>
            <a:ext cx="10515600" cy="329184"/>
          </a:xfrm>
          <a:prstGeom prst="rect">
            <a:avLst/>
          </a:prstGeom>
          <a:noFill/>
        </p:spPr>
        <p:txBody>
          <a:bodyPr wrap="square" lIns="36576" rIns="36576" tIns="36576" bIns="36576" anchor="t">
            <a:spAutoFit/>
          </a:bodyPr>
          <a:lstStyle/>
          <a:p>
            <a:pPr algn="l"/>
            <a:r>
              <a:rPr sz="1500" b="1">
                <a:solidFill>
                  <a:srgbClr val="2CBEB1"/>
                </a:solidFill>
                <a:latin typeface="Microsoft YaHei"/>
              </a:rPr>
              <a:t>判定逻辑</a:t>
            </a:r>
          </a:p>
        </p:txBody>
      </p:sp>
      <p:sp>
        <p:nvSpPr>
          <p:cNvPr id="31" name="Rounded Rectangle 30"/>
          <p:cNvSpPr/>
          <p:nvPr/>
        </p:nvSpPr>
        <p:spPr>
          <a:xfrm>
            <a:off x="731520" y="4389120"/>
            <a:ext cx="3337560" cy="118872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4389120"/>
            <a:ext cx="64008" cy="1188720"/>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4498848"/>
            <a:ext cx="3063240" cy="320040"/>
          </a:xfrm>
          <a:prstGeom prst="rect">
            <a:avLst/>
          </a:prstGeom>
          <a:noFill/>
        </p:spPr>
        <p:txBody>
          <a:bodyPr wrap="square" lIns="36576" rIns="36576" tIns="36576" bIns="36576" anchor="t">
            <a:spAutoFit/>
          </a:bodyPr>
          <a:lstStyle/>
          <a:p>
            <a:pPr algn="l"/>
            <a:r>
              <a:rPr sz="1400" b="1">
                <a:solidFill>
                  <a:srgbClr val="2CBEB1"/>
                </a:solidFill>
                <a:latin typeface="Microsoft YaHei"/>
              </a:rPr>
              <a:t>共同响应</a:t>
            </a:r>
          </a:p>
        </p:txBody>
      </p:sp>
      <p:sp>
        <p:nvSpPr>
          <p:cNvPr id="34" name="TextBox 33"/>
          <p:cNvSpPr txBox="1"/>
          <p:nvPr/>
        </p:nvSpPr>
        <p:spPr>
          <a:xfrm>
            <a:off x="896112" y="4864608"/>
            <a:ext cx="3044952" cy="621792"/>
          </a:xfrm>
          <a:prstGeom prst="rect">
            <a:avLst/>
          </a:prstGeom>
          <a:noFill/>
        </p:spPr>
        <p:txBody>
          <a:bodyPr wrap="square" lIns="36576" rIns="36576" tIns="36576" bIns="36576" anchor="t">
            <a:spAutoFit/>
          </a:bodyPr>
          <a:lstStyle/>
          <a:p>
            <a:pPr algn="l"/>
            <a:r>
              <a:rPr sz="1200" b="0">
                <a:solidFill>
                  <a:srgbClr val="F5F8FA"/>
                </a:solidFill>
                <a:latin typeface="Microsoft YaHei"/>
              </a:rPr>
              <a:t>不同材料是否都导致 Protein–SH 下降或硫状态重分配？</a:t>
            </a:r>
          </a:p>
        </p:txBody>
      </p:sp>
      <p:sp>
        <p:nvSpPr>
          <p:cNvPr id="35" name="Rounded Rectangle 34"/>
          <p:cNvSpPr/>
          <p:nvPr/>
        </p:nvSpPr>
        <p:spPr>
          <a:xfrm>
            <a:off x="4434840" y="4389120"/>
            <a:ext cx="3337560" cy="118872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34840" y="4389120"/>
            <a:ext cx="64008" cy="118872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99431" y="4498848"/>
            <a:ext cx="3063240" cy="320040"/>
          </a:xfrm>
          <a:prstGeom prst="rect">
            <a:avLst/>
          </a:prstGeom>
          <a:noFill/>
        </p:spPr>
        <p:txBody>
          <a:bodyPr wrap="square" lIns="36576" rIns="36576" tIns="36576" bIns="36576" anchor="t">
            <a:spAutoFit/>
          </a:bodyPr>
          <a:lstStyle/>
          <a:p>
            <a:pPr algn="l"/>
            <a:r>
              <a:rPr sz="1400" b="1">
                <a:solidFill>
                  <a:srgbClr val="F49D48"/>
                </a:solidFill>
                <a:latin typeface="Microsoft YaHei"/>
              </a:rPr>
              <a:t>路径分型</a:t>
            </a:r>
          </a:p>
        </p:txBody>
      </p:sp>
      <p:sp>
        <p:nvSpPr>
          <p:cNvPr id="38" name="TextBox 37"/>
          <p:cNvSpPr txBox="1"/>
          <p:nvPr/>
        </p:nvSpPr>
        <p:spPr>
          <a:xfrm>
            <a:off x="4599431" y="4864608"/>
            <a:ext cx="3044952" cy="621792"/>
          </a:xfrm>
          <a:prstGeom prst="rect">
            <a:avLst/>
          </a:prstGeom>
          <a:noFill/>
        </p:spPr>
        <p:txBody>
          <a:bodyPr wrap="square" lIns="36576" rIns="36576" tIns="36576" bIns="36576" anchor="t">
            <a:spAutoFit/>
          </a:bodyPr>
          <a:lstStyle/>
          <a:p>
            <a:pPr algn="l"/>
            <a:r>
              <a:rPr sz="1200" b="0">
                <a:solidFill>
                  <a:srgbClr val="F5F8FA"/>
                </a:solidFill>
                <a:latin typeface="Microsoft YaHei"/>
              </a:rPr>
              <a:t>Au–S、Zn–S、S–S 与ROS氧化能否被谱学区分？</a:t>
            </a:r>
          </a:p>
        </p:txBody>
      </p:sp>
      <p:sp>
        <p:nvSpPr>
          <p:cNvPr id="39" name="Rounded Rectangle 38"/>
          <p:cNvSpPr/>
          <p:nvPr/>
        </p:nvSpPr>
        <p:spPr>
          <a:xfrm>
            <a:off x="8138160" y="4389120"/>
            <a:ext cx="3337560" cy="118872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38160" y="4389120"/>
            <a:ext cx="64008" cy="1188720"/>
          </a:xfrm>
          <a:prstGeom prst="rect">
            <a:avLst/>
          </a:prstGeom>
          <a:solidFill>
            <a:srgbClr val="9E7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02752" y="4498848"/>
            <a:ext cx="3063240" cy="320040"/>
          </a:xfrm>
          <a:prstGeom prst="rect">
            <a:avLst/>
          </a:prstGeom>
          <a:noFill/>
        </p:spPr>
        <p:txBody>
          <a:bodyPr wrap="square" lIns="36576" rIns="36576" tIns="36576" bIns="36576" anchor="t">
            <a:spAutoFit/>
          </a:bodyPr>
          <a:lstStyle/>
          <a:p>
            <a:pPr algn="l"/>
            <a:r>
              <a:rPr sz="1400" b="1">
                <a:solidFill>
                  <a:srgbClr val="9E7FDD"/>
                </a:solidFill>
                <a:latin typeface="Microsoft YaHei"/>
              </a:rPr>
              <a:t>可调控性</a:t>
            </a:r>
          </a:p>
        </p:txBody>
      </p:sp>
      <p:sp>
        <p:nvSpPr>
          <p:cNvPr id="42" name="TextBox 41"/>
          <p:cNvSpPr txBox="1"/>
          <p:nvPr/>
        </p:nvSpPr>
        <p:spPr>
          <a:xfrm>
            <a:off x="8302752" y="4864608"/>
            <a:ext cx="3044952" cy="621792"/>
          </a:xfrm>
          <a:prstGeom prst="rect">
            <a:avLst/>
          </a:prstGeom>
          <a:noFill/>
        </p:spPr>
        <p:txBody>
          <a:bodyPr wrap="square" lIns="36576" rIns="36576" tIns="36576" bIns="36576" anchor="t">
            <a:spAutoFit/>
          </a:bodyPr>
          <a:lstStyle/>
          <a:p>
            <a:pPr algn="l"/>
            <a:r>
              <a:rPr sz="1200" b="0">
                <a:solidFill>
                  <a:srgbClr val="F5F8FA"/>
                </a:solidFill>
                <a:latin typeface="Microsoft YaHei"/>
              </a:rPr>
              <a:t>改变表面包覆/缺陷/溶解性后，巯基响应是否随之改变？</a:t>
            </a:r>
          </a:p>
        </p:txBody>
      </p:sp>
      <p:sp>
        <p:nvSpPr>
          <p:cNvPr id="43" name="TextBox 42"/>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44" name="TextBox 43"/>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08</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阶段 I：材料制备与理化表征</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先把“材料差异”量化，避免把批次差异误判为机制差异</a:t>
            </a:r>
          </a:p>
        </p:txBody>
      </p:sp>
      <p:sp>
        <p:nvSpPr>
          <p:cNvPr id="6" name="Rounded Rectangle 5"/>
          <p:cNvSpPr/>
          <p:nvPr/>
        </p:nvSpPr>
        <p:spPr>
          <a:xfrm>
            <a:off x="685800" y="1280160"/>
            <a:ext cx="3246120" cy="123444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280160"/>
            <a:ext cx="64008" cy="123444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389888"/>
            <a:ext cx="2971800" cy="320040"/>
          </a:xfrm>
          <a:prstGeom prst="rect">
            <a:avLst/>
          </a:prstGeom>
          <a:noFill/>
        </p:spPr>
        <p:txBody>
          <a:bodyPr wrap="square" lIns="36576" rIns="36576" tIns="36576" bIns="36576" anchor="t">
            <a:spAutoFit/>
          </a:bodyPr>
          <a:lstStyle/>
          <a:p>
            <a:pPr algn="l"/>
            <a:r>
              <a:rPr sz="1400" b="1">
                <a:solidFill>
                  <a:srgbClr val="F49D48"/>
                </a:solidFill>
                <a:latin typeface="Microsoft YaHei"/>
              </a:rPr>
              <a:t>粒径/形貌</a:t>
            </a:r>
          </a:p>
        </p:txBody>
      </p:sp>
      <p:sp>
        <p:nvSpPr>
          <p:cNvPr id="9" name="TextBox 8"/>
          <p:cNvSpPr txBox="1"/>
          <p:nvPr/>
        </p:nvSpPr>
        <p:spPr>
          <a:xfrm>
            <a:off x="850392" y="1755648"/>
            <a:ext cx="2953512" cy="667512"/>
          </a:xfrm>
          <a:prstGeom prst="rect">
            <a:avLst/>
          </a:prstGeom>
          <a:noFill/>
        </p:spPr>
        <p:txBody>
          <a:bodyPr wrap="square" lIns="36576" rIns="36576" tIns="36576" bIns="36576" anchor="t">
            <a:spAutoFit/>
          </a:bodyPr>
          <a:lstStyle/>
          <a:p>
            <a:pPr algn="l"/>
            <a:r>
              <a:rPr sz="1100" b="0">
                <a:solidFill>
                  <a:srgbClr val="F5F8FA"/>
                </a:solidFill>
                <a:latin typeface="Microsoft YaHei"/>
              </a:rPr>
              <a:t>TEM/DLS
尺寸分布与团聚</a:t>
            </a:r>
          </a:p>
        </p:txBody>
      </p:sp>
      <p:sp>
        <p:nvSpPr>
          <p:cNvPr id="10" name="Rounded Rectangle 9"/>
          <p:cNvSpPr/>
          <p:nvPr/>
        </p:nvSpPr>
        <p:spPr>
          <a:xfrm>
            <a:off x="4389120" y="1280160"/>
            <a:ext cx="3246120" cy="123444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280160"/>
            <a:ext cx="64008" cy="1234440"/>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389888"/>
            <a:ext cx="2971800" cy="320040"/>
          </a:xfrm>
          <a:prstGeom prst="rect">
            <a:avLst/>
          </a:prstGeom>
          <a:noFill/>
        </p:spPr>
        <p:txBody>
          <a:bodyPr wrap="square" lIns="36576" rIns="36576" tIns="36576" bIns="36576" anchor="t">
            <a:spAutoFit/>
          </a:bodyPr>
          <a:lstStyle/>
          <a:p>
            <a:pPr algn="l"/>
            <a:r>
              <a:rPr sz="1400" b="1">
                <a:solidFill>
                  <a:srgbClr val="2CBEB1"/>
                </a:solidFill>
                <a:latin typeface="Microsoft YaHei"/>
              </a:rPr>
              <a:t>晶相/缺陷</a:t>
            </a:r>
          </a:p>
        </p:txBody>
      </p:sp>
      <p:sp>
        <p:nvSpPr>
          <p:cNvPr id="13" name="TextBox 12"/>
          <p:cNvSpPr txBox="1"/>
          <p:nvPr/>
        </p:nvSpPr>
        <p:spPr>
          <a:xfrm>
            <a:off x="4553712" y="1755648"/>
            <a:ext cx="2953512" cy="667512"/>
          </a:xfrm>
          <a:prstGeom prst="rect">
            <a:avLst/>
          </a:prstGeom>
          <a:noFill/>
        </p:spPr>
        <p:txBody>
          <a:bodyPr wrap="square" lIns="36576" rIns="36576" tIns="36576" bIns="36576" anchor="t">
            <a:spAutoFit/>
          </a:bodyPr>
          <a:lstStyle/>
          <a:p>
            <a:pPr algn="l"/>
            <a:r>
              <a:rPr sz="1100" b="0">
                <a:solidFill>
                  <a:srgbClr val="F5F8FA"/>
                </a:solidFill>
                <a:latin typeface="Microsoft YaHei"/>
              </a:rPr>
              <a:t>XRD/Raman
晶体结构与缺陷线索</a:t>
            </a:r>
          </a:p>
        </p:txBody>
      </p:sp>
      <p:sp>
        <p:nvSpPr>
          <p:cNvPr id="14" name="Rounded Rectangle 13"/>
          <p:cNvSpPr/>
          <p:nvPr/>
        </p:nvSpPr>
        <p:spPr>
          <a:xfrm>
            <a:off x="8092440" y="1280160"/>
            <a:ext cx="3246120" cy="123444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1280160"/>
            <a:ext cx="64008" cy="1234440"/>
          </a:xfrm>
          <a:prstGeom prst="rect">
            <a:avLst/>
          </a:prstGeom>
          <a:solidFill>
            <a:srgbClr val="5DC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1" y="1389888"/>
            <a:ext cx="2971800" cy="320040"/>
          </a:xfrm>
          <a:prstGeom prst="rect">
            <a:avLst/>
          </a:prstGeom>
          <a:noFill/>
        </p:spPr>
        <p:txBody>
          <a:bodyPr wrap="square" lIns="36576" rIns="36576" tIns="36576" bIns="36576" anchor="t">
            <a:spAutoFit/>
          </a:bodyPr>
          <a:lstStyle/>
          <a:p>
            <a:pPr algn="l"/>
            <a:r>
              <a:rPr sz="1400" b="1">
                <a:solidFill>
                  <a:srgbClr val="5DCEDC"/>
                </a:solidFill>
                <a:latin typeface="Microsoft YaHei"/>
              </a:rPr>
              <a:t>表面电荷</a:t>
            </a:r>
          </a:p>
        </p:txBody>
      </p:sp>
      <p:sp>
        <p:nvSpPr>
          <p:cNvPr id="17" name="TextBox 16"/>
          <p:cNvSpPr txBox="1"/>
          <p:nvPr/>
        </p:nvSpPr>
        <p:spPr>
          <a:xfrm>
            <a:off x="8257031" y="1755648"/>
            <a:ext cx="2953512" cy="667512"/>
          </a:xfrm>
          <a:prstGeom prst="rect">
            <a:avLst/>
          </a:prstGeom>
          <a:noFill/>
        </p:spPr>
        <p:txBody>
          <a:bodyPr wrap="square" lIns="36576" rIns="36576" tIns="36576" bIns="36576" anchor="t">
            <a:spAutoFit/>
          </a:bodyPr>
          <a:lstStyle/>
          <a:p>
            <a:pPr algn="l"/>
            <a:r>
              <a:rPr sz="1100" b="0">
                <a:solidFill>
                  <a:srgbClr val="F5F8FA"/>
                </a:solidFill>
                <a:latin typeface="Microsoft YaHei"/>
              </a:rPr>
              <a:t>ζ电位
胶体稳定性与吸附倾向</a:t>
            </a:r>
          </a:p>
        </p:txBody>
      </p:sp>
      <p:sp>
        <p:nvSpPr>
          <p:cNvPr id="18" name="Rounded Rectangle 17"/>
          <p:cNvSpPr/>
          <p:nvPr/>
        </p:nvSpPr>
        <p:spPr>
          <a:xfrm>
            <a:off x="685800" y="2880360"/>
            <a:ext cx="3246120" cy="123444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2880360"/>
            <a:ext cx="64008" cy="1234440"/>
          </a:xfrm>
          <a:prstGeom prst="rect">
            <a:avLst/>
          </a:prstGeom>
          <a:solidFill>
            <a:srgbClr val="9E7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2990088"/>
            <a:ext cx="2971800" cy="320040"/>
          </a:xfrm>
          <a:prstGeom prst="rect">
            <a:avLst/>
          </a:prstGeom>
          <a:noFill/>
        </p:spPr>
        <p:txBody>
          <a:bodyPr wrap="square" lIns="36576" rIns="36576" tIns="36576" bIns="36576" anchor="t">
            <a:spAutoFit/>
          </a:bodyPr>
          <a:lstStyle/>
          <a:p>
            <a:pPr algn="l"/>
            <a:r>
              <a:rPr sz="1400" b="1">
                <a:solidFill>
                  <a:srgbClr val="9E7FDD"/>
                </a:solidFill>
                <a:latin typeface="Microsoft YaHei"/>
              </a:rPr>
              <a:t>价态/组成</a:t>
            </a:r>
          </a:p>
        </p:txBody>
      </p:sp>
      <p:sp>
        <p:nvSpPr>
          <p:cNvPr id="21" name="TextBox 20"/>
          <p:cNvSpPr txBox="1"/>
          <p:nvPr/>
        </p:nvSpPr>
        <p:spPr>
          <a:xfrm>
            <a:off x="850392" y="3355848"/>
            <a:ext cx="2953512" cy="667512"/>
          </a:xfrm>
          <a:prstGeom prst="rect">
            <a:avLst/>
          </a:prstGeom>
          <a:noFill/>
        </p:spPr>
        <p:txBody>
          <a:bodyPr wrap="square" lIns="36576" rIns="36576" tIns="36576" bIns="36576" anchor="t">
            <a:spAutoFit/>
          </a:bodyPr>
          <a:lstStyle/>
          <a:p>
            <a:pPr algn="l"/>
            <a:r>
              <a:rPr sz="1100" b="0">
                <a:solidFill>
                  <a:srgbClr val="F5F8FA"/>
                </a:solidFill>
                <a:latin typeface="Microsoft YaHei"/>
              </a:rPr>
              <a:t>XPS/ICP-MS
表面价态与元素含量</a:t>
            </a:r>
          </a:p>
        </p:txBody>
      </p:sp>
      <p:sp>
        <p:nvSpPr>
          <p:cNvPr id="22" name="Rounded Rectangle 21"/>
          <p:cNvSpPr/>
          <p:nvPr/>
        </p:nvSpPr>
        <p:spPr>
          <a:xfrm>
            <a:off x="4389120" y="2880360"/>
            <a:ext cx="3246120" cy="123444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0" y="2880360"/>
            <a:ext cx="64008" cy="1234440"/>
          </a:xfrm>
          <a:prstGeom prst="rect">
            <a:avLst/>
          </a:prstGeom>
          <a:solidFill>
            <a:srgbClr val="72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53712" y="2990088"/>
            <a:ext cx="2971800" cy="320040"/>
          </a:xfrm>
          <a:prstGeom prst="rect">
            <a:avLst/>
          </a:prstGeom>
          <a:noFill/>
        </p:spPr>
        <p:txBody>
          <a:bodyPr wrap="square" lIns="36576" rIns="36576" tIns="36576" bIns="36576" anchor="t">
            <a:spAutoFit/>
          </a:bodyPr>
          <a:lstStyle/>
          <a:p>
            <a:pPr algn="l"/>
            <a:r>
              <a:rPr sz="1400" b="1">
                <a:solidFill>
                  <a:srgbClr val="72CD91"/>
                </a:solidFill>
                <a:latin typeface="Microsoft YaHei"/>
              </a:rPr>
              <a:t>溶解/转化</a:t>
            </a:r>
          </a:p>
        </p:txBody>
      </p:sp>
      <p:sp>
        <p:nvSpPr>
          <p:cNvPr id="25" name="TextBox 24"/>
          <p:cNvSpPr txBox="1"/>
          <p:nvPr/>
        </p:nvSpPr>
        <p:spPr>
          <a:xfrm>
            <a:off x="4553712" y="3355848"/>
            <a:ext cx="2953512" cy="667512"/>
          </a:xfrm>
          <a:prstGeom prst="rect">
            <a:avLst/>
          </a:prstGeom>
          <a:noFill/>
        </p:spPr>
        <p:txBody>
          <a:bodyPr wrap="square" lIns="36576" rIns="36576" tIns="36576" bIns="36576" anchor="t">
            <a:spAutoFit/>
          </a:bodyPr>
          <a:lstStyle/>
          <a:p>
            <a:pPr algn="l"/>
            <a:r>
              <a:rPr sz="1100" b="0">
                <a:solidFill>
                  <a:srgbClr val="F5F8FA"/>
                </a:solidFill>
                <a:latin typeface="Microsoft YaHei"/>
              </a:rPr>
              <a:t>ICP-MS/介质孵育
Zn²⁺/Cu²⁺/Fe离子释放</a:t>
            </a:r>
          </a:p>
        </p:txBody>
      </p:sp>
      <p:sp>
        <p:nvSpPr>
          <p:cNvPr id="26" name="TextBox 25"/>
          <p:cNvSpPr txBox="1"/>
          <p:nvPr/>
        </p:nvSpPr>
        <p:spPr>
          <a:xfrm>
            <a:off x="731520" y="4846320"/>
            <a:ext cx="10607040" cy="320040"/>
          </a:xfrm>
          <a:prstGeom prst="rect">
            <a:avLst/>
          </a:prstGeom>
          <a:noFill/>
        </p:spPr>
        <p:txBody>
          <a:bodyPr wrap="square" lIns="36576" rIns="36576" tIns="36576" bIns="36576" anchor="t">
            <a:spAutoFit/>
          </a:bodyPr>
          <a:lstStyle/>
          <a:p>
            <a:pPr algn="l"/>
            <a:r>
              <a:rPr sz="1500" b="1">
                <a:solidFill>
                  <a:srgbClr val="2CBEB1"/>
                </a:solidFill>
                <a:latin typeface="Microsoft YaHei"/>
              </a:rPr>
              <a:t>设计要点</a:t>
            </a:r>
          </a:p>
        </p:txBody>
      </p:sp>
      <p:sp>
        <p:nvSpPr>
          <p:cNvPr id="27" name="TextBox 26"/>
          <p:cNvSpPr txBox="1"/>
          <p:nvPr/>
        </p:nvSpPr>
        <p:spPr>
          <a:xfrm>
            <a:off x="868680" y="5321808"/>
            <a:ext cx="10241280" cy="685800"/>
          </a:xfrm>
          <a:prstGeom prst="rect">
            <a:avLst/>
          </a:prstGeom>
          <a:noFill/>
        </p:spPr>
        <p:txBody>
          <a:bodyPr wrap="square" lIns="36576" rIns="36576" tIns="36576" bIns="36576" anchor="t">
            <a:spAutoFit/>
          </a:bodyPr>
          <a:lstStyle/>
          <a:p>
            <a:pPr algn="l"/>
            <a:r>
              <a:rPr sz="1500" b="0">
                <a:solidFill>
                  <a:srgbClr val="F5F8FA"/>
                </a:solidFill>
                <a:latin typeface="Microsoft YaHei"/>
              </a:rPr>
              <a:t>同一材料至少 3 批独立制备；记录粒径、表面包覆与金属离子释放曲线；所有后续实验按“等金属质量/等表面积”双重归一化。</a:t>
            </a:r>
          </a:p>
        </p:txBody>
      </p:sp>
      <p:sp>
        <p:nvSpPr>
          <p:cNvPr id="28" name="TextBox 27"/>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29" name="TextBox 28"/>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09</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阶段 II：Cys/GSH 简化体系——先看清“巯基去了哪里”</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用可控、低复杂度体系建立机制指纹</a:t>
            </a:r>
          </a:p>
        </p:txBody>
      </p:sp>
      <p:sp>
        <p:nvSpPr>
          <p:cNvPr id="6" name="TextBox 5"/>
          <p:cNvSpPr txBox="1"/>
          <p:nvPr/>
        </p:nvSpPr>
        <p:spPr>
          <a:xfrm>
            <a:off x="685800" y="1143000"/>
            <a:ext cx="10698480" cy="292608"/>
          </a:xfrm>
          <a:prstGeom prst="rect">
            <a:avLst/>
          </a:prstGeom>
          <a:noFill/>
        </p:spPr>
        <p:txBody>
          <a:bodyPr wrap="square" lIns="36576" rIns="36576" tIns="36576" bIns="36576" anchor="t">
            <a:spAutoFit/>
          </a:bodyPr>
          <a:lstStyle/>
          <a:p>
            <a:pPr algn="ctr"/>
            <a:r>
              <a:rPr sz="1600" b="1">
                <a:solidFill>
                  <a:srgbClr val="F5F8FA"/>
                </a:solidFill>
                <a:latin typeface="Microsoft YaHei"/>
              </a:rPr>
              <a:t>纳米颗粒 + Cys 或 GSH  →  时间梯度（0–24 h） →  化学状态与金属释放</a:t>
            </a:r>
          </a:p>
        </p:txBody>
      </p:sp>
      <p:sp>
        <p:nvSpPr>
          <p:cNvPr id="7" name="Oval 6"/>
          <p:cNvSpPr/>
          <p:nvPr/>
        </p:nvSpPr>
        <p:spPr>
          <a:xfrm>
            <a:off x="960120" y="1828800"/>
            <a:ext cx="914400" cy="914400"/>
          </a:xfrm>
          <a:prstGeom prst="ellipse">
            <a:avLst/>
          </a:prstGeom>
          <a:solidFill>
            <a:srgbClr val="2CBEB1"/>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01952"/>
            <a:ext cx="914400" cy="804672"/>
          </a:xfrm>
          <a:prstGeom prst="rect">
            <a:avLst/>
          </a:prstGeom>
          <a:noFill/>
        </p:spPr>
        <p:txBody>
          <a:bodyPr wrap="square" lIns="36576" rIns="36576" tIns="36576" bIns="36576" anchor="ctr">
            <a:spAutoFit/>
          </a:bodyPr>
          <a:lstStyle/>
          <a:p>
            <a:pPr algn="ctr"/>
            <a:r>
              <a:rPr sz="1300" b="1">
                <a:solidFill>
                  <a:srgbClr val="F5F8FA"/>
                </a:solidFill>
                <a:latin typeface="Microsoft YaHei"/>
              </a:rPr>
              <a:t>–SH消耗</a:t>
            </a:r>
          </a:p>
        </p:txBody>
      </p:sp>
      <p:sp>
        <p:nvSpPr>
          <p:cNvPr id="9" name="Oval 8"/>
          <p:cNvSpPr/>
          <p:nvPr/>
        </p:nvSpPr>
        <p:spPr>
          <a:xfrm>
            <a:off x="3154680" y="1828800"/>
            <a:ext cx="914400" cy="914400"/>
          </a:xfrm>
          <a:prstGeom prst="ellipse">
            <a:avLst/>
          </a:prstGeom>
          <a:solidFill>
            <a:srgbClr val="F49D48"/>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54680" y="1901952"/>
            <a:ext cx="914400" cy="804672"/>
          </a:xfrm>
          <a:prstGeom prst="rect">
            <a:avLst/>
          </a:prstGeom>
          <a:noFill/>
        </p:spPr>
        <p:txBody>
          <a:bodyPr wrap="square" lIns="36576" rIns="36576" tIns="36576" bIns="36576" anchor="ctr">
            <a:spAutoFit/>
          </a:bodyPr>
          <a:lstStyle/>
          <a:p>
            <a:pPr algn="ctr"/>
            <a:r>
              <a:rPr sz="1300" b="1">
                <a:solidFill>
                  <a:srgbClr val="F5F8FA"/>
                </a:solidFill>
                <a:latin typeface="Microsoft YaHei"/>
              </a:rPr>
              <a:t>Cys/cystine</a:t>
            </a:r>
          </a:p>
        </p:txBody>
      </p:sp>
      <p:sp>
        <p:nvSpPr>
          <p:cNvPr id="11" name="Oval 10"/>
          <p:cNvSpPr/>
          <p:nvPr/>
        </p:nvSpPr>
        <p:spPr>
          <a:xfrm>
            <a:off x="5349240" y="1828800"/>
            <a:ext cx="914400" cy="914400"/>
          </a:xfrm>
          <a:prstGeom prst="ellipse">
            <a:avLst/>
          </a:prstGeom>
          <a:solidFill>
            <a:srgbClr val="5DCEDC"/>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49240" y="1901952"/>
            <a:ext cx="914400" cy="804672"/>
          </a:xfrm>
          <a:prstGeom prst="rect">
            <a:avLst/>
          </a:prstGeom>
          <a:noFill/>
        </p:spPr>
        <p:txBody>
          <a:bodyPr wrap="square" lIns="36576" rIns="36576" tIns="36576" bIns="36576" anchor="ctr">
            <a:spAutoFit/>
          </a:bodyPr>
          <a:lstStyle/>
          <a:p>
            <a:pPr algn="ctr"/>
            <a:r>
              <a:rPr sz="1300" b="1">
                <a:solidFill>
                  <a:srgbClr val="F5F8FA"/>
                </a:solidFill>
                <a:latin typeface="Microsoft YaHei"/>
              </a:rPr>
              <a:t>GSH/GSSG</a:t>
            </a:r>
          </a:p>
        </p:txBody>
      </p:sp>
      <p:sp>
        <p:nvSpPr>
          <p:cNvPr id="13" name="Oval 12"/>
          <p:cNvSpPr/>
          <p:nvPr/>
        </p:nvSpPr>
        <p:spPr>
          <a:xfrm>
            <a:off x="7543800" y="1828800"/>
            <a:ext cx="914400" cy="914400"/>
          </a:xfrm>
          <a:prstGeom prst="ellipse">
            <a:avLst/>
          </a:prstGeom>
          <a:solidFill>
            <a:srgbClr val="9E7FDD"/>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0" y="1901952"/>
            <a:ext cx="914400" cy="804672"/>
          </a:xfrm>
          <a:prstGeom prst="rect">
            <a:avLst/>
          </a:prstGeom>
          <a:noFill/>
        </p:spPr>
        <p:txBody>
          <a:bodyPr wrap="square" lIns="36576" rIns="36576" tIns="36576" bIns="36576" anchor="ctr">
            <a:spAutoFit/>
          </a:bodyPr>
          <a:lstStyle/>
          <a:p>
            <a:pPr algn="ctr"/>
            <a:r>
              <a:rPr sz="1300" b="1">
                <a:solidFill>
                  <a:srgbClr val="F5F8FA"/>
                </a:solidFill>
                <a:latin typeface="Microsoft YaHei"/>
              </a:rPr>
              <a:t>金属离子</a:t>
            </a:r>
          </a:p>
        </p:txBody>
      </p:sp>
      <p:sp>
        <p:nvSpPr>
          <p:cNvPr id="15" name="Oval 14"/>
          <p:cNvSpPr/>
          <p:nvPr/>
        </p:nvSpPr>
        <p:spPr>
          <a:xfrm>
            <a:off x="9738360" y="1828800"/>
            <a:ext cx="914400" cy="914400"/>
          </a:xfrm>
          <a:prstGeom prst="ellipse">
            <a:avLst/>
          </a:prstGeom>
          <a:solidFill>
            <a:srgbClr val="E15B53"/>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38360" y="1901952"/>
            <a:ext cx="914400" cy="804672"/>
          </a:xfrm>
          <a:prstGeom prst="rect">
            <a:avLst/>
          </a:prstGeom>
          <a:noFill/>
        </p:spPr>
        <p:txBody>
          <a:bodyPr wrap="square" lIns="36576" rIns="36576" tIns="36576" bIns="36576" anchor="ctr">
            <a:spAutoFit/>
          </a:bodyPr>
          <a:lstStyle/>
          <a:p>
            <a:pPr algn="ctr"/>
            <a:r>
              <a:rPr sz="1300" b="1">
                <a:solidFill>
                  <a:srgbClr val="F5F8FA"/>
                </a:solidFill>
                <a:latin typeface="Microsoft YaHei"/>
              </a:rPr>
              <a:t>ROS</a:t>
            </a:r>
          </a:p>
        </p:txBody>
      </p:sp>
      <p:cxnSp>
        <p:nvCxnSpPr>
          <p:cNvPr id="17" name="Connector 16"/>
          <p:cNvCxnSpPr/>
          <p:nvPr/>
        </p:nvCxnSpPr>
        <p:spPr>
          <a:xfrm>
            <a:off x="1965960" y="2286000"/>
            <a:ext cx="777240" cy="0"/>
          </a:xfrm>
          <a:prstGeom prst="line">
            <a:avLst/>
          </a:prstGeom>
          <a:ln w="12700">
            <a:solidFill>
              <a:srgbClr val="AEC1C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160520" y="2286000"/>
            <a:ext cx="777239" cy="0"/>
          </a:xfrm>
          <a:prstGeom prst="line">
            <a:avLst/>
          </a:prstGeom>
          <a:ln w="12700">
            <a:solidFill>
              <a:srgbClr val="AEC1C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355080" y="2286000"/>
            <a:ext cx="777240" cy="0"/>
          </a:xfrm>
          <a:prstGeom prst="line">
            <a:avLst/>
          </a:prstGeom>
          <a:ln w="12700">
            <a:solidFill>
              <a:srgbClr val="AEC1C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549640" y="2286000"/>
            <a:ext cx="777240" cy="0"/>
          </a:xfrm>
          <a:prstGeom prst="line">
            <a:avLst/>
          </a:prstGeom>
          <a:ln w="12700">
            <a:solidFill>
              <a:srgbClr val="AEC1C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1520" y="3246120"/>
            <a:ext cx="3383280" cy="160020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246120"/>
            <a:ext cx="64008" cy="1600200"/>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3355848"/>
            <a:ext cx="3108960" cy="320040"/>
          </a:xfrm>
          <a:prstGeom prst="rect">
            <a:avLst/>
          </a:prstGeom>
          <a:noFill/>
        </p:spPr>
        <p:txBody>
          <a:bodyPr wrap="square" lIns="36576" rIns="36576" tIns="36576" bIns="36576" anchor="t">
            <a:spAutoFit/>
          </a:bodyPr>
          <a:lstStyle/>
          <a:p>
            <a:pPr algn="l"/>
            <a:r>
              <a:rPr sz="1400" b="1">
                <a:solidFill>
                  <a:srgbClr val="2CBEB1"/>
                </a:solidFill>
                <a:latin typeface="Microsoft YaHei"/>
              </a:rPr>
              <a:t>关键对照</a:t>
            </a:r>
          </a:p>
        </p:txBody>
      </p:sp>
      <p:sp>
        <p:nvSpPr>
          <p:cNvPr id="24" name="TextBox 23"/>
          <p:cNvSpPr txBox="1"/>
          <p:nvPr/>
        </p:nvSpPr>
        <p:spPr>
          <a:xfrm>
            <a:off x="896112" y="3721608"/>
            <a:ext cx="3090672" cy="1033271"/>
          </a:xfrm>
          <a:prstGeom prst="rect">
            <a:avLst/>
          </a:prstGeom>
          <a:noFill/>
        </p:spPr>
        <p:txBody>
          <a:bodyPr wrap="square" lIns="36576" rIns="36576" tIns="36576" bIns="36576" anchor="t">
            <a:spAutoFit/>
          </a:bodyPr>
          <a:lstStyle/>
          <a:p>
            <a:pPr algn="l"/>
            <a:r>
              <a:rPr sz="1200" b="0">
                <a:solidFill>
                  <a:srgbClr val="F5F8FA"/>
                </a:solidFill>
                <a:latin typeface="Microsoft YaHei"/>
              </a:rPr>
              <a:t>无NP；TiO₂低反应性对照；金属离子等量对照；抗氧化剂/螯合剂干预。</a:t>
            </a:r>
          </a:p>
        </p:txBody>
      </p:sp>
      <p:sp>
        <p:nvSpPr>
          <p:cNvPr id="25" name="Rounded Rectangle 24"/>
          <p:cNvSpPr/>
          <p:nvPr/>
        </p:nvSpPr>
        <p:spPr>
          <a:xfrm>
            <a:off x="4434840" y="3246120"/>
            <a:ext cx="3383280" cy="160020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3246120"/>
            <a:ext cx="64008" cy="160020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99431" y="3355848"/>
            <a:ext cx="3108960" cy="320040"/>
          </a:xfrm>
          <a:prstGeom prst="rect">
            <a:avLst/>
          </a:prstGeom>
          <a:noFill/>
        </p:spPr>
        <p:txBody>
          <a:bodyPr wrap="square" lIns="36576" rIns="36576" tIns="36576" bIns="36576" anchor="t">
            <a:spAutoFit/>
          </a:bodyPr>
          <a:lstStyle/>
          <a:p>
            <a:pPr algn="l"/>
            <a:r>
              <a:rPr sz="1400" b="1">
                <a:solidFill>
                  <a:srgbClr val="F49D48"/>
                </a:solidFill>
                <a:latin typeface="Microsoft YaHei"/>
              </a:rPr>
              <a:t>关键读出</a:t>
            </a:r>
          </a:p>
        </p:txBody>
      </p:sp>
      <p:sp>
        <p:nvSpPr>
          <p:cNvPr id="28" name="TextBox 27"/>
          <p:cNvSpPr txBox="1"/>
          <p:nvPr/>
        </p:nvSpPr>
        <p:spPr>
          <a:xfrm>
            <a:off x="4599431" y="3721608"/>
            <a:ext cx="3090672" cy="1033271"/>
          </a:xfrm>
          <a:prstGeom prst="rect">
            <a:avLst/>
          </a:prstGeom>
          <a:noFill/>
        </p:spPr>
        <p:txBody>
          <a:bodyPr wrap="square" lIns="36576" rIns="36576" tIns="36576" bIns="36576" anchor="t">
            <a:spAutoFit/>
          </a:bodyPr>
          <a:lstStyle/>
          <a:p>
            <a:pPr algn="l"/>
            <a:r>
              <a:rPr sz="1200" b="0">
                <a:solidFill>
                  <a:srgbClr val="F5F8FA"/>
                </a:solidFill>
                <a:latin typeface="Microsoft YaHei"/>
              </a:rPr>
              <a:t>Ellman/荧光法测–SH；HPLC或LC–MS测 Cys/cystine、GSH/GSSG；ICP-MS测离子。</a:t>
            </a:r>
          </a:p>
        </p:txBody>
      </p:sp>
      <p:sp>
        <p:nvSpPr>
          <p:cNvPr id="29" name="Rounded Rectangle 28"/>
          <p:cNvSpPr/>
          <p:nvPr/>
        </p:nvSpPr>
        <p:spPr>
          <a:xfrm>
            <a:off x="8138160" y="3246120"/>
            <a:ext cx="3383280" cy="160020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38160" y="3246120"/>
            <a:ext cx="64008" cy="1600200"/>
          </a:xfrm>
          <a:prstGeom prst="rect">
            <a:avLst/>
          </a:prstGeom>
          <a:solidFill>
            <a:srgbClr val="9E7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02752" y="3355848"/>
            <a:ext cx="3108960" cy="320040"/>
          </a:xfrm>
          <a:prstGeom prst="rect">
            <a:avLst/>
          </a:prstGeom>
          <a:noFill/>
        </p:spPr>
        <p:txBody>
          <a:bodyPr wrap="square" lIns="36576" rIns="36576" tIns="36576" bIns="36576" anchor="t">
            <a:spAutoFit/>
          </a:bodyPr>
          <a:lstStyle/>
          <a:p>
            <a:pPr algn="l"/>
            <a:r>
              <a:rPr sz="1400" b="1">
                <a:solidFill>
                  <a:srgbClr val="9E7FDD"/>
                </a:solidFill>
                <a:latin typeface="Microsoft YaHei"/>
              </a:rPr>
              <a:t>判定结果</a:t>
            </a:r>
          </a:p>
        </p:txBody>
      </p:sp>
      <p:sp>
        <p:nvSpPr>
          <p:cNvPr id="32" name="TextBox 31"/>
          <p:cNvSpPr txBox="1"/>
          <p:nvPr/>
        </p:nvSpPr>
        <p:spPr>
          <a:xfrm>
            <a:off x="8302752" y="3721608"/>
            <a:ext cx="3090672" cy="1033271"/>
          </a:xfrm>
          <a:prstGeom prst="rect">
            <a:avLst/>
          </a:prstGeom>
          <a:noFill/>
        </p:spPr>
        <p:txBody>
          <a:bodyPr wrap="square" lIns="36576" rIns="36576" tIns="36576" bIns="36576" anchor="t">
            <a:spAutoFit/>
          </a:bodyPr>
          <a:lstStyle/>
          <a:p>
            <a:pPr algn="l"/>
            <a:r>
              <a:rPr sz="1200" b="0">
                <a:solidFill>
                  <a:srgbClr val="F5F8FA"/>
                </a:solidFill>
                <a:latin typeface="Microsoft YaHei"/>
              </a:rPr>
              <a:t>建立每种材料的“巯基响应指纹”：直接结合、溶解配位、S–S氧化或ROS间接氧化。</a:t>
            </a:r>
          </a:p>
        </p:txBody>
      </p:sp>
      <p:sp>
        <p:nvSpPr>
          <p:cNvPr id="33" name="TextBox 32"/>
          <p:cNvSpPr txBox="1"/>
          <p:nvPr/>
        </p:nvSpPr>
        <p:spPr>
          <a:xfrm>
            <a:off x="777240" y="5486400"/>
            <a:ext cx="10424160" cy="457200"/>
          </a:xfrm>
          <a:prstGeom prst="rect">
            <a:avLst/>
          </a:prstGeom>
          <a:noFill/>
        </p:spPr>
        <p:txBody>
          <a:bodyPr wrap="square" lIns="36576" rIns="36576" tIns="36576" bIns="36576" anchor="t">
            <a:spAutoFit/>
          </a:bodyPr>
          <a:lstStyle/>
          <a:p>
            <a:pPr algn="ctr"/>
            <a:r>
              <a:rPr sz="1400" b="1">
                <a:solidFill>
                  <a:srgbClr val="72CD91"/>
                </a:solidFill>
                <a:latin typeface="Microsoft YaHei"/>
              </a:rPr>
              <a:t>这一阶段的作用：把复杂细胞效应还原成可重复的化学事件，为后续蛋白与细胞实验筛选条件。</a:t>
            </a:r>
          </a:p>
        </p:txBody>
      </p:sp>
      <p:sp>
        <p:nvSpPr>
          <p:cNvPr id="34" name="TextBox 33"/>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35" name="TextBox 34"/>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10</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阶段 III–IV：从代表蛋白到细胞命运</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验证简化体系中观察到的巯基变化是否具有生物学后果</a:t>
            </a:r>
          </a:p>
        </p:txBody>
      </p:sp>
      <p:sp>
        <p:nvSpPr>
          <p:cNvPr id="6" name="Rounded Rectangle 5"/>
          <p:cNvSpPr/>
          <p:nvPr/>
        </p:nvSpPr>
        <p:spPr>
          <a:xfrm>
            <a:off x="685800" y="1234440"/>
            <a:ext cx="3383280" cy="192024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234440"/>
            <a:ext cx="64008" cy="1920240"/>
          </a:xfrm>
          <a:prstGeom prst="rect">
            <a:avLst/>
          </a:prstGeom>
          <a:solidFill>
            <a:srgbClr val="5DC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344168"/>
            <a:ext cx="3108960" cy="320040"/>
          </a:xfrm>
          <a:prstGeom prst="rect">
            <a:avLst/>
          </a:prstGeom>
          <a:noFill/>
        </p:spPr>
        <p:txBody>
          <a:bodyPr wrap="square" lIns="36576" rIns="36576" tIns="36576" bIns="36576" anchor="t">
            <a:spAutoFit/>
          </a:bodyPr>
          <a:lstStyle/>
          <a:p>
            <a:pPr algn="l"/>
            <a:r>
              <a:rPr sz="1500" b="1">
                <a:solidFill>
                  <a:srgbClr val="5DCEDC"/>
                </a:solidFill>
                <a:latin typeface="Microsoft YaHei"/>
              </a:rPr>
              <a:t>代表蛋白：GAPDH</a:t>
            </a:r>
          </a:p>
        </p:txBody>
      </p:sp>
      <p:sp>
        <p:nvSpPr>
          <p:cNvPr id="9" name="TextBox 8"/>
          <p:cNvSpPr txBox="1"/>
          <p:nvPr/>
        </p:nvSpPr>
        <p:spPr>
          <a:xfrm>
            <a:off x="850392" y="1709928"/>
            <a:ext cx="3090672" cy="1353312"/>
          </a:xfrm>
          <a:prstGeom prst="rect">
            <a:avLst/>
          </a:prstGeom>
          <a:noFill/>
        </p:spPr>
        <p:txBody>
          <a:bodyPr wrap="square" lIns="36576" rIns="36576" tIns="36576" bIns="36576" anchor="t">
            <a:spAutoFit/>
          </a:bodyPr>
          <a:lstStyle/>
          <a:p>
            <a:pPr algn="l"/>
            <a:r>
              <a:rPr sz="1300" b="0">
                <a:solidFill>
                  <a:srgbClr val="F5F8FA"/>
                </a:solidFill>
                <a:latin typeface="Microsoft YaHei"/>
              </a:rPr>
              <a:t>选择具有关键催化 Cys 的 GAPDH 作为统一蛋白模型；检测 Protein–SH、GAPDH 活性与构象/聚集。</a:t>
            </a:r>
          </a:p>
        </p:txBody>
      </p:sp>
      <p:sp>
        <p:nvSpPr>
          <p:cNvPr id="10" name="Rounded Rectangle 9"/>
          <p:cNvSpPr/>
          <p:nvPr/>
        </p:nvSpPr>
        <p:spPr>
          <a:xfrm>
            <a:off x="4407408" y="1234440"/>
            <a:ext cx="3383280" cy="192024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1234440"/>
            <a:ext cx="64008" cy="192024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344168"/>
            <a:ext cx="3108960" cy="320040"/>
          </a:xfrm>
          <a:prstGeom prst="rect">
            <a:avLst/>
          </a:prstGeom>
          <a:noFill/>
        </p:spPr>
        <p:txBody>
          <a:bodyPr wrap="square" lIns="36576" rIns="36576" tIns="36576" bIns="36576" anchor="t">
            <a:spAutoFit/>
          </a:bodyPr>
          <a:lstStyle/>
          <a:p>
            <a:pPr algn="l"/>
            <a:r>
              <a:rPr sz="1500" b="1">
                <a:solidFill>
                  <a:srgbClr val="F49D48"/>
                </a:solidFill>
                <a:latin typeface="Microsoft YaHei"/>
              </a:rPr>
              <a:t>扩展蛋白：按结果选择</a:t>
            </a:r>
          </a:p>
        </p:txBody>
      </p:sp>
      <p:sp>
        <p:nvSpPr>
          <p:cNvPr id="13" name="TextBox 12"/>
          <p:cNvSpPr txBox="1"/>
          <p:nvPr/>
        </p:nvSpPr>
        <p:spPr>
          <a:xfrm>
            <a:off x="4572000" y="1709928"/>
            <a:ext cx="3090672" cy="1353312"/>
          </a:xfrm>
          <a:prstGeom prst="rect">
            <a:avLst/>
          </a:prstGeom>
          <a:noFill/>
        </p:spPr>
        <p:txBody>
          <a:bodyPr wrap="square" lIns="36576" rIns="36576" tIns="36576" bIns="36576" anchor="t">
            <a:spAutoFit/>
          </a:bodyPr>
          <a:lstStyle/>
          <a:p>
            <a:pPr algn="l"/>
            <a:r>
              <a:rPr sz="1300" b="0">
                <a:solidFill>
                  <a:srgbClr val="F5F8FA"/>
                </a:solidFill>
                <a:latin typeface="Microsoft YaHei"/>
              </a:rPr>
              <a:t>若出现明显材料特异性，再扩展 MT（富Cys金属结合）、PDI/Trx/Prx（氧化还原调控）。</a:t>
            </a:r>
          </a:p>
        </p:txBody>
      </p:sp>
      <p:sp>
        <p:nvSpPr>
          <p:cNvPr id="14" name="Rounded Rectangle 13"/>
          <p:cNvSpPr/>
          <p:nvPr/>
        </p:nvSpPr>
        <p:spPr>
          <a:xfrm>
            <a:off x="8129016" y="1234440"/>
            <a:ext cx="3383280" cy="192024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9016" y="1234440"/>
            <a:ext cx="64008" cy="1920240"/>
          </a:xfrm>
          <a:prstGeom prst="rect">
            <a:avLst/>
          </a:prstGeom>
          <a:solidFill>
            <a:srgbClr val="9E7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1344168"/>
            <a:ext cx="3108960" cy="320040"/>
          </a:xfrm>
          <a:prstGeom prst="rect">
            <a:avLst/>
          </a:prstGeom>
          <a:noFill/>
        </p:spPr>
        <p:txBody>
          <a:bodyPr wrap="square" lIns="36576" rIns="36576" tIns="36576" bIns="36576" anchor="t">
            <a:spAutoFit/>
          </a:bodyPr>
          <a:lstStyle/>
          <a:p>
            <a:pPr algn="l"/>
            <a:r>
              <a:rPr sz="1500" b="1">
                <a:solidFill>
                  <a:srgbClr val="9E7FDD"/>
                </a:solidFill>
                <a:latin typeface="Microsoft YaHei"/>
              </a:rPr>
              <a:t>细胞：统一终点</a:t>
            </a:r>
          </a:p>
        </p:txBody>
      </p:sp>
      <p:sp>
        <p:nvSpPr>
          <p:cNvPr id="17" name="TextBox 16"/>
          <p:cNvSpPr txBox="1"/>
          <p:nvPr/>
        </p:nvSpPr>
        <p:spPr>
          <a:xfrm>
            <a:off x="8293608" y="1709928"/>
            <a:ext cx="3090672" cy="1353312"/>
          </a:xfrm>
          <a:prstGeom prst="rect">
            <a:avLst/>
          </a:prstGeom>
          <a:noFill/>
        </p:spPr>
        <p:txBody>
          <a:bodyPr wrap="square" lIns="36576" rIns="36576" tIns="36576" bIns="36576" anchor="t">
            <a:spAutoFit/>
          </a:bodyPr>
          <a:lstStyle/>
          <a:p>
            <a:pPr algn="l"/>
            <a:r>
              <a:rPr sz="1300" b="0">
                <a:solidFill>
                  <a:srgbClr val="F5F8FA"/>
                </a:solidFill>
                <a:latin typeface="Microsoft YaHei"/>
              </a:rPr>
              <a:t>Protein–SH、GSH/GSSG、ROS、线粒体状态、细胞活力；必要时区分凋亡/铁死亡。</a:t>
            </a:r>
          </a:p>
        </p:txBody>
      </p:sp>
      <p:sp>
        <p:nvSpPr>
          <p:cNvPr id="18" name="TextBox 17"/>
          <p:cNvSpPr txBox="1"/>
          <p:nvPr/>
        </p:nvSpPr>
        <p:spPr>
          <a:xfrm>
            <a:off x="731520" y="3794760"/>
            <a:ext cx="10607040" cy="320040"/>
          </a:xfrm>
          <a:prstGeom prst="rect">
            <a:avLst/>
          </a:prstGeom>
          <a:noFill/>
        </p:spPr>
        <p:txBody>
          <a:bodyPr wrap="square" lIns="36576" rIns="36576" tIns="36576" bIns="36576" anchor="t">
            <a:spAutoFit/>
          </a:bodyPr>
          <a:lstStyle/>
          <a:p>
            <a:pPr algn="l"/>
            <a:r>
              <a:rPr sz="1500" b="1">
                <a:solidFill>
                  <a:srgbClr val="2CBEB1"/>
                </a:solidFill>
                <a:latin typeface="Microsoft YaHei"/>
              </a:rPr>
              <a:t>因果验证：干预 → 响应</a:t>
            </a:r>
          </a:p>
        </p:txBody>
      </p:sp>
      <p:sp>
        <p:nvSpPr>
          <p:cNvPr id="19" name="Rounded Rectangle 18"/>
          <p:cNvSpPr/>
          <p:nvPr/>
        </p:nvSpPr>
        <p:spPr>
          <a:xfrm>
            <a:off x="777240" y="4251960"/>
            <a:ext cx="3246120" cy="114300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251960"/>
            <a:ext cx="64008" cy="1143000"/>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4361688"/>
            <a:ext cx="2971800" cy="320040"/>
          </a:xfrm>
          <a:prstGeom prst="rect">
            <a:avLst/>
          </a:prstGeom>
          <a:noFill/>
        </p:spPr>
        <p:txBody>
          <a:bodyPr wrap="square" lIns="36576" rIns="36576" tIns="36576" bIns="36576" anchor="t">
            <a:spAutoFit/>
          </a:bodyPr>
          <a:lstStyle/>
          <a:p>
            <a:pPr algn="l"/>
            <a:r>
              <a:rPr sz="1300" b="1">
                <a:solidFill>
                  <a:srgbClr val="2CBEB1"/>
                </a:solidFill>
                <a:latin typeface="Microsoft YaHei"/>
              </a:rPr>
              <a:t>表面包覆</a:t>
            </a:r>
          </a:p>
        </p:txBody>
      </p:sp>
      <p:sp>
        <p:nvSpPr>
          <p:cNvPr id="22" name="TextBox 21"/>
          <p:cNvSpPr txBox="1"/>
          <p:nvPr/>
        </p:nvSpPr>
        <p:spPr>
          <a:xfrm>
            <a:off x="941832" y="4727448"/>
            <a:ext cx="2953512" cy="576072"/>
          </a:xfrm>
          <a:prstGeom prst="rect">
            <a:avLst/>
          </a:prstGeom>
          <a:noFill/>
        </p:spPr>
        <p:txBody>
          <a:bodyPr wrap="square" lIns="36576" rIns="36576" tIns="36576" bIns="36576" anchor="t">
            <a:spAutoFit/>
          </a:bodyPr>
          <a:lstStyle/>
          <a:p>
            <a:pPr algn="l"/>
            <a:r>
              <a:rPr sz="1100" b="0">
                <a:solidFill>
                  <a:srgbClr val="F5F8FA"/>
                </a:solidFill>
                <a:latin typeface="Microsoft YaHei"/>
              </a:rPr>
              <a:t>PEG/OEG屏蔽
减少蛋白接近金属表面</a:t>
            </a:r>
          </a:p>
        </p:txBody>
      </p:sp>
      <p:sp>
        <p:nvSpPr>
          <p:cNvPr id="23" name="Rounded Rectangle 22"/>
          <p:cNvSpPr/>
          <p:nvPr/>
        </p:nvSpPr>
        <p:spPr>
          <a:xfrm>
            <a:off x="4480559" y="4251960"/>
            <a:ext cx="3246120" cy="114300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59" y="4251960"/>
            <a:ext cx="64008" cy="114300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5151" y="4361688"/>
            <a:ext cx="2971800" cy="320040"/>
          </a:xfrm>
          <a:prstGeom prst="rect">
            <a:avLst/>
          </a:prstGeom>
          <a:noFill/>
        </p:spPr>
        <p:txBody>
          <a:bodyPr wrap="square" lIns="36576" rIns="36576" tIns="36576" bIns="36576" anchor="t">
            <a:spAutoFit/>
          </a:bodyPr>
          <a:lstStyle/>
          <a:p>
            <a:pPr algn="l"/>
            <a:r>
              <a:rPr sz="1300" b="1">
                <a:solidFill>
                  <a:srgbClr val="F49D48"/>
                </a:solidFill>
                <a:latin typeface="Microsoft YaHei"/>
              </a:rPr>
              <a:t>溶解性</a:t>
            </a:r>
          </a:p>
        </p:txBody>
      </p:sp>
      <p:sp>
        <p:nvSpPr>
          <p:cNvPr id="26" name="TextBox 25"/>
          <p:cNvSpPr txBox="1"/>
          <p:nvPr/>
        </p:nvSpPr>
        <p:spPr>
          <a:xfrm>
            <a:off x="4645151" y="4727448"/>
            <a:ext cx="2953512" cy="576072"/>
          </a:xfrm>
          <a:prstGeom prst="rect">
            <a:avLst/>
          </a:prstGeom>
          <a:noFill/>
        </p:spPr>
        <p:txBody>
          <a:bodyPr wrap="square" lIns="36576" rIns="36576" tIns="36576" bIns="36576" anchor="t">
            <a:spAutoFit/>
          </a:bodyPr>
          <a:lstStyle/>
          <a:p>
            <a:pPr algn="l"/>
            <a:r>
              <a:rPr sz="1100" b="0">
                <a:solidFill>
                  <a:srgbClr val="F5F8FA"/>
                </a:solidFill>
                <a:latin typeface="Microsoft YaHei"/>
              </a:rPr>
              <a:t>介质pH/螯合剂
削弱金属离子介导配位</a:t>
            </a:r>
          </a:p>
        </p:txBody>
      </p:sp>
      <p:sp>
        <p:nvSpPr>
          <p:cNvPr id="27" name="Rounded Rectangle 26"/>
          <p:cNvSpPr/>
          <p:nvPr/>
        </p:nvSpPr>
        <p:spPr>
          <a:xfrm>
            <a:off x="8183879" y="4251960"/>
            <a:ext cx="3246120" cy="114300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83879" y="4251960"/>
            <a:ext cx="64008" cy="1143000"/>
          </a:xfrm>
          <a:prstGeom prst="rect">
            <a:avLst/>
          </a:prstGeom>
          <a:solidFill>
            <a:srgbClr val="9E7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8471" y="4361688"/>
            <a:ext cx="2971800" cy="320040"/>
          </a:xfrm>
          <a:prstGeom prst="rect">
            <a:avLst/>
          </a:prstGeom>
          <a:noFill/>
        </p:spPr>
        <p:txBody>
          <a:bodyPr wrap="square" lIns="36576" rIns="36576" tIns="36576" bIns="36576" anchor="t">
            <a:spAutoFit/>
          </a:bodyPr>
          <a:lstStyle/>
          <a:p>
            <a:pPr algn="l"/>
            <a:r>
              <a:rPr sz="1300" b="1">
                <a:solidFill>
                  <a:srgbClr val="9E7FDD"/>
                </a:solidFill>
                <a:latin typeface="Microsoft YaHei"/>
              </a:rPr>
              <a:t>缺陷/价态</a:t>
            </a:r>
          </a:p>
        </p:txBody>
      </p:sp>
      <p:sp>
        <p:nvSpPr>
          <p:cNvPr id="30" name="TextBox 29"/>
          <p:cNvSpPr txBox="1"/>
          <p:nvPr/>
        </p:nvSpPr>
        <p:spPr>
          <a:xfrm>
            <a:off x="8348471" y="4727448"/>
            <a:ext cx="2953512" cy="576072"/>
          </a:xfrm>
          <a:prstGeom prst="rect">
            <a:avLst/>
          </a:prstGeom>
          <a:noFill/>
        </p:spPr>
        <p:txBody>
          <a:bodyPr wrap="square" lIns="36576" rIns="36576" tIns="36576" bIns="36576" anchor="t">
            <a:spAutoFit/>
          </a:bodyPr>
          <a:lstStyle/>
          <a:p>
            <a:pPr algn="l"/>
            <a:r>
              <a:rPr sz="1100" b="0">
                <a:solidFill>
                  <a:srgbClr val="F5F8FA"/>
                </a:solidFill>
                <a:latin typeface="Microsoft YaHei"/>
              </a:rPr>
              <a:t>热处理或制备条件
改变ROS与氧化还原活性</a:t>
            </a:r>
          </a:p>
        </p:txBody>
      </p:sp>
      <p:sp>
        <p:nvSpPr>
          <p:cNvPr id="31" name="TextBox 30"/>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32" name="TextBox 31"/>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11</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同步辐射：把“总巯基下降”拆解为可验证的化学状态</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同步辐射不是附加检测，而是本课题区分机制的关键证据</a:t>
            </a:r>
          </a:p>
        </p:txBody>
      </p:sp>
      <p:sp>
        <p:nvSpPr>
          <p:cNvPr id="6" name="Rounded Rectangle 5"/>
          <p:cNvSpPr/>
          <p:nvPr/>
        </p:nvSpPr>
        <p:spPr>
          <a:xfrm>
            <a:off x="685800" y="1234440"/>
            <a:ext cx="3429000" cy="201168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234440"/>
            <a:ext cx="64008" cy="201168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344168"/>
            <a:ext cx="3154680" cy="320040"/>
          </a:xfrm>
          <a:prstGeom prst="rect">
            <a:avLst/>
          </a:prstGeom>
          <a:noFill/>
        </p:spPr>
        <p:txBody>
          <a:bodyPr wrap="square" lIns="36576" rIns="36576" tIns="36576" bIns="36576" anchor="t">
            <a:spAutoFit/>
          </a:bodyPr>
          <a:lstStyle/>
          <a:p>
            <a:pPr algn="l"/>
            <a:r>
              <a:rPr sz="1500" b="1">
                <a:solidFill>
                  <a:srgbClr val="F49D48"/>
                </a:solidFill>
                <a:latin typeface="Microsoft YaHei"/>
              </a:rPr>
              <a:t>金属 K-edge XANES</a:t>
            </a:r>
          </a:p>
        </p:txBody>
      </p:sp>
      <p:sp>
        <p:nvSpPr>
          <p:cNvPr id="9" name="TextBox 8"/>
          <p:cNvSpPr txBox="1"/>
          <p:nvPr/>
        </p:nvSpPr>
        <p:spPr>
          <a:xfrm>
            <a:off x="850392" y="1709928"/>
            <a:ext cx="3136392" cy="1444752"/>
          </a:xfrm>
          <a:prstGeom prst="rect">
            <a:avLst/>
          </a:prstGeom>
          <a:noFill/>
        </p:spPr>
        <p:txBody>
          <a:bodyPr wrap="square" lIns="36576" rIns="36576" tIns="36576" bIns="36576" anchor="t">
            <a:spAutoFit/>
          </a:bodyPr>
          <a:lstStyle/>
          <a:p>
            <a:pPr algn="l"/>
            <a:r>
              <a:rPr sz="1300" b="0">
                <a:solidFill>
                  <a:srgbClr val="F5F8FA"/>
                </a:solidFill>
                <a:latin typeface="Microsoft YaHei"/>
              </a:rPr>
              <a:t>观察 Au/Zn/Cu/Fe 的价态、配位数与局部结构变化；验证金属是否从颗粒转为离子或 M–S 配位。</a:t>
            </a:r>
          </a:p>
        </p:txBody>
      </p:sp>
      <p:sp>
        <p:nvSpPr>
          <p:cNvPr id="10" name="Rounded Rectangle 9"/>
          <p:cNvSpPr/>
          <p:nvPr/>
        </p:nvSpPr>
        <p:spPr>
          <a:xfrm>
            <a:off x="4389120" y="1234440"/>
            <a:ext cx="3429000" cy="201168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234440"/>
            <a:ext cx="64008" cy="2011680"/>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344168"/>
            <a:ext cx="3154680" cy="320040"/>
          </a:xfrm>
          <a:prstGeom prst="rect">
            <a:avLst/>
          </a:prstGeom>
          <a:noFill/>
        </p:spPr>
        <p:txBody>
          <a:bodyPr wrap="square" lIns="36576" rIns="36576" tIns="36576" bIns="36576" anchor="t">
            <a:spAutoFit/>
          </a:bodyPr>
          <a:lstStyle/>
          <a:p>
            <a:pPr algn="l"/>
            <a:r>
              <a:rPr sz="1500" b="1">
                <a:solidFill>
                  <a:srgbClr val="2CBEB1"/>
                </a:solidFill>
                <a:latin typeface="Microsoft YaHei"/>
              </a:rPr>
              <a:t>金属 K-edge EXAFS</a:t>
            </a:r>
          </a:p>
        </p:txBody>
      </p:sp>
      <p:sp>
        <p:nvSpPr>
          <p:cNvPr id="13" name="TextBox 12"/>
          <p:cNvSpPr txBox="1"/>
          <p:nvPr/>
        </p:nvSpPr>
        <p:spPr>
          <a:xfrm>
            <a:off x="4553712" y="1709928"/>
            <a:ext cx="3136392" cy="1444752"/>
          </a:xfrm>
          <a:prstGeom prst="rect">
            <a:avLst/>
          </a:prstGeom>
          <a:noFill/>
        </p:spPr>
        <p:txBody>
          <a:bodyPr wrap="square" lIns="36576" rIns="36576" tIns="36576" bIns="36576" anchor="t">
            <a:spAutoFit/>
          </a:bodyPr>
          <a:lstStyle/>
          <a:p>
            <a:pPr algn="l"/>
            <a:r>
              <a:rPr sz="1300" b="0">
                <a:solidFill>
                  <a:srgbClr val="F5F8FA"/>
                </a:solidFill>
                <a:latin typeface="Microsoft YaHei"/>
              </a:rPr>
              <a:t>获得金属—硫/氧/金属的键长与配位信息；把“可能配位”推进到结构证据。</a:t>
            </a:r>
          </a:p>
        </p:txBody>
      </p:sp>
      <p:sp>
        <p:nvSpPr>
          <p:cNvPr id="14" name="Rounded Rectangle 13"/>
          <p:cNvSpPr/>
          <p:nvPr/>
        </p:nvSpPr>
        <p:spPr>
          <a:xfrm>
            <a:off x="8092440" y="1234440"/>
            <a:ext cx="3429000" cy="201168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1234440"/>
            <a:ext cx="64008" cy="2011680"/>
          </a:xfrm>
          <a:prstGeom prst="rect">
            <a:avLst/>
          </a:prstGeom>
          <a:solidFill>
            <a:srgbClr val="5DC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1" y="1344168"/>
            <a:ext cx="3154680" cy="320040"/>
          </a:xfrm>
          <a:prstGeom prst="rect">
            <a:avLst/>
          </a:prstGeom>
          <a:noFill/>
        </p:spPr>
        <p:txBody>
          <a:bodyPr wrap="square" lIns="36576" rIns="36576" tIns="36576" bIns="36576" anchor="t">
            <a:spAutoFit/>
          </a:bodyPr>
          <a:lstStyle/>
          <a:p>
            <a:pPr algn="l"/>
            <a:r>
              <a:rPr sz="1500" b="1">
                <a:solidFill>
                  <a:srgbClr val="5DCEDC"/>
                </a:solidFill>
                <a:latin typeface="Microsoft YaHei"/>
              </a:rPr>
              <a:t>S K-edge XANES</a:t>
            </a:r>
          </a:p>
        </p:txBody>
      </p:sp>
      <p:sp>
        <p:nvSpPr>
          <p:cNvPr id="17" name="TextBox 16"/>
          <p:cNvSpPr txBox="1"/>
          <p:nvPr/>
        </p:nvSpPr>
        <p:spPr>
          <a:xfrm>
            <a:off x="8257031" y="1709928"/>
            <a:ext cx="3136392" cy="1444752"/>
          </a:xfrm>
          <a:prstGeom prst="rect">
            <a:avLst/>
          </a:prstGeom>
          <a:noFill/>
        </p:spPr>
        <p:txBody>
          <a:bodyPr wrap="square" lIns="36576" rIns="36576" tIns="36576" bIns="36576" anchor="t">
            <a:spAutoFit/>
          </a:bodyPr>
          <a:lstStyle/>
          <a:p>
            <a:pPr algn="l"/>
            <a:r>
              <a:rPr sz="1300" b="0">
                <a:solidFill>
                  <a:srgbClr val="F5F8FA"/>
                </a:solidFill>
                <a:latin typeface="Microsoft YaHei"/>
              </a:rPr>
              <a:t>区分巯基、二硫键、金属—硫与更高氧化态硫，建立硫化学状态指纹。</a:t>
            </a:r>
          </a:p>
        </p:txBody>
      </p:sp>
      <p:sp>
        <p:nvSpPr>
          <p:cNvPr id="18" name="TextBox 17"/>
          <p:cNvSpPr txBox="1"/>
          <p:nvPr/>
        </p:nvSpPr>
        <p:spPr>
          <a:xfrm>
            <a:off x="731520" y="3703320"/>
            <a:ext cx="10607040" cy="320040"/>
          </a:xfrm>
          <a:prstGeom prst="rect">
            <a:avLst/>
          </a:prstGeom>
          <a:noFill/>
        </p:spPr>
        <p:txBody>
          <a:bodyPr wrap="square" lIns="36576" rIns="36576" tIns="36576" bIns="36576" anchor="t">
            <a:spAutoFit/>
          </a:bodyPr>
          <a:lstStyle/>
          <a:p>
            <a:pPr algn="l"/>
            <a:r>
              <a:rPr sz="1500" b="1">
                <a:solidFill>
                  <a:srgbClr val="2CBEB1"/>
                </a:solidFill>
                <a:latin typeface="Microsoft YaHei"/>
              </a:rPr>
              <a:t>推荐的谱学判别链</a:t>
            </a:r>
          </a:p>
        </p:txBody>
      </p:sp>
      <p:cxnSp>
        <p:nvCxnSpPr>
          <p:cNvPr id="19" name="Connector 18"/>
          <p:cNvCxnSpPr/>
          <p:nvPr/>
        </p:nvCxnSpPr>
        <p:spPr>
          <a:xfrm>
            <a:off x="1097280" y="4617720"/>
            <a:ext cx="9784080" cy="0"/>
          </a:xfrm>
          <a:prstGeom prst="line">
            <a:avLst/>
          </a:prstGeom>
          <a:ln w="25400">
            <a:solidFill>
              <a:srgbClr val="2CBEB1"/>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914400" y="4160520"/>
            <a:ext cx="731520" cy="731520"/>
          </a:xfrm>
          <a:prstGeom prst="ellipse">
            <a:avLst/>
          </a:prstGeom>
          <a:solidFill>
            <a:srgbClr val="F49D48"/>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233672"/>
            <a:ext cx="731520" cy="621792"/>
          </a:xfrm>
          <a:prstGeom prst="rect">
            <a:avLst/>
          </a:prstGeom>
          <a:noFill/>
        </p:spPr>
        <p:txBody>
          <a:bodyPr wrap="square" lIns="36576" rIns="36576" tIns="36576" bIns="36576" anchor="ctr">
            <a:spAutoFit/>
          </a:bodyPr>
          <a:lstStyle/>
          <a:p>
            <a:pPr algn="ctr"/>
            <a:r>
              <a:rPr sz="1200" b="1">
                <a:solidFill>
                  <a:srgbClr val="F5F8FA"/>
                </a:solidFill>
                <a:latin typeface="Microsoft YaHei"/>
              </a:rPr>
              <a:t>Au–S</a:t>
            </a:r>
          </a:p>
        </p:txBody>
      </p:sp>
      <p:sp>
        <p:nvSpPr>
          <p:cNvPr id="22" name="TextBox 21"/>
          <p:cNvSpPr txBox="1"/>
          <p:nvPr/>
        </p:nvSpPr>
        <p:spPr>
          <a:xfrm>
            <a:off x="685800" y="5102352"/>
            <a:ext cx="1234440" cy="274320"/>
          </a:xfrm>
          <a:prstGeom prst="rect">
            <a:avLst/>
          </a:prstGeom>
          <a:noFill/>
        </p:spPr>
        <p:txBody>
          <a:bodyPr wrap="square" lIns="36576" rIns="36576" tIns="36576" bIns="36576" anchor="t">
            <a:spAutoFit/>
          </a:bodyPr>
          <a:lstStyle/>
          <a:p>
            <a:pPr algn="ctr"/>
            <a:r>
              <a:rPr sz="1000" b="0">
                <a:solidFill>
                  <a:srgbClr val="AEC1CF"/>
                </a:solidFill>
                <a:latin typeface="Microsoft YaHei"/>
              </a:rPr>
              <a:t>直接表面结合</a:t>
            </a:r>
          </a:p>
        </p:txBody>
      </p:sp>
      <p:sp>
        <p:nvSpPr>
          <p:cNvPr id="23" name="Oval 22"/>
          <p:cNvSpPr/>
          <p:nvPr/>
        </p:nvSpPr>
        <p:spPr>
          <a:xfrm>
            <a:off x="3337560" y="4160520"/>
            <a:ext cx="731520" cy="731520"/>
          </a:xfrm>
          <a:prstGeom prst="ellipse">
            <a:avLst/>
          </a:prstGeom>
          <a:solidFill>
            <a:srgbClr val="2CBEB1"/>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37560" y="4233672"/>
            <a:ext cx="731520" cy="621792"/>
          </a:xfrm>
          <a:prstGeom prst="rect">
            <a:avLst/>
          </a:prstGeom>
          <a:noFill/>
        </p:spPr>
        <p:txBody>
          <a:bodyPr wrap="square" lIns="36576" rIns="36576" tIns="36576" bIns="36576" anchor="ctr">
            <a:spAutoFit/>
          </a:bodyPr>
          <a:lstStyle/>
          <a:p>
            <a:pPr algn="ctr"/>
            <a:r>
              <a:rPr sz="1200" b="1">
                <a:solidFill>
                  <a:srgbClr val="F5F8FA"/>
                </a:solidFill>
                <a:latin typeface="Microsoft YaHei"/>
              </a:rPr>
              <a:t>Zn–S</a:t>
            </a:r>
          </a:p>
        </p:txBody>
      </p:sp>
      <p:sp>
        <p:nvSpPr>
          <p:cNvPr id="25" name="TextBox 24"/>
          <p:cNvSpPr txBox="1"/>
          <p:nvPr/>
        </p:nvSpPr>
        <p:spPr>
          <a:xfrm>
            <a:off x="3108960" y="5102352"/>
            <a:ext cx="1234440" cy="274320"/>
          </a:xfrm>
          <a:prstGeom prst="rect">
            <a:avLst/>
          </a:prstGeom>
          <a:noFill/>
        </p:spPr>
        <p:txBody>
          <a:bodyPr wrap="square" lIns="36576" rIns="36576" tIns="36576" bIns="36576" anchor="t">
            <a:spAutoFit/>
          </a:bodyPr>
          <a:lstStyle/>
          <a:p>
            <a:pPr algn="ctr"/>
            <a:r>
              <a:rPr sz="1000" b="0">
                <a:solidFill>
                  <a:srgbClr val="AEC1CF"/>
                </a:solidFill>
                <a:latin typeface="Microsoft YaHei"/>
              </a:rPr>
              <a:t>溶解后配位</a:t>
            </a:r>
          </a:p>
        </p:txBody>
      </p:sp>
      <p:sp>
        <p:nvSpPr>
          <p:cNvPr id="26" name="Oval 25"/>
          <p:cNvSpPr/>
          <p:nvPr/>
        </p:nvSpPr>
        <p:spPr>
          <a:xfrm>
            <a:off x="5760720" y="4160520"/>
            <a:ext cx="731520" cy="731520"/>
          </a:xfrm>
          <a:prstGeom prst="ellipse">
            <a:avLst/>
          </a:prstGeom>
          <a:solidFill>
            <a:srgbClr val="5DCEDC"/>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720" y="4233672"/>
            <a:ext cx="731520" cy="621792"/>
          </a:xfrm>
          <a:prstGeom prst="rect">
            <a:avLst/>
          </a:prstGeom>
          <a:noFill/>
        </p:spPr>
        <p:txBody>
          <a:bodyPr wrap="square" lIns="36576" rIns="36576" tIns="36576" bIns="36576" anchor="ctr">
            <a:spAutoFit/>
          </a:bodyPr>
          <a:lstStyle/>
          <a:p>
            <a:pPr algn="ctr"/>
            <a:r>
              <a:rPr sz="1200" b="1">
                <a:solidFill>
                  <a:srgbClr val="F5F8FA"/>
                </a:solidFill>
                <a:latin typeface="Microsoft YaHei"/>
              </a:rPr>
              <a:t>S–S</a:t>
            </a:r>
          </a:p>
        </p:txBody>
      </p:sp>
      <p:sp>
        <p:nvSpPr>
          <p:cNvPr id="28" name="TextBox 27"/>
          <p:cNvSpPr txBox="1"/>
          <p:nvPr/>
        </p:nvSpPr>
        <p:spPr>
          <a:xfrm>
            <a:off x="5532120" y="5102352"/>
            <a:ext cx="1234440" cy="274320"/>
          </a:xfrm>
          <a:prstGeom prst="rect">
            <a:avLst/>
          </a:prstGeom>
          <a:noFill/>
        </p:spPr>
        <p:txBody>
          <a:bodyPr wrap="square" lIns="36576" rIns="36576" tIns="36576" bIns="36576" anchor="t">
            <a:spAutoFit/>
          </a:bodyPr>
          <a:lstStyle/>
          <a:p>
            <a:pPr algn="ctr"/>
            <a:r>
              <a:rPr sz="1000" b="0">
                <a:solidFill>
                  <a:srgbClr val="AEC1CF"/>
                </a:solidFill>
                <a:latin typeface="Microsoft YaHei"/>
              </a:rPr>
              <a:t>二硫键形成</a:t>
            </a:r>
          </a:p>
        </p:txBody>
      </p:sp>
      <p:sp>
        <p:nvSpPr>
          <p:cNvPr id="29" name="Oval 28"/>
          <p:cNvSpPr/>
          <p:nvPr/>
        </p:nvSpPr>
        <p:spPr>
          <a:xfrm>
            <a:off x="8183879" y="4160520"/>
            <a:ext cx="731520" cy="731520"/>
          </a:xfrm>
          <a:prstGeom prst="ellipse">
            <a:avLst/>
          </a:prstGeom>
          <a:solidFill>
            <a:srgbClr val="E15B53"/>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4233672"/>
            <a:ext cx="731520" cy="621792"/>
          </a:xfrm>
          <a:prstGeom prst="rect">
            <a:avLst/>
          </a:prstGeom>
          <a:noFill/>
        </p:spPr>
        <p:txBody>
          <a:bodyPr wrap="square" lIns="36576" rIns="36576" tIns="36576" bIns="36576" anchor="ctr">
            <a:spAutoFit/>
          </a:bodyPr>
          <a:lstStyle/>
          <a:p>
            <a:pPr algn="ctr"/>
            <a:r>
              <a:rPr sz="1200" b="1">
                <a:solidFill>
                  <a:srgbClr val="F5F8FA"/>
                </a:solidFill>
                <a:latin typeface="Microsoft YaHei"/>
              </a:rPr>
              <a:t>S=O</a:t>
            </a:r>
          </a:p>
        </p:txBody>
      </p:sp>
      <p:sp>
        <p:nvSpPr>
          <p:cNvPr id="31" name="TextBox 30"/>
          <p:cNvSpPr txBox="1"/>
          <p:nvPr/>
        </p:nvSpPr>
        <p:spPr>
          <a:xfrm>
            <a:off x="7955279" y="5102352"/>
            <a:ext cx="1234440" cy="274320"/>
          </a:xfrm>
          <a:prstGeom prst="rect">
            <a:avLst/>
          </a:prstGeom>
          <a:noFill/>
        </p:spPr>
        <p:txBody>
          <a:bodyPr wrap="square" lIns="36576" rIns="36576" tIns="36576" bIns="36576" anchor="t">
            <a:spAutoFit/>
          </a:bodyPr>
          <a:lstStyle/>
          <a:p>
            <a:pPr algn="ctr"/>
            <a:r>
              <a:rPr sz="1000" b="0">
                <a:solidFill>
                  <a:srgbClr val="AEC1CF"/>
                </a:solidFill>
                <a:latin typeface="Microsoft YaHei"/>
              </a:rPr>
              <a:t>氧化态升高</a:t>
            </a:r>
          </a:p>
        </p:txBody>
      </p:sp>
      <p:sp>
        <p:nvSpPr>
          <p:cNvPr id="32" name="Oval 31"/>
          <p:cNvSpPr/>
          <p:nvPr/>
        </p:nvSpPr>
        <p:spPr>
          <a:xfrm>
            <a:off x="10058400" y="4160520"/>
            <a:ext cx="731520" cy="731520"/>
          </a:xfrm>
          <a:prstGeom prst="ellipse">
            <a:avLst/>
          </a:prstGeom>
          <a:solidFill>
            <a:srgbClr val="9E7FDD"/>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0" y="4233672"/>
            <a:ext cx="731520" cy="621792"/>
          </a:xfrm>
          <a:prstGeom prst="rect">
            <a:avLst/>
          </a:prstGeom>
          <a:noFill/>
        </p:spPr>
        <p:txBody>
          <a:bodyPr wrap="square" lIns="36576" rIns="36576" tIns="36576" bIns="36576" anchor="ctr">
            <a:spAutoFit/>
          </a:bodyPr>
          <a:lstStyle/>
          <a:p>
            <a:pPr algn="ctr"/>
            <a:r>
              <a:rPr sz="1200" b="1">
                <a:solidFill>
                  <a:srgbClr val="F5F8FA"/>
                </a:solidFill>
                <a:latin typeface="Microsoft YaHei"/>
              </a:rPr>
              <a:t>Fe/Cu–S</a:t>
            </a:r>
          </a:p>
        </p:txBody>
      </p:sp>
      <p:sp>
        <p:nvSpPr>
          <p:cNvPr id="34" name="TextBox 33"/>
          <p:cNvSpPr txBox="1"/>
          <p:nvPr/>
        </p:nvSpPr>
        <p:spPr>
          <a:xfrm>
            <a:off x="9829800" y="5102352"/>
            <a:ext cx="1234440" cy="274320"/>
          </a:xfrm>
          <a:prstGeom prst="rect">
            <a:avLst/>
          </a:prstGeom>
          <a:noFill/>
        </p:spPr>
        <p:txBody>
          <a:bodyPr wrap="square" lIns="36576" rIns="36576" tIns="36576" bIns="36576" anchor="t">
            <a:spAutoFit/>
          </a:bodyPr>
          <a:lstStyle/>
          <a:p>
            <a:pPr algn="ctr"/>
            <a:r>
              <a:rPr sz="1000" b="0">
                <a:solidFill>
                  <a:srgbClr val="AEC1CF"/>
                </a:solidFill>
                <a:latin typeface="Microsoft YaHei"/>
              </a:rPr>
              <a:t>金属稳态重排</a:t>
            </a:r>
          </a:p>
        </p:txBody>
      </p:sp>
      <p:sp>
        <p:nvSpPr>
          <p:cNvPr id="35" name="TextBox 34"/>
          <p:cNvSpPr txBox="1"/>
          <p:nvPr/>
        </p:nvSpPr>
        <p:spPr>
          <a:xfrm>
            <a:off x="822960" y="5779008"/>
            <a:ext cx="10332720" cy="320040"/>
          </a:xfrm>
          <a:prstGeom prst="rect">
            <a:avLst/>
          </a:prstGeom>
          <a:noFill/>
        </p:spPr>
        <p:txBody>
          <a:bodyPr wrap="square" lIns="36576" rIns="36576" tIns="36576" bIns="36576" anchor="t">
            <a:spAutoFit/>
          </a:bodyPr>
          <a:lstStyle/>
          <a:p>
            <a:pPr algn="ctr"/>
            <a:r>
              <a:rPr sz="1200" b="0">
                <a:solidFill>
                  <a:srgbClr val="AEC1CF"/>
                </a:solidFill>
                <a:latin typeface="Microsoft YaHei"/>
              </a:rPr>
              <a:t>样品策略：优先选择差异最大的时间点与剂量，减少束流剂量并设置未暴露对照。</a:t>
            </a:r>
          </a:p>
        </p:txBody>
      </p:sp>
      <p:sp>
        <p:nvSpPr>
          <p:cNvPr id="36" name="TextBox 35"/>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37" name="TextBox 36"/>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12</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实验设计与质量控制</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统一剂量、统一终点、统一归一化，保证横向比较成立</a:t>
            </a:r>
          </a:p>
        </p:txBody>
      </p:sp>
      <p:sp>
        <p:nvSpPr>
          <p:cNvPr id="6" name="TextBox 5"/>
          <p:cNvSpPr txBox="1"/>
          <p:nvPr/>
        </p:nvSpPr>
        <p:spPr>
          <a:xfrm>
            <a:off x="640080" y="1143000"/>
            <a:ext cx="2560320" cy="274320"/>
          </a:xfrm>
          <a:prstGeom prst="rect">
            <a:avLst/>
          </a:prstGeom>
          <a:noFill/>
        </p:spPr>
        <p:txBody>
          <a:bodyPr wrap="square" lIns="36576" rIns="36576" tIns="36576" bIns="36576" anchor="t">
            <a:spAutoFit/>
          </a:bodyPr>
          <a:lstStyle/>
          <a:p>
            <a:pPr algn="l"/>
            <a:r>
              <a:rPr sz="1300" b="1">
                <a:solidFill>
                  <a:srgbClr val="2CBEB1"/>
                </a:solidFill>
                <a:latin typeface="Microsoft YaHei"/>
              </a:rPr>
              <a:t>层级</a:t>
            </a:r>
          </a:p>
        </p:txBody>
      </p:sp>
      <p:sp>
        <p:nvSpPr>
          <p:cNvPr id="7" name="TextBox 6"/>
          <p:cNvSpPr txBox="1"/>
          <p:nvPr/>
        </p:nvSpPr>
        <p:spPr>
          <a:xfrm>
            <a:off x="2057400" y="1143000"/>
            <a:ext cx="2560320" cy="274320"/>
          </a:xfrm>
          <a:prstGeom prst="rect">
            <a:avLst/>
          </a:prstGeom>
          <a:noFill/>
        </p:spPr>
        <p:txBody>
          <a:bodyPr wrap="square" lIns="36576" rIns="36576" tIns="36576" bIns="36576" anchor="t">
            <a:spAutoFit/>
          </a:bodyPr>
          <a:lstStyle/>
          <a:p>
            <a:pPr algn="l"/>
            <a:r>
              <a:rPr sz="1300" b="1">
                <a:solidFill>
                  <a:srgbClr val="2CBEB1"/>
                </a:solidFill>
                <a:latin typeface="Microsoft YaHei"/>
              </a:rPr>
              <a:t>核心变量</a:t>
            </a:r>
          </a:p>
        </p:txBody>
      </p:sp>
      <p:sp>
        <p:nvSpPr>
          <p:cNvPr id="8" name="TextBox 7"/>
          <p:cNvSpPr txBox="1"/>
          <p:nvPr/>
        </p:nvSpPr>
        <p:spPr>
          <a:xfrm>
            <a:off x="4892040" y="1143000"/>
            <a:ext cx="2560320" cy="274320"/>
          </a:xfrm>
          <a:prstGeom prst="rect">
            <a:avLst/>
          </a:prstGeom>
          <a:noFill/>
        </p:spPr>
        <p:txBody>
          <a:bodyPr wrap="square" lIns="36576" rIns="36576" tIns="36576" bIns="36576" anchor="t">
            <a:spAutoFit/>
          </a:bodyPr>
          <a:lstStyle/>
          <a:p>
            <a:pPr algn="l"/>
            <a:r>
              <a:rPr sz="1300" b="1">
                <a:solidFill>
                  <a:srgbClr val="2CBEB1"/>
                </a:solidFill>
                <a:latin typeface="Microsoft YaHei"/>
              </a:rPr>
              <a:t>主要终点</a:t>
            </a:r>
          </a:p>
        </p:txBody>
      </p:sp>
      <p:sp>
        <p:nvSpPr>
          <p:cNvPr id="9" name="TextBox 8"/>
          <p:cNvSpPr txBox="1"/>
          <p:nvPr/>
        </p:nvSpPr>
        <p:spPr>
          <a:xfrm>
            <a:off x="7909560" y="1143000"/>
            <a:ext cx="2560320" cy="274320"/>
          </a:xfrm>
          <a:prstGeom prst="rect">
            <a:avLst/>
          </a:prstGeom>
          <a:noFill/>
        </p:spPr>
        <p:txBody>
          <a:bodyPr wrap="square" lIns="36576" rIns="36576" tIns="36576" bIns="36576" anchor="t">
            <a:spAutoFit/>
          </a:bodyPr>
          <a:lstStyle/>
          <a:p>
            <a:pPr algn="l"/>
            <a:r>
              <a:rPr sz="1300" b="1">
                <a:solidFill>
                  <a:srgbClr val="2CBEB1"/>
                </a:solidFill>
                <a:latin typeface="Microsoft YaHei"/>
              </a:rPr>
              <a:t>关键控制</a:t>
            </a:r>
          </a:p>
        </p:txBody>
      </p:sp>
      <p:sp>
        <p:nvSpPr>
          <p:cNvPr id="10" name="Rounded Rectangle 9"/>
          <p:cNvSpPr/>
          <p:nvPr/>
        </p:nvSpPr>
        <p:spPr>
          <a:xfrm>
            <a:off x="621792" y="1481328"/>
            <a:ext cx="10881360" cy="621792"/>
          </a:xfrm>
          <a:prstGeom prst="roundRect">
            <a:avLst/>
          </a:prstGeom>
          <a:solidFill>
            <a:srgbClr val="142D46"/>
          </a:solidFill>
          <a:ln>
            <a:solidFill>
              <a:srgbClr val="254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536192"/>
            <a:ext cx="1051560" cy="274320"/>
          </a:xfrm>
          <a:prstGeom prst="rect">
            <a:avLst/>
          </a:prstGeom>
          <a:noFill/>
        </p:spPr>
        <p:txBody>
          <a:bodyPr wrap="square" lIns="36576" rIns="36576" tIns="36576" bIns="36576" anchor="t">
            <a:spAutoFit/>
          </a:bodyPr>
          <a:lstStyle/>
          <a:p>
            <a:pPr algn="l"/>
            <a:r>
              <a:rPr sz="1300" b="1">
                <a:solidFill>
                  <a:srgbClr val="F49D48"/>
                </a:solidFill>
                <a:latin typeface="Microsoft YaHei"/>
              </a:rPr>
              <a:t>材料</a:t>
            </a:r>
          </a:p>
        </p:txBody>
      </p:sp>
      <p:sp>
        <p:nvSpPr>
          <p:cNvPr id="12" name="TextBox 11"/>
          <p:cNvSpPr txBox="1"/>
          <p:nvPr/>
        </p:nvSpPr>
        <p:spPr>
          <a:xfrm>
            <a:off x="2057400" y="1536192"/>
            <a:ext cx="2606040" cy="347472"/>
          </a:xfrm>
          <a:prstGeom prst="rect">
            <a:avLst/>
          </a:prstGeom>
          <a:noFill/>
        </p:spPr>
        <p:txBody>
          <a:bodyPr wrap="square" lIns="36576" rIns="36576" tIns="36576" bIns="36576" anchor="t">
            <a:spAutoFit/>
          </a:bodyPr>
          <a:lstStyle/>
          <a:p>
            <a:pPr algn="l"/>
            <a:r>
              <a:rPr sz="1100" b="0">
                <a:solidFill>
                  <a:srgbClr val="F5F8FA"/>
                </a:solidFill>
                <a:latin typeface="Microsoft YaHei"/>
              </a:rPr>
              <a:t>NP种类 × 剂量 × 时间</a:t>
            </a:r>
          </a:p>
        </p:txBody>
      </p:sp>
      <p:sp>
        <p:nvSpPr>
          <p:cNvPr id="13" name="TextBox 12"/>
          <p:cNvSpPr txBox="1"/>
          <p:nvPr/>
        </p:nvSpPr>
        <p:spPr>
          <a:xfrm>
            <a:off x="4892040" y="1536192"/>
            <a:ext cx="2788920" cy="347472"/>
          </a:xfrm>
          <a:prstGeom prst="rect">
            <a:avLst/>
          </a:prstGeom>
          <a:noFill/>
        </p:spPr>
        <p:txBody>
          <a:bodyPr wrap="square" lIns="36576" rIns="36576" tIns="36576" bIns="36576" anchor="t">
            <a:spAutoFit/>
          </a:bodyPr>
          <a:lstStyle/>
          <a:p>
            <a:pPr algn="l"/>
            <a:r>
              <a:rPr sz="1100" b="0">
                <a:solidFill>
                  <a:srgbClr val="F5F8FA"/>
                </a:solidFill>
                <a:latin typeface="Microsoft YaHei"/>
              </a:rPr>
              <a:t>理化参数、金属释放</a:t>
            </a:r>
          </a:p>
        </p:txBody>
      </p:sp>
      <p:sp>
        <p:nvSpPr>
          <p:cNvPr id="14" name="TextBox 13"/>
          <p:cNvSpPr txBox="1"/>
          <p:nvPr/>
        </p:nvSpPr>
        <p:spPr>
          <a:xfrm>
            <a:off x="7909560" y="1536192"/>
            <a:ext cx="3246120" cy="347472"/>
          </a:xfrm>
          <a:prstGeom prst="rect">
            <a:avLst/>
          </a:prstGeom>
          <a:noFill/>
        </p:spPr>
        <p:txBody>
          <a:bodyPr wrap="square" lIns="36576" rIns="36576" tIns="36576" bIns="36576" anchor="t">
            <a:spAutoFit/>
          </a:bodyPr>
          <a:lstStyle/>
          <a:p>
            <a:pPr algn="l"/>
            <a:r>
              <a:rPr sz="1100" b="0">
                <a:solidFill>
                  <a:srgbClr val="AEC1CF"/>
                </a:solidFill>
                <a:latin typeface="Microsoft YaHei"/>
              </a:rPr>
              <a:t>3批独立制备；等金属质量/表面积</a:t>
            </a:r>
          </a:p>
        </p:txBody>
      </p:sp>
      <p:sp>
        <p:nvSpPr>
          <p:cNvPr id="15" name="Rounded Rectangle 14"/>
          <p:cNvSpPr/>
          <p:nvPr/>
        </p:nvSpPr>
        <p:spPr>
          <a:xfrm>
            <a:off x="621792" y="2267712"/>
            <a:ext cx="10881360" cy="621792"/>
          </a:xfrm>
          <a:prstGeom prst="roundRect">
            <a:avLst/>
          </a:prstGeom>
          <a:solidFill>
            <a:srgbClr val="142D46"/>
          </a:solidFill>
          <a:ln>
            <a:solidFill>
              <a:srgbClr val="254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2322576"/>
            <a:ext cx="1051560" cy="274320"/>
          </a:xfrm>
          <a:prstGeom prst="rect">
            <a:avLst/>
          </a:prstGeom>
          <a:noFill/>
        </p:spPr>
        <p:txBody>
          <a:bodyPr wrap="square" lIns="36576" rIns="36576" tIns="36576" bIns="36576" anchor="t">
            <a:spAutoFit/>
          </a:bodyPr>
          <a:lstStyle/>
          <a:p>
            <a:pPr algn="l"/>
            <a:r>
              <a:rPr sz="1300" b="1">
                <a:solidFill>
                  <a:srgbClr val="2CBEB1"/>
                </a:solidFill>
                <a:latin typeface="Microsoft YaHei"/>
              </a:rPr>
              <a:t>化学模型</a:t>
            </a:r>
          </a:p>
        </p:txBody>
      </p:sp>
      <p:sp>
        <p:nvSpPr>
          <p:cNvPr id="17" name="TextBox 16"/>
          <p:cNvSpPr txBox="1"/>
          <p:nvPr/>
        </p:nvSpPr>
        <p:spPr>
          <a:xfrm>
            <a:off x="2057400" y="2322576"/>
            <a:ext cx="2606040" cy="347472"/>
          </a:xfrm>
          <a:prstGeom prst="rect">
            <a:avLst/>
          </a:prstGeom>
          <a:noFill/>
        </p:spPr>
        <p:txBody>
          <a:bodyPr wrap="square" lIns="36576" rIns="36576" tIns="36576" bIns="36576" anchor="t">
            <a:spAutoFit/>
          </a:bodyPr>
          <a:lstStyle/>
          <a:p>
            <a:pPr algn="l"/>
            <a:r>
              <a:rPr sz="1100" b="0">
                <a:solidFill>
                  <a:srgbClr val="F5F8FA"/>
                </a:solidFill>
                <a:latin typeface="Microsoft YaHei"/>
              </a:rPr>
              <a:t>Cys/GSH × NP</a:t>
            </a:r>
          </a:p>
        </p:txBody>
      </p:sp>
      <p:sp>
        <p:nvSpPr>
          <p:cNvPr id="18" name="TextBox 17"/>
          <p:cNvSpPr txBox="1"/>
          <p:nvPr/>
        </p:nvSpPr>
        <p:spPr>
          <a:xfrm>
            <a:off x="4892040" y="2322576"/>
            <a:ext cx="2788920" cy="347472"/>
          </a:xfrm>
          <a:prstGeom prst="rect">
            <a:avLst/>
          </a:prstGeom>
          <a:noFill/>
        </p:spPr>
        <p:txBody>
          <a:bodyPr wrap="square" lIns="36576" rIns="36576" tIns="36576" bIns="36576" anchor="t">
            <a:spAutoFit/>
          </a:bodyPr>
          <a:lstStyle/>
          <a:p>
            <a:pPr algn="l"/>
            <a:r>
              <a:rPr sz="1100" b="0">
                <a:solidFill>
                  <a:srgbClr val="F5F8FA"/>
                </a:solidFill>
                <a:latin typeface="Microsoft YaHei"/>
              </a:rPr>
              <a:t>–SH、S–S、M–S、ROS</a:t>
            </a:r>
          </a:p>
        </p:txBody>
      </p:sp>
      <p:sp>
        <p:nvSpPr>
          <p:cNvPr id="19" name="TextBox 18"/>
          <p:cNvSpPr txBox="1"/>
          <p:nvPr/>
        </p:nvSpPr>
        <p:spPr>
          <a:xfrm>
            <a:off x="7909560" y="2322576"/>
            <a:ext cx="3246120" cy="347472"/>
          </a:xfrm>
          <a:prstGeom prst="rect">
            <a:avLst/>
          </a:prstGeom>
          <a:noFill/>
        </p:spPr>
        <p:txBody>
          <a:bodyPr wrap="square" lIns="36576" rIns="36576" tIns="36576" bIns="36576" anchor="t">
            <a:spAutoFit/>
          </a:bodyPr>
          <a:lstStyle/>
          <a:p>
            <a:pPr algn="l"/>
            <a:r>
              <a:rPr sz="1100" b="0">
                <a:solidFill>
                  <a:srgbClr val="AEC1CF"/>
                </a:solidFill>
                <a:latin typeface="Microsoft YaHei"/>
              </a:rPr>
              <a:t>无NP、TiO₂、金属离子、抗氧化剂</a:t>
            </a:r>
          </a:p>
        </p:txBody>
      </p:sp>
      <p:sp>
        <p:nvSpPr>
          <p:cNvPr id="20" name="Rounded Rectangle 19"/>
          <p:cNvSpPr/>
          <p:nvPr/>
        </p:nvSpPr>
        <p:spPr>
          <a:xfrm>
            <a:off x="621792" y="3054096"/>
            <a:ext cx="10881360" cy="621792"/>
          </a:xfrm>
          <a:prstGeom prst="roundRect">
            <a:avLst/>
          </a:prstGeom>
          <a:solidFill>
            <a:srgbClr val="142D46"/>
          </a:solidFill>
          <a:ln>
            <a:solidFill>
              <a:srgbClr val="254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3108960"/>
            <a:ext cx="1051560" cy="274320"/>
          </a:xfrm>
          <a:prstGeom prst="rect">
            <a:avLst/>
          </a:prstGeom>
          <a:noFill/>
        </p:spPr>
        <p:txBody>
          <a:bodyPr wrap="square" lIns="36576" rIns="36576" tIns="36576" bIns="36576" anchor="t">
            <a:spAutoFit/>
          </a:bodyPr>
          <a:lstStyle/>
          <a:p>
            <a:pPr algn="l"/>
            <a:r>
              <a:rPr sz="1300" b="1">
                <a:solidFill>
                  <a:srgbClr val="5DCEDC"/>
                </a:solidFill>
                <a:latin typeface="Microsoft YaHei"/>
              </a:rPr>
              <a:t>蛋白</a:t>
            </a:r>
          </a:p>
        </p:txBody>
      </p:sp>
      <p:sp>
        <p:nvSpPr>
          <p:cNvPr id="22" name="TextBox 21"/>
          <p:cNvSpPr txBox="1"/>
          <p:nvPr/>
        </p:nvSpPr>
        <p:spPr>
          <a:xfrm>
            <a:off x="2057400" y="3108960"/>
            <a:ext cx="2606040" cy="347472"/>
          </a:xfrm>
          <a:prstGeom prst="rect">
            <a:avLst/>
          </a:prstGeom>
          <a:noFill/>
        </p:spPr>
        <p:txBody>
          <a:bodyPr wrap="square" lIns="36576" rIns="36576" tIns="36576" bIns="36576" anchor="t">
            <a:spAutoFit/>
          </a:bodyPr>
          <a:lstStyle/>
          <a:p>
            <a:pPr algn="l"/>
            <a:r>
              <a:rPr sz="1100" b="0">
                <a:solidFill>
                  <a:srgbClr val="F5F8FA"/>
                </a:solidFill>
                <a:latin typeface="Microsoft YaHei"/>
              </a:rPr>
              <a:t>GAPDH ± NP</a:t>
            </a:r>
          </a:p>
        </p:txBody>
      </p:sp>
      <p:sp>
        <p:nvSpPr>
          <p:cNvPr id="23" name="TextBox 22"/>
          <p:cNvSpPr txBox="1"/>
          <p:nvPr/>
        </p:nvSpPr>
        <p:spPr>
          <a:xfrm>
            <a:off x="4892040" y="3108960"/>
            <a:ext cx="2788920" cy="347472"/>
          </a:xfrm>
          <a:prstGeom prst="rect">
            <a:avLst/>
          </a:prstGeom>
          <a:noFill/>
        </p:spPr>
        <p:txBody>
          <a:bodyPr wrap="square" lIns="36576" rIns="36576" tIns="36576" bIns="36576" anchor="t">
            <a:spAutoFit/>
          </a:bodyPr>
          <a:lstStyle/>
          <a:p>
            <a:pPr algn="l"/>
            <a:r>
              <a:rPr sz="1100" b="0">
                <a:solidFill>
                  <a:srgbClr val="F5F8FA"/>
                </a:solidFill>
                <a:latin typeface="Microsoft YaHei"/>
              </a:rPr>
              <a:t>Protein–SH、酶活</a:t>
            </a:r>
          </a:p>
        </p:txBody>
      </p:sp>
      <p:sp>
        <p:nvSpPr>
          <p:cNvPr id="24" name="TextBox 23"/>
          <p:cNvSpPr txBox="1"/>
          <p:nvPr/>
        </p:nvSpPr>
        <p:spPr>
          <a:xfrm>
            <a:off x="7909560" y="3108960"/>
            <a:ext cx="3246120" cy="347472"/>
          </a:xfrm>
          <a:prstGeom prst="rect">
            <a:avLst/>
          </a:prstGeom>
          <a:noFill/>
        </p:spPr>
        <p:txBody>
          <a:bodyPr wrap="square" lIns="36576" rIns="36576" tIns="36576" bIns="36576" anchor="t">
            <a:spAutoFit/>
          </a:bodyPr>
          <a:lstStyle/>
          <a:p>
            <a:pPr algn="l"/>
            <a:r>
              <a:rPr sz="1100" b="0">
                <a:solidFill>
                  <a:srgbClr val="AEC1CF"/>
                </a:solidFill>
                <a:latin typeface="Microsoft YaHei"/>
              </a:rPr>
              <a:t>蛋白空白、失活对照、还原剂回救</a:t>
            </a:r>
          </a:p>
        </p:txBody>
      </p:sp>
      <p:sp>
        <p:nvSpPr>
          <p:cNvPr id="25" name="Rounded Rectangle 24"/>
          <p:cNvSpPr/>
          <p:nvPr/>
        </p:nvSpPr>
        <p:spPr>
          <a:xfrm>
            <a:off x="621792" y="3840480"/>
            <a:ext cx="10881360" cy="621792"/>
          </a:xfrm>
          <a:prstGeom prst="roundRect">
            <a:avLst/>
          </a:prstGeom>
          <a:solidFill>
            <a:srgbClr val="142D46"/>
          </a:solidFill>
          <a:ln>
            <a:solidFill>
              <a:srgbClr val="254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3895344"/>
            <a:ext cx="1051560" cy="274320"/>
          </a:xfrm>
          <a:prstGeom prst="rect">
            <a:avLst/>
          </a:prstGeom>
          <a:noFill/>
        </p:spPr>
        <p:txBody>
          <a:bodyPr wrap="square" lIns="36576" rIns="36576" tIns="36576" bIns="36576" anchor="t">
            <a:spAutoFit/>
          </a:bodyPr>
          <a:lstStyle/>
          <a:p>
            <a:pPr algn="l"/>
            <a:r>
              <a:rPr sz="1300" b="1">
                <a:solidFill>
                  <a:srgbClr val="9E7FDD"/>
                </a:solidFill>
                <a:latin typeface="Microsoft YaHei"/>
              </a:rPr>
              <a:t>细胞</a:t>
            </a:r>
          </a:p>
        </p:txBody>
      </p:sp>
      <p:sp>
        <p:nvSpPr>
          <p:cNvPr id="27" name="TextBox 26"/>
          <p:cNvSpPr txBox="1"/>
          <p:nvPr/>
        </p:nvSpPr>
        <p:spPr>
          <a:xfrm>
            <a:off x="2057400" y="3895344"/>
            <a:ext cx="2606040" cy="347472"/>
          </a:xfrm>
          <a:prstGeom prst="rect">
            <a:avLst/>
          </a:prstGeom>
          <a:noFill/>
        </p:spPr>
        <p:txBody>
          <a:bodyPr wrap="square" lIns="36576" rIns="36576" tIns="36576" bIns="36576" anchor="t">
            <a:spAutoFit/>
          </a:bodyPr>
          <a:lstStyle/>
          <a:p>
            <a:pPr algn="l"/>
            <a:r>
              <a:rPr sz="1100" b="0">
                <a:solidFill>
                  <a:srgbClr val="F5F8FA"/>
                </a:solidFill>
                <a:latin typeface="Microsoft YaHei"/>
              </a:rPr>
              <a:t>细胞 × NP</a:t>
            </a:r>
          </a:p>
        </p:txBody>
      </p:sp>
      <p:sp>
        <p:nvSpPr>
          <p:cNvPr id="28" name="TextBox 27"/>
          <p:cNvSpPr txBox="1"/>
          <p:nvPr/>
        </p:nvSpPr>
        <p:spPr>
          <a:xfrm>
            <a:off x="4892040" y="3895344"/>
            <a:ext cx="2788920" cy="347472"/>
          </a:xfrm>
          <a:prstGeom prst="rect">
            <a:avLst/>
          </a:prstGeom>
          <a:noFill/>
        </p:spPr>
        <p:txBody>
          <a:bodyPr wrap="square" lIns="36576" rIns="36576" tIns="36576" bIns="36576" anchor="t">
            <a:spAutoFit/>
          </a:bodyPr>
          <a:lstStyle/>
          <a:p>
            <a:pPr algn="l"/>
            <a:r>
              <a:rPr sz="1100" b="0">
                <a:solidFill>
                  <a:srgbClr val="F5F8FA"/>
                </a:solidFill>
                <a:latin typeface="Microsoft YaHei"/>
              </a:rPr>
              <a:t>ROS、GSH/GSSG、活力/死亡</a:t>
            </a:r>
          </a:p>
        </p:txBody>
      </p:sp>
      <p:sp>
        <p:nvSpPr>
          <p:cNvPr id="29" name="TextBox 28"/>
          <p:cNvSpPr txBox="1"/>
          <p:nvPr/>
        </p:nvSpPr>
        <p:spPr>
          <a:xfrm>
            <a:off x="7909560" y="3895344"/>
            <a:ext cx="3246120" cy="347472"/>
          </a:xfrm>
          <a:prstGeom prst="rect">
            <a:avLst/>
          </a:prstGeom>
          <a:noFill/>
        </p:spPr>
        <p:txBody>
          <a:bodyPr wrap="square" lIns="36576" rIns="36576" tIns="36576" bIns="36576" anchor="t">
            <a:spAutoFit/>
          </a:bodyPr>
          <a:lstStyle/>
          <a:p>
            <a:pPr algn="l"/>
            <a:r>
              <a:rPr sz="1100" b="0">
                <a:solidFill>
                  <a:srgbClr val="AEC1CF"/>
                </a:solidFill>
                <a:latin typeface="Microsoft YaHei"/>
              </a:rPr>
              <a:t>细胞毒性剂量窗口；盲法分析</a:t>
            </a:r>
          </a:p>
        </p:txBody>
      </p:sp>
      <p:sp>
        <p:nvSpPr>
          <p:cNvPr id="30" name="Rounded Rectangle 29"/>
          <p:cNvSpPr/>
          <p:nvPr/>
        </p:nvSpPr>
        <p:spPr>
          <a:xfrm>
            <a:off x="621792" y="4626864"/>
            <a:ext cx="10881360" cy="621792"/>
          </a:xfrm>
          <a:prstGeom prst="roundRect">
            <a:avLst/>
          </a:prstGeom>
          <a:solidFill>
            <a:srgbClr val="142D46"/>
          </a:solidFill>
          <a:ln>
            <a:solidFill>
              <a:srgbClr val="254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681728"/>
            <a:ext cx="1051560" cy="274320"/>
          </a:xfrm>
          <a:prstGeom prst="rect">
            <a:avLst/>
          </a:prstGeom>
          <a:noFill/>
        </p:spPr>
        <p:txBody>
          <a:bodyPr wrap="square" lIns="36576" rIns="36576" tIns="36576" bIns="36576" anchor="t">
            <a:spAutoFit/>
          </a:bodyPr>
          <a:lstStyle/>
          <a:p>
            <a:pPr algn="l"/>
            <a:r>
              <a:rPr sz="1300" b="1">
                <a:solidFill>
                  <a:srgbClr val="72CD91"/>
                </a:solidFill>
                <a:latin typeface="Microsoft YaHei"/>
              </a:rPr>
              <a:t>谱学</a:t>
            </a:r>
          </a:p>
        </p:txBody>
      </p:sp>
      <p:sp>
        <p:nvSpPr>
          <p:cNvPr id="32" name="TextBox 31"/>
          <p:cNvSpPr txBox="1"/>
          <p:nvPr/>
        </p:nvSpPr>
        <p:spPr>
          <a:xfrm>
            <a:off x="2057400" y="4681728"/>
            <a:ext cx="2606040" cy="347472"/>
          </a:xfrm>
          <a:prstGeom prst="rect">
            <a:avLst/>
          </a:prstGeom>
          <a:noFill/>
        </p:spPr>
        <p:txBody>
          <a:bodyPr wrap="square" lIns="36576" rIns="36576" tIns="36576" bIns="36576" anchor="t">
            <a:spAutoFit/>
          </a:bodyPr>
          <a:lstStyle/>
          <a:p>
            <a:pPr algn="l"/>
            <a:r>
              <a:rPr sz="1100" b="0">
                <a:solidFill>
                  <a:srgbClr val="F5F8FA"/>
                </a:solidFill>
                <a:latin typeface="Microsoft YaHei"/>
              </a:rPr>
              <a:t>选定样品</a:t>
            </a:r>
          </a:p>
        </p:txBody>
      </p:sp>
      <p:sp>
        <p:nvSpPr>
          <p:cNvPr id="33" name="TextBox 32"/>
          <p:cNvSpPr txBox="1"/>
          <p:nvPr/>
        </p:nvSpPr>
        <p:spPr>
          <a:xfrm>
            <a:off x="4892040" y="4681728"/>
            <a:ext cx="2788920" cy="347472"/>
          </a:xfrm>
          <a:prstGeom prst="rect">
            <a:avLst/>
          </a:prstGeom>
          <a:noFill/>
        </p:spPr>
        <p:txBody>
          <a:bodyPr wrap="square" lIns="36576" rIns="36576" tIns="36576" bIns="36576" anchor="t">
            <a:spAutoFit/>
          </a:bodyPr>
          <a:lstStyle/>
          <a:p>
            <a:pPr algn="l"/>
            <a:r>
              <a:rPr sz="1100" b="0">
                <a:solidFill>
                  <a:srgbClr val="F5F8FA"/>
                </a:solidFill>
                <a:latin typeface="Microsoft YaHei"/>
              </a:rPr>
              <a:t>XANES/EXAFS/S K-edge</a:t>
            </a:r>
          </a:p>
        </p:txBody>
      </p:sp>
      <p:sp>
        <p:nvSpPr>
          <p:cNvPr id="34" name="TextBox 33"/>
          <p:cNvSpPr txBox="1"/>
          <p:nvPr/>
        </p:nvSpPr>
        <p:spPr>
          <a:xfrm>
            <a:off x="7909560" y="4681728"/>
            <a:ext cx="3246120" cy="347472"/>
          </a:xfrm>
          <a:prstGeom prst="rect">
            <a:avLst/>
          </a:prstGeom>
          <a:noFill/>
        </p:spPr>
        <p:txBody>
          <a:bodyPr wrap="square" lIns="36576" rIns="36576" tIns="36576" bIns="36576" anchor="t">
            <a:spAutoFit/>
          </a:bodyPr>
          <a:lstStyle/>
          <a:p>
            <a:pPr algn="l"/>
            <a:r>
              <a:rPr sz="1100" b="0">
                <a:solidFill>
                  <a:srgbClr val="AEC1CF"/>
                </a:solidFill>
                <a:latin typeface="Microsoft YaHei"/>
              </a:rPr>
              <a:t>未暴露对照；束流损伤监测</a:t>
            </a:r>
          </a:p>
        </p:txBody>
      </p:sp>
      <p:sp>
        <p:nvSpPr>
          <p:cNvPr id="35" name="TextBox 34"/>
          <p:cNvSpPr txBox="1"/>
          <p:nvPr/>
        </p:nvSpPr>
        <p:spPr>
          <a:xfrm>
            <a:off x="731520" y="5715000"/>
            <a:ext cx="10515600" cy="347472"/>
          </a:xfrm>
          <a:prstGeom prst="rect">
            <a:avLst/>
          </a:prstGeom>
          <a:noFill/>
        </p:spPr>
        <p:txBody>
          <a:bodyPr wrap="square" lIns="36576" rIns="36576" tIns="36576" bIns="36576" anchor="t">
            <a:spAutoFit/>
          </a:bodyPr>
          <a:lstStyle/>
          <a:p>
            <a:pPr algn="l"/>
            <a:r>
              <a:rPr sz="1300" b="1">
                <a:solidFill>
                  <a:srgbClr val="F49D48"/>
                </a:solidFill>
                <a:latin typeface="Microsoft YaHei"/>
              </a:rPr>
              <a:t>统计：至少 3 次独立重复；先做剂量—时间窗，再做机制比较；报告效应量与置信区间。</a:t>
            </a:r>
          </a:p>
        </p:txBody>
      </p:sp>
      <p:sp>
        <p:nvSpPr>
          <p:cNvPr id="36" name="TextBox 35"/>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37" name="TextBox 36"/>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13</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预期结果、判定标准与风险预案</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把“可能没有差异”也设计成可解释结果</a:t>
            </a:r>
          </a:p>
        </p:txBody>
      </p:sp>
      <p:sp>
        <p:nvSpPr>
          <p:cNvPr id="6" name="Rounded Rectangle 5"/>
          <p:cNvSpPr/>
          <p:nvPr/>
        </p:nvSpPr>
        <p:spPr>
          <a:xfrm>
            <a:off x="685800" y="1234440"/>
            <a:ext cx="3429000" cy="196596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234440"/>
            <a:ext cx="64008" cy="1965960"/>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344168"/>
            <a:ext cx="3154680" cy="320040"/>
          </a:xfrm>
          <a:prstGeom prst="rect">
            <a:avLst/>
          </a:prstGeom>
          <a:noFill/>
        </p:spPr>
        <p:txBody>
          <a:bodyPr wrap="square" lIns="36576" rIns="36576" tIns="36576" bIns="36576" anchor="t">
            <a:spAutoFit/>
          </a:bodyPr>
          <a:lstStyle/>
          <a:p>
            <a:pPr algn="l"/>
            <a:r>
              <a:rPr sz="1500" b="1">
                <a:solidFill>
                  <a:srgbClr val="2CBEB1"/>
                </a:solidFill>
                <a:latin typeface="Microsoft YaHei"/>
              </a:rPr>
              <a:t>预期 1｜共同终点</a:t>
            </a:r>
          </a:p>
        </p:txBody>
      </p:sp>
      <p:sp>
        <p:nvSpPr>
          <p:cNvPr id="9" name="TextBox 8"/>
          <p:cNvSpPr txBox="1"/>
          <p:nvPr/>
        </p:nvSpPr>
        <p:spPr>
          <a:xfrm>
            <a:off x="850392" y="1709928"/>
            <a:ext cx="3136392" cy="1399031"/>
          </a:xfrm>
          <a:prstGeom prst="rect">
            <a:avLst/>
          </a:prstGeom>
          <a:noFill/>
        </p:spPr>
        <p:txBody>
          <a:bodyPr wrap="square" lIns="36576" rIns="36576" tIns="36576" bIns="36576" anchor="t">
            <a:spAutoFit/>
          </a:bodyPr>
          <a:lstStyle/>
          <a:p>
            <a:pPr algn="l"/>
            <a:r>
              <a:rPr sz="1300" b="0">
                <a:solidFill>
                  <a:srgbClr val="F5F8FA"/>
                </a:solidFill>
                <a:latin typeface="Microsoft YaHei"/>
              </a:rPr>
              <a:t>四类重点材料均可能引起 Protein–SH 重分配，但幅度与速度不同；TiO₂维持低反应性基线。</a:t>
            </a:r>
          </a:p>
        </p:txBody>
      </p:sp>
      <p:sp>
        <p:nvSpPr>
          <p:cNvPr id="10" name="Rounded Rectangle 9"/>
          <p:cNvSpPr/>
          <p:nvPr/>
        </p:nvSpPr>
        <p:spPr>
          <a:xfrm>
            <a:off x="4389120" y="1234440"/>
            <a:ext cx="3429000" cy="196596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234440"/>
            <a:ext cx="64008" cy="196596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344168"/>
            <a:ext cx="3154680" cy="320040"/>
          </a:xfrm>
          <a:prstGeom prst="rect">
            <a:avLst/>
          </a:prstGeom>
          <a:noFill/>
        </p:spPr>
        <p:txBody>
          <a:bodyPr wrap="square" lIns="36576" rIns="36576" tIns="36576" bIns="36576" anchor="t">
            <a:spAutoFit/>
          </a:bodyPr>
          <a:lstStyle/>
          <a:p>
            <a:pPr algn="l"/>
            <a:r>
              <a:rPr sz="1500" b="1">
                <a:solidFill>
                  <a:srgbClr val="F49D48"/>
                </a:solidFill>
                <a:latin typeface="Microsoft YaHei"/>
              </a:rPr>
              <a:t>预期 2｜路径分型</a:t>
            </a:r>
          </a:p>
        </p:txBody>
      </p:sp>
      <p:sp>
        <p:nvSpPr>
          <p:cNvPr id="13" name="TextBox 12"/>
          <p:cNvSpPr txBox="1"/>
          <p:nvPr/>
        </p:nvSpPr>
        <p:spPr>
          <a:xfrm>
            <a:off x="4553712" y="1709928"/>
            <a:ext cx="3136392" cy="1399031"/>
          </a:xfrm>
          <a:prstGeom prst="rect">
            <a:avLst/>
          </a:prstGeom>
          <a:noFill/>
        </p:spPr>
        <p:txBody>
          <a:bodyPr wrap="square" lIns="36576" rIns="36576" tIns="36576" bIns="36576" anchor="t">
            <a:spAutoFit/>
          </a:bodyPr>
          <a:lstStyle/>
          <a:p>
            <a:pPr algn="l"/>
            <a:r>
              <a:rPr sz="1300" b="0">
                <a:solidFill>
                  <a:srgbClr val="F5F8FA"/>
                </a:solidFill>
                <a:latin typeface="Microsoft YaHei"/>
              </a:rPr>
              <a:t>AuNP偏 Au–S；ZnO偏 Zn–S；CuO/Fe₃O₄兼具离子与ROS路径；S K-edge给出状态证据。</a:t>
            </a:r>
          </a:p>
        </p:txBody>
      </p:sp>
      <p:sp>
        <p:nvSpPr>
          <p:cNvPr id="14" name="Rounded Rectangle 13"/>
          <p:cNvSpPr/>
          <p:nvPr/>
        </p:nvSpPr>
        <p:spPr>
          <a:xfrm>
            <a:off x="8092440" y="1234440"/>
            <a:ext cx="3429000" cy="196596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1234440"/>
            <a:ext cx="64008" cy="1965960"/>
          </a:xfrm>
          <a:prstGeom prst="rect">
            <a:avLst/>
          </a:prstGeom>
          <a:solidFill>
            <a:srgbClr val="9E7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1" y="1344168"/>
            <a:ext cx="3154680" cy="320040"/>
          </a:xfrm>
          <a:prstGeom prst="rect">
            <a:avLst/>
          </a:prstGeom>
          <a:noFill/>
        </p:spPr>
        <p:txBody>
          <a:bodyPr wrap="square" lIns="36576" rIns="36576" tIns="36576" bIns="36576" anchor="t">
            <a:spAutoFit/>
          </a:bodyPr>
          <a:lstStyle/>
          <a:p>
            <a:pPr algn="l"/>
            <a:r>
              <a:rPr sz="1500" b="1">
                <a:solidFill>
                  <a:srgbClr val="9E7FDD"/>
                </a:solidFill>
                <a:latin typeface="Microsoft YaHei"/>
              </a:rPr>
              <a:t>预期 3｜可调控</a:t>
            </a:r>
          </a:p>
        </p:txBody>
      </p:sp>
      <p:sp>
        <p:nvSpPr>
          <p:cNvPr id="17" name="TextBox 16"/>
          <p:cNvSpPr txBox="1"/>
          <p:nvPr/>
        </p:nvSpPr>
        <p:spPr>
          <a:xfrm>
            <a:off x="8257031" y="1709928"/>
            <a:ext cx="3136392" cy="1399031"/>
          </a:xfrm>
          <a:prstGeom prst="rect">
            <a:avLst/>
          </a:prstGeom>
          <a:noFill/>
        </p:spPr>
        <p:txBody>
          <a:bodyPr wrap="square" lIns="36576" rIns="36576" tIns="36576" bIns="36576" anchor="t">
            <a:spAutoFit/>
          </a:bodyPr>
          <a:lstStyle/>
          <a:p>
            <a:pPr algn="l"/>
            <a:r>
              <a:rPr sz="1300" b="0">
                <a:solidFill>
                  <a:srgbClr val="F5F8FA"/>
                </a:solidFill>
                <a:latin typeface="Microsoft YaHei"/>
              </a:rPr>
              <a:t>PEG/OEG屏蔽或降低溶解/缺陷后，巯基氧化与细胞效应减弱，支持因果关系。</a:t>
            </a:r>
          </a:p>
        </p:txBody>
      </p:sp>
      <p:sp>
        <p:nvSpPr>
          <p:cNvPr id="18" name="TextBox 17"/>
          <p:cNvSpPr txBox="1"/>
          <p:nvPr/>
        </p:nvSpPr>
        <p:spPr>
          <a:xfrm>
            <a:off x="731520" y="3703320"/>
            <a:ext cx="10515600" cy="320040"/>
          </a:xfrm>
          <a:prstGeom prst="rect">
            <a:avLst/>
          </a:prstGeom>
          <a:noFill/>
        </p:spPr>
        <p:txBody>
          <a:bodyPr wrap="square" lIns="36576" rIns="36576" tIns="36576" bIns="36576" anchor="t">
            <a:spAutoFit/>
          </a:bodyPr>
          <a:lstStyle/>
          <a:p>
            <a:pPr algn="l"/>
            <a:r>
              <a:rPr sz="1500" b="1">
                <a:solidFill>
                  <a:srgbClr val="2CBEB1"/>
                </a:solidFill>
                <a:latin typeface="Microsoft YaHei"/>
              </a:rPr>
              <a:t>风险与替代方案</a:t>
            </a:r>
          </a:p>
        </p:txBody>
      </p:sp>
      <p:sp>
        <p:nvSpPr>
          <p:cNvPr id="19" name="Rounded Rectangle 18"/>
          <p:cNvSpPr/>
          <p:nvPr/>
        </p:nvSpPr>
        <p:spPr>
          <a:xfrm>
            <a:off x="777240" y="4160520"/>
            <a:ext cx="3246120" cy="118872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160520"/>
            <a:ext cx="64008" cy="1188720"/>
          </a:xfrm>
          <a:prstGeom prst="rect">
            <a:avLst/>
          </a:prstGeom>
          <a:solidFill>
            <a:srgbClr val="5DC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4270248"/>
            <a:ext cx="2971800" cy="320040"/>
          </a:xfrm>
          <a:prstGeom prst="rect">
            <a:avLst/>
          </a:prstGeom>
          <a:noFill/>
        </p:spPr>
        <p:txBody>
          <a:bodyPr wrap="square" lIns="36576" rIns="36576" tIns="36576" bIns="36576" anchor="t">
            <a:spAutoFit/>
          </a:bodyPr>
          <a:lstStyle/>
          <a:p>
            <a:pPr algn="l"/>
            <a:r>
              <a:rPr sz="1300" b="1">
                <a:solidFill>
                  <a:srgbClr val="5DCEDC"/>
                </a:solidFill>
                <a:latin typeface="Microsoft YaHei"/>
              </a:rPr>
              <a:t>信号弱</a:t>
            </a:r>
          </a:p>
        </p:txBody>
      </p:sp>
      <p:sp>
        <p:nvSpPr>
          <p:cNvPr id="22" name="TextBox 21"/>
          <p:cNvSpPr txBox="1"/>
          <p:nvPr/>
        </p:nvSpPr>
        <p:spPr>
          <a:xfrm>
            <a:off x="941832" y="4636008"/>
            <a:ext cx="2953512" cy="621792"/>
          </a:xfrm>
          <a:prstGeom prst="rect">
            <a:avLst/>
          </a:prstGeom>
          <a:noFill/>
        </p:spPr>
        <p:txBody>
          <a:bodyPr wrap="square" lIns="36576" rIns="36576" tIns="36576" bIns="36576" anchor="t">
            <a:spAutoFit/>
          </a:bodyPr>
          <a:lstStyle/>
          <a:p>
            <a:pPr algn="l"/>
            <a:r>
              <a:rPr sz="1100" b="0">
                <a:solidFill>
                  <a:srgbClr val="F5F8FA"/>
                </a:solidFill>
                <a:latin typeface="Microsoft YaHei"/>
              </a:rPr>
              <a:t>延长时间/提高蛋白浓度；优先进入 S K-edge；采用富Cys模型蛋白。</a:t>
            </a:r>
          </a:p>
        </p:txBody>
      </p:sp>
      <p:sp>
        <p:nvSpPr>
          <p:cNvPr id="23" name="Rounded Rectangle 22"/>
          <p:cNvSpPr/>
          <p:nvPr/>
        </p:nvSpPr>
        <p:spPr>
          <a:xfrm>
            <a:off x="4480560" y="4160520"/>
            <a:ext cx="3246120" cy="118872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60" y="4160520"/>
            <a:ext cx="64008" cy="1188720"/>
          </a:xfrm>
          <a:prstGeom prst="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5152" y="4270248"/>
            <a:ext cx="2971800" cy="320040"/>
          </a:xfrm>
          <a:prstGeom prst="rect">
            <a:avLst/>
          </a:prstGeom>
          <a:noFill/>
        </p:spPr>
        <p:txBody>
          <a:bodyPr wrap="square" lIns="36576" rIns="36576" tIns="36576" bIns="36576" anchor="t">
            <a:spAutoFit/>
          </a:bodyPr>
          <a:lstStyle/>
          <a:p>
            <a:pPr algn="l"/>
            <a:r>
              <a:rPr sz="1300" b="1">
                <a:solidFill>
                  <a:srgbClr val="F49D48"/>
                </a:solidFill>
                <a:latin typeface="Microsoft YaHei"/>
              </a:rPr>
              <a:t>颗粒团聚</a:t>
            </a:r>
          </a:p>
        </p:txBody>
      </p:sp>
      <p:sp>
        <p:nvSpPr>
          <p:cNvPr id="26" name="TextBox 25"/>
          <p:cNvSpPr txBox="1"/>
          <p:nvPr/>
        </p:nvSpPr>
        <p:spPr>
          <a:xfrm>
            <a:off x="4645152" y="4636008"/>
            <a:ext cx="2953512" cy="621792"/>
          </a:xfrm>
          <a:prstGeom prst="rect">
            <a:avLst/>
          </a:prstGeom>
          <a:noFill/>
        </p:spPr>
        <p:txBody>
          <a:bodyPr wrap="square" lIns="36576" rIns="36576" tIns="36576" bIns="36576" anchor="t">
            <a:spAutoFit/>
          </a:bodyPr>
          <a:lstStyle/>
          <a:p>
            <a:pPr algn="l"/>
            <a:r>
              <a:rPr sz="1100" b="0">
                <a:solidFill>
                  <a:srgbClr val="F5F8FA"/>
                </a:solidFill>
                <a:latin typeface="Microsoft YaHei"/>
              </a:rPr>
              <a:t>改用蛋白冠/培养基预孵育；按实际粒径与表面积归一化。</a:t>
            </a:r>
          </a:p>
        </p:txBody>
      </p:sp>
      <p:sp>
        <p:nvSpPr>
          <p:cNvPr id="27" name="Rounded Rectangle 26"/>
          <p:cNvSpPr/>
          <p:nvPr/>
        </p:nvSpPr>
        <p:spPr>
          <a:xfrm>
            <a:off x="8183879" y="4160520"/>
            <a:ext cx="3246120" cy="1188720"/>
          </a:xfrm>
          <a:prstGeom prst="roundRect">
            <a:avLst/>
          </a:prstGeom>
          <a:solidFill>
            <a:srgbClr val="122742"/>
          </a:solidFill>
          <a:ln w="12700">
            <a:solidFill>
              <a:srgbClr val="2A4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83879" y="4160520"/>
            <a:ext cx="64008" cy="1188720"/>
          </a:xfrm>
          <a:prstGeom prst="rect">
            <a:avLst/>
          </a:prstGeom>
          <a:solidFill>
            <a:srgbClr val="9E7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8471" y="4270248"/>
            <a:ext cx="2971800" cy="320040"/>
          </a:xfrm>
          <a:prstGeom prst="rect">
            <a:avLst/>
          </a:prstGeom>
          <a:noFill/>
        </p:spPr>
        <p:txBody>
          <a:bodyPr wrap="square" lIns="36576" rIns="36576" tIns="36576" bIns="36576" anchor="t">
            <a:spAutoFit/>
          </a:bodyPr>
          <a:lstStyle/>
          <a:p>
            <a:pPr algn="l"/>
            <a:r>
              <a:rPr sz="1300" b="1">
                <a:solidFill>
                  <a:srgbClr val="9E7FDD"/>
                </a:solidFill>
                <a:latin typeface="Microsoft YaHei"/>
              </a:rPr>
              <a:t>束流损伤</a:t>
            </a:r>
          </a:p>
        </p:txBody>
      </p:sp>
      <p:sp>
        <p:nvSpPr>
          <p:cNvPr id="30" name="TextBox 29"/>
          <p:cNvSpPr txBox="1"/>
          <p:nvPr/>
        </p:nvSpPr>
        <p:spPr>
          <a:xfrm>
            <a:off x="8348471" y="4636008"/>
            <a:ext cx="2953512" cy="621792"/>
          </a:xfrm>
          <a:prstGeom prst="rect">
            <a:avLst/>
          </a:prstGeom>
          <a:noFill/>
        </p:spPr>
        <p:txBody>
          <a:bodyPr wrap="square" lIns="36576" rIns="36576" tIns="36576" bIns="36576" anchor="t">
            <a:spAutoFit/>
          </a:bodyPr>
          <a:lstStyle/>
          <a:p>
            <a:pPr algn="l"/>
            <a:r>
              <a:rPr sz="1100" b="0">
                <a:solidFill>
                  <a:srgbClr val="F5F8FA"/>
                </a:solidFill>
                <a:latin typeface="Microsoft YaHei"/>
              </a:rPr>
              <a:t>低温/流动池/短曝光；设置重复扫描与未照射对照。</a:t>
            </a:r>
          </a:p>
        </p:txBody>
      </p:sp>
      <p:sp>
        <p:nvSpPr>
          <p:cNvPr id="31" name="TextBox 30"/>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32" name="TextBox 31"/>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14</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研究进度安排</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先建立可重复的比较体系，再把样品送入同步辐射</a:t>
            </a:r>
          </a:p>
        </p:txBody>
      </p:sp>
      <p:sp>
        <p:nvSpPr>
          <p:cNvPr id="6" name="TextBox 5"/>
          <p:cNvSpPr txBox="1"/>
          <p:nvPr/>
        </p:nvSpPr>
        <p:spPr>
          <a:xfrm>
            <a:off x="2514600" y="1234440"/>
            <a:ext cx="1463040" cy="274320"/>
          </a:xfrm>
          <a:prstGeom prst="rect">
            <a:avLst/>
          </a:prstGeom>
          <a:noFill/>
        </p:spPr>
        <p:txBody>
          <a:bodyPr wrap="square" lIns="36576" rIns="36576" tIns="36576" bIns="36576" anchor="t">
            <a:spAutoFit/>
          </a:bodyPr>
          <a:lstStyle/>
          <a:p>
            <a:pPr algn="ctr"/>
            <a:r>
              <a:rPr sz="1200" b="1">
                <a:solidFill>
                  <a:srgbClr val="2CBEB1"/>
                </a:solidFill>
                <a:latin typeface="Microsoft YaHei"/>
              </a:rPr>
              <a:t>1–3月</a:t>
            </a:r>
          </a:p>
        </p:txBody>
      </p:sp>
      <p:sp>
        <p:nvSpPr>
          <p:cNvPr id="7" name="TextBox 6"/>
          <p:cNvSpPr txBox="1"/>
          <p:nvPr/>
        </p:nvSpPr>
        <p:spPr>
          <a:xfrm>
            <a:off x="4297680" y="1234440"/>
            <a:ext cx="1463040" cy="274320"/>
          </a:xfrm>
          <a:prstGeom prst="rect">
            <a:avLst/>
          </a:prstGeom>
          <a:noFill/>
        </p:spPr>
        <p:txBody>
          <a:bodyPr wrap="square" lIns="36576" rIns="36576" tIns="36576" bIns="36576" anchor="t">
            <a:spAutoFit/>
          </a:bodyPr>
          <a:lstStyle/>
          <a:p>
            <a:pPr algn="ctr"/>
            <a:r>
              <a:rPr sz="1200" b="1">
                <a:solidFill>
                  <a:srgbClr val="2CBEB1"/>
                </a:solidFill>
                <a:latin typeface="Microsoft YaHei"/>
              </a:rPr>
              <a:t>4–6月</a:t>
            </a:r>
          </a:p>
        </p:txBody>
      </p:sp>
      <p:sp>
        <p:nvSpPr>
          <p:cNvPr id="8" name="TextBox 7"/>
          <p:cNvSpPr txBox="1"/>
          <p:nvPr/>
        </p:nvSpPr>
        <p:spPr>
          <a:xfrm>
            <a:off x="6080760" y="1234440"/>
            <a:ext cx="1463040" cy="274320"/>
          </a:xfrm>
          <a:prstGeom prst="rect">
            <a:avLst/>
          </a:prstGeom>
          <a:noFill/>
        </p:spPr>
        <p:txBody>
          <a:bodyPr wrap="square" lIns="36576" rIns="36576" tIns="36576" bIns="36576" anchor="t">
            <a:spAutoFit/>
          </a:bodyPr>
          <a:lstStyle/>
          <a:p>
            <a:pPr algn="ctr"/>
            <a:r>
              <a:rPr sz="1200" b="1">
                <a:solidFill>
                  <a:srgbClr val="2CBEB1"/>
                </a:solidFill>
                <a:latin typeface="Microsoft YaHei"/>
              </a:rPr>
              <a:t>7–9月</a:t>
            </a:r>
          </a:p>
        </p:txBody>
      </p:sp>
      <p:sp>
        <p:nvSpPr>
          <p:cNvPr id="9" name="TextBox 8"/>
          <p:cNvSpPr txBox="1"/>
          <p:nvPr/>
        </p:nvSpPr>
        <p:spPr>
          <a:xfrm>
            <a:off x="7863840" y="1234440"/>
            <a:ext cx="1463040" cy="274320"/>
          </a:xfrm>
          <a:prstGeom prst="rect">
            <a:avLst/>
          </a:prstGeom>
          <a:noFill/>
        </p:spPr>
        <p:txBody>
          <a:bodyPr wrap="square" lIns="36576" rIns="36576" tIns="36576" bIns="36576" anchor="t">
            <a:spAutoFit/>
          </a:bodyPr>
          <a:lstStyle/>
          <a:p>
            <a:pPr algn="ctr"/>
            <a:r>
              <a:rPr sz="1200" b="1">
                <a:solidFill>
                  <a:srgbClr val="2CBEB1"/>
                </a:solidFill>
                <a:latin typeface="Microsoft YaHei"/>
              </a:rPr>
              <a:t>10–12月</a:t>
            </a:r>
          </a:p>
        </p:txBody>
      </p:sp>
      <p:sp>
        <p:nvSpPr>
          <p:cNvPr id="10" name="TextBox 9"/>
          <p:cNvSpPr txBox="1"/>
          <p:nvPr/>
        </p:nvSpPr>
        <p:spPr>
          <a:xfrm>
            <a:off x="9646920" y="1234440"/>
            <a:ext cx="1463040" cy="274320"/>
          </a:xfrm>
          <a:prstGeom prst="rect">
            <a:avLst/>
          </a:prstGeom>
          <a:noFill/>
        </p:spPr>
        <p:txBody>
          <a:bodyPr wrap="square" lIns="36576" rIns="36576" tIns="36576" bIns="36576" anchor="t">
            <a:spAutoFit/>
          </a:bodyPr>
          <a:lstStyle/>
          <a:p>
            <a:pPr algn="ctr"/>
            <a:r>
              <a:rPr sz="1200" b="1">
                <a:solidFill>
                  <a:srgbClr val="2CBEB1"/>
                </a:solidFill>
                <a:latin typeface="Microsoft YaHei"/>
              </a:rPr>
              <a:t>13–18月</a:t>
            </a:r>
          </a:p>
        </p:txBody>
      </p:sp>
      <p:sp>
        <p:nvSpPr>
          <p:cNvPr id="11" name="TextBox 10"/>
          <p:cNvSpPr txBox="1"/>
          <p:nvPr/>
        </p:nvSpPr>
        <p:spPr>
          <a:xfrm>
            <a:off x="731520" y="1783080"/>
            <a:ext cx="1554480" cy="274320"/>
          </a:xfrm>
          <a:prstGeom prst="rect">
            <a:avLst/>
          </a:prstGeom>
          <a:noFill/>
        </p:spPr>
        <p:txBody>
          <a:bodyPr wrap="square" lIns="36576" rIns="36576" tIns="36576" bIns="36576" anchor="t">
            <a:spAutoFit/>
          </a:bodyPr>
          <a:lstStyle/>
          <a:p>
            <a:pPr algn="l"/>
            <a:r>
              <a:rPr sz="1200" b="1">
                <a:solidFill>
                  <a:srgbClr val="F5F8FA"/>
                </a:solidFill>
                <a:latin typeface="Microsoft YaHei"/>
              </a:rPr>
              <a:t>材料制备与表征</a:t>
            </a:r>
          </a:p>
        </p:txBody>
      </p:sp>
      <p:sp>
        <p:nvSpPr>
          <p:cNvPr id="12" name="Rectangle 11"/>
          <p:cNvSpPr/>
          <p:nvPr/>
        </p:nvSpPr>
        <p:spPr>
          <a:xfrm>
            <a:off x="2514600" y="1783080"/>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783080"/>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0760" y="1783080"/>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63840" y="1783080"/>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46920" y="1783080"/>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514600" y="1783080"/>
            <a:ext cx="1417320" cy="310896"/>
          </a:xfrm>
          <a:prstGeom prst="round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97680" y="1783080"/>
            <a:ext cx="1417320" cy="310896"/>
          </a:xfrm>
          <a:prstGeom prst="roundRect">
            <a:avLst/>
          </a:prstGeom>
          <a:solidFill>
            <a:srgbClr val="F49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496312"/>
            <a:ext cx="1554480" cy="274320"/>
          </a:xfrm>
          <a:prstGeom prst="rect">
            <a:avLst/>
          </a:prstGeom>
          <a:noFill/>
        </p:spPr>
        <p:txBody>
          <a:bodyPr wrap="square" lIns="36576" rIns="36576" tIns="36576" bIns="36576" anchor="t">
            <a:spAutoFit/>
          </a:bodyPr>
          <a:lstStyle/>
          <a:p>
            <a:pPr algn="l"/>
            <a:r>
              <a:rPr sz="1200" b="1">
                <a:solidFill>
                  <a:srgbClr val="F5F8FA"/>
                </a:solidFill>
                <a:latin typeface="Microsoft YaHei"/>
              </a:rPr>
              <a:t>Cys/GSH机制筛选</a:t>
            </a:r>
          </a:p>
        </p:txBody>
      </p:sp>
      <p:sp>
        <p:nvSpPr>
          <p:cNvPr id="20" name="Rectangle 19"/>
          <p:cNvSpPr/>
          <p:nvPr/>
        </p:nvSpPr>
        <p:spPr>
          <a:xfrm>
            <a:off x="2514600" y="2496312"/>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80" y="2496312"/>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80760" y="2496312"/>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63840" y="2496312"/>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46920" y="2496312"/>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297680" y="2496312"/>
            <a:ext cx="1417320" cy="310896"/>
          </a:xfrm>
          <a:prstGeom prst="round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2496312"/>
            <a:ext cx="1417320" cy="310896"/>
          </a:xfrm>
          <a:prstGeom prst="round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209544"/>
            <a:ext cx="1554480" cy="274320"/>
          </a:xfrm>
          <a:prstGeom prst="rect">
            <a:avLst/>
          </a:prstGeom>
          <a:noFill/>
        </p:spPr>
        <p:txBody>
          <a:bodyPr wrap="square" lIns="36576" rIns="36576" tIns="36576" bIns="36576" anchor="t">
            <a:spAutoFit/>
          </a:bodyPr>
          <a:lstStyle/>
          <a:p>
            <a:pPr algn="l"/>
            <a:r>
              <a:rPr sz="1200" b="1">
                <a:solidFill>
                  <a:srgbClr val="F5F8FA"/>
                </a:solidFill>
                <a:latin typeface="Microsoft YaHei"/>
              </a:rPr>
              <a:t>GAPDH与扩展蛋白</a:t>
            </a:r>
          </a:p>
        </p:txBody>
      </p:sp>
      <p:sp>
        <p:nvSpPr>
          <p:cNvPr id="28" name="Rectangle 27"/>
          <p:cNvSpPr/>
          <p:nvPr/>
        </p:nvSpPr>
        <p:spPr>
          <a:xfrm>
            <a:off x="2514600" y="3209544"/>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97680" y="3209544"/>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80760" y="3209544"/>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863840" y="3209544"/>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46920" y="3209544"/>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080760" y="3209544"/>
            <a:ext cx="1417320" cy="310896"/>
          </a:xfrm>
          <a:prstGeom prst="roundRect">
            <a:avLst/>
          </a:prstGeom>
          <a:solidFill>
            <a:srgbClr val="5DC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863840" y="3209544"/>
            <a:ext cx="1417320" cy="310896"/>
          </a:xfrm>
          <a:prstGeom prst="roundRect">
            <a:avLst/>
          </a:prstGeom>
          <a:solidFill>
            <a:srgbClr val="5DC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3922776"/>
            <a:ext cx="1554480" cy="274320"/>
          </a:xfrm>
          <a:prstGeom prst="rect">
            <a:avLst/>
          </a:prstGeom>
          <a:noFill/>
        </p:spPr>
        <p:txBody>
          <a:bodyPr wrap="square" lIns="36576" rIns="36576" tIns="36576" bIns="36576" anchor="t">
            <a:spAutoFit/>
          </a:bodyPr>
          <a:lstStyle/>
          <a:p>
            <a:pPr algn="l"/>
            <a:r>
              <a:rPr sz="1200" b="1">
                <a:solidFill>
                  <a:srgbClr val="F5F8FA"/>
                </a:solidFill>
                <a:latin typeface="Microsoft YaHei"/>
              </a:rPr>
              <a:t>细胞验证与干预</a:t>
            </a:r>
          </a:p>
        </p:txBody>
      </p:sp>
      <p:sp>
        <p:nvSpPr>
          <p:cNvPr id="36" name="Rectangle 35"/>
          <p:cNvSpPr/>
          <p:nvPr/>
        </p:nvSpPr>
        <p:spPr>
          <a:xfrm>
            <a:off x="2514600" y="3922776"/>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97680" y="3922776"/>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80760" y="3922776"/>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863840" y="3922776"/>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46920" y="3922776"/>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863840" y="3922776"/>
            <a:ext cx="1417320" cy="310896"/>
          </a:xfrm>
          <a:prstGeom prst="roundRect">
            <a:avLst/>
          </a:prstGeom>
          <a:solidFill>
            <a:srgbClr val="9E7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646920" y="3922776"/>
            <a:ext cx="1417320" cy="310896"/>
          </a:xfrm>
          <a:prstGeom prst="roundRect">
            <a:avLst/>
          </a:prstGeom>
          <a:solidFill>
            <a:srgbClr val="9E7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4636008"/>
            <a:ext cx="1554480" cy="274320"/>
          </a:xfrm>
          <a:prstGeom prst="rect">
            <a:avLst/>
          </a:prstGeom>
          <a:noFill/>
        </p:spPr>
        <p:txBody>
          <a:bodyPr wrap="square" lIns="36576" rIns="36576" tIns="36576" bIns="36576" anchor="t">
            <a:spAutoFit/>
          </a:bodyPr>
          <a:lstStyle/>
          <a:p>
            <a:pPr algn="l"/>
            <a:r>
              <a:rPr sz="1200" b="1">
                <a:solidFill>
                  <a:srgbClr val="F5F8FA"/>
                </a:solidFill>
                <a:latin typeface="Microsoft YaHei"/>
              </a:rPr>
              <a:t>同步辐射测试/整合</a:t>
            </a:r>
          </a:p>
        </p:txBody>
      </p:sp>
      <p:sp>
        <p:nvSpPr>
          <p:cNvPr id="44" name="Rectangle 43"/>
          <p:cNvSpPr/>
          <p:nvPr/>
        </p:nvSpPr>
        <p:spPr>
          <a:xfrm>
            <a:off x="2514600" y="4636008"/>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297680" y="4636008"/>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080760" y="4636008"/>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863840" y="4636008"/>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646920" y="4636008"/>
            <a:ext cx="1417320" cy="310896"/>
          </a:xfrm>
          <a:prstGeom prst="rect">
            <a:avLst/>
          </a:prstGeom>
          <a:solidFill>
            <a:srgbClr val="1C344D"/>
          </a:solidFill>
          <a:ln>
            <a:solidFill>
              <a:srgbClr val="2D4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646920" y="4636008"/>
            <a:ext cx="1417320" cy="310896"/>
          </a:xfrm>
          <a:prstGeom prst="roundRect">
            <a:avLst/>
          </a:prstGeom>
          <a:solidFill>
            <a:srgbClr val="72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5715000"/>
            <a:ext cx="10424160" cy="320040"/>
          </a:xfrm>
          <a:prstGeom prst="rect">
            <a:avLst/>
          </a:prstGeom>
          <a:noFill/>
        </p:spPr>
        <p:txBody>
          <a:bodyPr wrap="square" lIns="36576" rIns="36576" tIns="36576" bIns="36576" anchor="t">
            <a:spAutoFit/>
          </a:bodyPr>
          <a:lstStyle/>
          <a:p>
            <a:pPr algn="ctr"/>
            <a:r>
              <a:rPr sz="1300" b="1">
                <a:solidFill>
                  <a:srgbClr val="72CD91"/>
                </a:solidFill>
                <a:latin typeface="Microsoft YaHei"/>
              </a:rPr>
              <a:t>阶段性里程碑：形成材料机制指纹 → 完成代表蛋白验证 → 获得细胞因果证据 → 形成同步辐射结构证据。</a:t>
            </a:r>
          </a:p>
        </p:txBody>
      </p:sp>
      <p:sp>
        <p:nvSpPr>
          <p:cNvPr id="51" name="TextBox 50"/>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开题报告｜纳米颗粒—蛋白巯基—氧化应激</a:t>
            </a:r>
          </a:p>
        </p:txBody>
      </p:sp>
      <p:sp>
        <p:nvSpPr>
          <p:cNvPr id="52" name="TextBox 51"/>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594360" cy="365760"/>
          </a:xfrm>
          <a:prstGeom prst="rect">
            <a:avLst/>
          </a:prstGeom>
          <a:noFill/>
        </p:spPr>
        <p:txBody>
          <a:bodyPr wrap="square" lIns="36576" rIns="36576" tIns="36576" bIns="36576" anchor="t">
            <a:spAutoFit/>
          </a:bodyPr>
          <a:lstStyle/>
          <a:p>
            <a:pPr algn="l"/>
            <a:r>
              <a:rPr sz="1600" b="1">
                <a:solidFill>
                  <a:srgbClr val="2CBEB1"/>
                </a:solidFill>
                <a:latin typeface="Aptos"/>
              </a:rPr>
              <a:t>15</a:t>
            </a:r>
          </a:p>
        </p:txBody>
      </p:sp>
      <p:sp>
        <p:nvSpPr>
          <p:cNvPr id="4" name="TextBox 3"/>
          <p:cNvSpPr txBox="1"/>
          <p:nvPr/>
        </p:nvSpPr>
        <p:spPr>
          <a:xfrm>
            <a:off x="1143000" y="246888"/>
            <a:ext cx="10515600" cy="502920"/>
          </a:xfrm>
          <a:prstGeom prst="rect">
            <a:avLst/>
          </a:prstGeom>
          <a:noFill/>
        </p:spPr>
        <p:txBody>
          <a:bodyPr wrap="square" lIns="36576" rIns="36576" tIns="36576" bIns="36576" anchor="t">
            <a:spAutoFit/>
          </a:bodyPr>
          <a:lstStyle/>
          <a:p>
            <a:pPr algn="l"/>
            <a:r>
              <a:rPr sz="2600" b="1">
                <a:solidFill>
                  <a:srgbClr val="F5F8FA"/>
                </a:solidFill>
                <a:latin typeface="Microsoft YaHei"/>
              </a:rPr>
              <a:t>主要文献与图片/数据来源</a:t>
            </a:r>
          </a:p>
        </p:txBody>
      </p:sp>
      <p:sp>
        <p:nvSpPr>
          <p:cNvPr id="5" name="TextBox 4"/>
          <p:cNvSpPr txBox="1"/>
          <p:nvPr/>
        </p:nvSpPr>
        <p:spPr>
          <a:xfrm>
            <a:off x="1161288" y="758952"/>
            <a:ext cx="10332720" cy="292608"/>
          </a:xfrm>
          <a:prstGeom prst="rect">
            <a:avLst/>
          </a:prstGeom>
          <a:noFill/>
        </p:spPr>
        <p:txBody>
          <a:bodyPr wrap="square" lIns="36576" rIns="36576" tIns="36576" bIns="36576" anchor="t">
            <a:spAutoFit/>
          </a:bodyPr>
          <a:lstStyle/>
          <a:p>
            <a:pPr algn="l"/>
            <a:r>
              <a:rPr sz="1100" b="0">
                <a:solidFill>
                  <a:srgbClr val="AEC1CF"/>
                </a:solidFill>
                <a:latin typeface="Microsoft YaHei"/>
              </a:rPr>
              <a:t>文献优先选用原始研究与高质量综述；图片以自绘机制图为主，避免无授权转载</a:t>
            </a:r>
          </a:p>
        </p:txBody>
      </p:sp>
      <p:sp>
        <p:nvSpPr>
          <p:cNvPr id="6" name="TextBox 5"/>
          <p:cNvSpPr txBox="1"/>
          <p:nvPr/>
        </p:nvSpPr>
        <p:spPr>
          <a:xfrm>
            <a:off x="731520" y="1143000"/>
            <a:ext cx="10698480" cy="3520440"/>
          </a:xfrm>
          <a:prstGeom prst="rect">
            <a:avLst/>
          </a:prstGeom>
          <a:noFill/>
        </p:spPr>
        <p:txBody>
          <a:bodyPr wrap="square" lIns="73152" rIns="73152" tIns="73152" bIns="73152">
            <a:spAutoFit/>
          </a:bodyPr>
          <a:lstStyle/>
          <a:p>
            <a:pPr>
              <a:spcAft>
                <a:spcPts val="500"/>
              </a:spcAft>
            </a:pPr>
            <a:r>
              <a:rPr sz="1100" b="0">
                <a:solidFill>
                  <a:srgbClr val="F5F8FA"/>
                </a:solidFill>
                <a:latin typeface="Microsoft YaHei"/>
              </a:rPr>
              <a:t>[1] Ulrich K, Jakob U. Free Radic Biol Med. 2019;140:14–27. doi:10.1016/j.freeradbiomed.2019.05.035.</a:t>
            </a:r>
          </a:p>
          <a:p>
            <a:pPr>
              <a:spcAft>
                <a:spcPts val="500"/>
              </a:spcAft>
            </a:pPr>
            <a:r>
              <a:rPr sz="1100" b="0">
                <a:solidFill>
                  <a:srgbClr val="F5F8FA"/>
                </a:solidFill>
                <a:latin typeface="Microsoft YaHei"/>
              </a:rPr>
              <a:t>[2] Hanschmann EM et al. Antioxid Redox Signal. 2013;19:1539–1605. doi:10.1089/ars.2012.4599.</a:t>
            </a:r>
          </a:p>
          <a:p>
            <a:pPr>
              <a:spcAft>
                <a:spcPts val="500"/>
              </a:spcAft>
            </a:pPr>
            <a:r>
              <a:rPr sz="1100" b="0">
                <a:solidFill>
                  <a:srgbClr val="F5F8FA"/>
                </a:solidFill>
                <a:latin typeface="Microsoft YaHei"/>
              </a:rPr>
              <a:t>[3] Awotunde O et al. Langmuir. 2020;36:9241–9249. doi:10.1021/acs.langmuir.0c01550.</a:t>
            </a:r>
          </a:p>
          <a:p>
            <a:pPr>
              <a:spcAft>
                <a:spcPts val="500"/>
              </a:spcAft>
            </a:pPr>
            <a:r>
              <a:rPr sz="1100" b="0">
                <a:solidFill>
                  <a:srgbClr val="F5F8FA"/>
                </a:solidFill>
                <a:latin typeface="Microsoft YaHei"/>
              </a:rPr>
              <a:t>[4] Siriwardana K et al. J Phys Chem C. 2015;119:2910–2916. doi:10.1021/jp512440z.</a:t>
            </a:r>
          </a:p>
          <a:p>
            <a:pPr>
              <a:spcAft>
                <a:spcPts val="500"/>
              </a:spcAft>
            </a:pPr>
            <a:r>
              <a:rPr sz="1100" b="0">
                <a:solidFill>
                  <a:srgbClr val="F5F8FA"/>
                </a:solidFill>
                <a:latin typeface="Microsoft YaHei"/>
              </a:rPr>
              <a:t>[5] Ivask A et al. Nanotoxicology. 2017;11:150–156. doi:10.1080/17435390.2017.1282049.</a:t>
            </a:r>
          </a:p>
          <a:p>
            <a:pPr>
              <a:spcAft>
                <a:spcPts val="500"/>
              </a:spcAft>
            </a:pPr>
            <a:r>
              <a:rPr sz="1100" b="0">
                <a:solidFill>
                  <a:srgbClr val="F5F8FA"/>
                </a:solidFill>
                <a:latin typeface="Microsoft YaHei"/>
              </a:rPr>
              <a:t>[6] Rollin-Genetet F et al. Chem Res Toxicol. 2015;28:2304–2312. doi:10.1021/acs.chemrestox.5b00319.</a:t>
            </a:r>
          </a:p>
          <a:p>
            <a:pPr>
              <a:spcAft>
                <a:spcPts val="500"/>
              </a:spcAft>
            </a:pPr>
            <a:r>
              <a:rPr sz="1100" b="0">
                <a:solidFill>
                  <a:srgbClr val="F5F8FA"/>
                </a:solidFill>
                <a:latin typeface="Microsoft YaHei"/>
              </a:rPr>
              <a:t>[7] Duan J et al. ACS Nano. 2016;10:524–538. doi:10.1021/acsnano.5b05524.</a:t>
            </a:r>
          </a:p>
          <a:p>
            <a:pPr>
              <a:spcAft>
                <a:spcPts val="500"/>
              </a:spcAft>
            </a:pPr>
            <a:r>
              <a:rPr sz="1100" b="0">
                <a:solidFill>
                  <a:srgbClr val="F5F8FA"/>
                </a:solidFill>
                <a:latin typeface="Microsoft YaHei"/>
              </a:rPr>
              <a:t>[8] Wu H et al. J Food Drug Anal. 2014;22:86–94. doi:10.1016/j.jfda.2014.01.007.</a:t>
            </a:r>
          </a:p>
        </p:txBody>
      </p:sp>
      <p:sp>
        <p:nvSpPr>
          <p:cNvPr id="7" name="TextBox 6"/>
          <p:cNvSpPr txBox="1"/>
          <p:nvPr/>
        </p:nvSpPr>
        <p:spPr>
          <a:xfrm>
            <a:off x="731520" y="4864608"/>
            <a:ext cx="10515600" cy="292608"/>
          </a:xfrm>
          <a:prstGeom prst="rect">
            <a:avLst/>
          </a:prstGeom>
          <a:noFill/>
        </p:spPr>
        <p:txBody>
          <a:bodyPr wrap="square" lIns="36576" rIns="36576" tIns="36576" bIns="36576" anchor="t">
            <a:spAutoFit/>
          </a:bodyPr>
          <a:lstStyle/>
          <a:p>
            <a:pPr algn="l"/>
            <a:r>
              <a:rPr sz="1400" b="1">
                <a:solidFill>
                  <a:srgbClr val="2CBEB1"/>
                </a:solidFill>
                <a:latin typeface="Microsoft YaHei"/>
              </a:rPr>
              <a:t>图片与技术依据</a:t>
            </a:r>
          </a:p>
        </p:txBody>
      </p:sp>
      <p:sp>
        <p:nvSpPr>
          <p:cNvPr id="8" name="TextBox 7"/>
          <p:cNvSpPr txBox="1"/>
          <p:nvPr/>
        </p:nvSpPr>
        <p:spPr>
          <a:xfrm>
            <a:off x="777240" y="5230368"/>
            <a:ext cx="10515600" cy="822960"/>
          </a:xfrm>
          <a:prstGeom prst="rect">
            <a:avLst/>
          </a:prstGeom>
          <a:noFill/>
        </p:spPr>
        <p:txBody>
          <a:bodyPr wrap="square" lIns="73152" rIns="73152" tIns="73152" bIns="73152">
            <a:spAutoFit/>
          </a:bodyPr>
          <a:lstStyle/>
          <a:p>
            <a:pPr>
              <a:spcAft>
                <a:spcPts val="500"/>
              </a:spcAft>
            </a:pPr>
            <a:r>
              <a:rPr sz="1100" b="0">
                <a:solidFill>
                  <a:srgbClr val="F5F8FA"/>
                </a:solidFill>
                <a:latin typeface="Microsoft YaHei"/>
              </a:rPr>
              <a:t>同步辐射技术依据：NSLS-II / APS 光束线公开技术说明；XANES/EXAFS 与 S K-edge 的原理示意为本报告自绘。</a:t>
            </a:r>
          </a:p>
          <a:p>
            <a:pPr>
              <a:spcAft>
                <a:spcPts val="500"/>
              </a:spcAft>
            </a:pPr>
            <a:r>
              <a:rPr sz="1100" b="0">
                <a:solidFill>
                  <a:srgbClr val="F5F8FA"/>
                </a:solidFill>
                <a:latin typeface="Microsoft YaHei"/>
              </a:rPr>
              <a:t>材料结构示意：基于本研究方案中的材料类别与公开文献机制整理；所有示意图均标注为“示意”。</a:t>
            </a:r>
          </a:p>
        </p:txBody>
      </p:sp>
      <p:sp>
        <p:nvSpPr>
          <p:cNvPr id="9" name="TextBox 8"/>
          <p:cNvSpPr txBox="1"/>
          <p:nvPr/>
        </p:nvSpPr>
        <p:spPr>
          <a:xfrm>
            <a:off x="548640" y="6510528"/>
            <a:ext cx="8229600" cy="182880"/>
          </a:xfrm>
          <a:prstGeom prst="rect">
            <a:avLst/>
          </a:prstGeom>
          <a:noFill/>
        </p:spPr>
        <p:txBody>
          <a:bodyPr wrap="square" lIns="36576" rIns="36576" tIns="36576" bIns="36576" anchor="t">
            <a:spAutoFit/>
          </a:bodyPr>
          <a:lstStyle/>
          <a:p>
            <a:pPr algn="l"/>
            <a:r>
              <a:rPr sz="900" b="0">
                <a:solidFill>
                  <a:srgbClr val="AEC1CF"/>
                </a:solidFill>
                <a:latin typeface="Microsoft YaHei"/>
              </a:rPr>
              <a:t>文献清单为核心文献，正式提交前建议按学校格式补齐全部条目</a:t>
            </a:r>
          </a:p>
        </p:txBody>
      </p:sp>
      <p:sp>
        <p:nvSpPr>
          <p:cNvPr id="10" name="TextBox 9"/>
          <p:cNvSpPr txBox="1"/>
          <p:nvPr/>
        </p:nvSpPr>
        <p:spPr>
          <a:xfrm>
            <a:off x="11064240" y="6510528"/>
            <a:ext cx="548640" cy="182880"/>
          </a:xfrm>
          <a:prstGeom prst="rect">
            <a:avLst/>
          </a:prstGeom>
          <a:noFill/>
        </p:spPr>
        <p:txBody>
          <a:bodyPr wrap="square" lIns="36576" rIns="36576" tIns="36576" bIns="36576" anchor="t">
            <a:spAutoFit/>
          </a:bodyPr>
          <a:lstStyle/>
          <a:p>
            <a:pPr algn="r"/>
            <a:r>
              <a:rPr sz="900" b="0">
                <a:solidFill>
                  <a:srgbClr val="AEC1CF"/>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82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CB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25880"/>
            <a:ext cx="10515600" cy="594360"/>
          </a:xfrm>
          <a:prstGeom prst="rect">
            <a:avLst/>
          </a:prstGeom>
          <a:noFill/>
        </p:spPr>
        <p:txBody>
          <a:bodyPr wrap="square" lIns="36576" rIns="36576" tIns="36576" bIns="36576" anchor="t">
            <a:spAutoFit/>
          </a:bodyPr>
          <a:lstStyle/>
          <a:p>
            <a:pPr algn="ctr"/>
            <a:r>
              <a:rPr sz="3200" b="1">
                <a:solidFill>
                  <a:srgbClr val="F5F8FA"/>
                </a:solidFill>
                <a:latin typeface="Microsoft YaHei"/>
              </a:rPr>
              <a:t>谢谢各位老师</a:t>
            </a:r>
          </a:p>
        </p:txBody>
      </p:sp>
      <p:sp>
        <p:nvSpPr>
          <p:cNvPr id="4" name="TextBox 3"/>
          <p:cNvSpPr txBox="1"/>
          <p:nvPr/>
        </p:nvSpPr>
        <p:spPr>
          <a:xfrm>
            <a:off x="1097280" y="2148840"/>
            <a:ext cx="9966960" cy="457200"/>
          </a:xfrm>
          <a:prstGeom prst="rect">
            <a:avLst/>
          </a:prstGeom>
          <a:noFill/>
        </p:spPr>
        <p:txBody>
          <a:bodyPr wrap="square" lIns="36576" rIns="36576" tIns="36576" bIns="36576" anchor="t">
            <a:spAutoFit/>
          </a:bodyPr>
          <a:lstStyle/>
          <a:p>
            <a:pPr algn="ctr"/>
            <a:r>
              <a:rPr sz="1800" b="1">
                <a:solidFill>
                  <a:srgbClr val="2CBEB1"/>
                </a:solidFill>
                <a:latin typeface="Microsoft YaHei"/>
              </a:rPr>
              <a:t>请指导：材料选择、同步辐射表征优先级与创新点凝练</a:t>
            </a:r>
          </a:p>
        </p:txBody>
      </p:sp>
      <p:sp>
        <p:nvSpPr>
          <p:cNvPr id="5" name="Oval 4"/>
          <p:cNvSpPr/>
          <p:nvPr/>
        </p:nvSpPr>
        <p:spPr>
          <a:xfrm>
            <a:off x="2011680" y="3703320"/>
            <a:ext cx="1005840" cy="1005840"/>
          </a:xfrm>
          <a:prstGeom prst="ellipse">
            <a:avLst/>
          </a:prstGeom>
          <a:solidFill>
            <a:srgbClr val="F49D48"/>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0" y="3776472"/>
            <a:ext cx="1005840" cy="896112"/>
          </a:xfrm>
          <a:prstGeom prst="rect">
            <a:avLst/>
          </a:prstGeom>
          <a:noFill/>
        </p:spPr>
        <p:txBody>
          <a:bodyPr wrap="square" lIns="36576" rIns="36576" tIns="36576" bIns="36576" anchor="ctr">
            <a:spAutoFit/>
          </a:bodyPr>
          <a:lstStyle/>
          <a:p>
            <a:pPr algn="ctr"/>
            <a:r>
              <a:rPr sz="2000" b="1">
                <a:solidFill>
                  <a:srgbClr val="F5F8FA"/>
                </a:solidFill>
                <a:latin typeface="Microsoft YaHei"/>
              </a:rPr>
              <a:t>NP</a:t>
            </a:r>
          </a:p>
        </p:txBody>
      </p:sp>
      <p:cxnSp>
        <p:nvCxnSpPr>
          <p:cNvPr id="7" name="Connector 6"/>
          <p:cNvCxnSpPr/>
          <p:nvPr/>
        </p:nvCxnSpPr>
        <p:spPr>
          <a:xfrm>
            <a:off x="3154680" y="4206240"/>
            <a:ext cx="914400" cy="0"/>
          </a:xfrm>
          <a:prstGeom prst="line">
            <a:avLst/>
          </a:prstGeom>
          <a:ln w="38100">
            <a:solidFill>
              <a:srgbClr val="2CBEB1"/>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251960" y="3703320"/>
            <a:ext cx="1005840" cy="1005840"/>
          </a:xfrm>
          <a:prstGeom prst="ellipse">
            <a:avLst/>
          </a:prstGeom>
          <a:solidFill>
            <a:srgbClr val="2CBEB1"/>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60" y="3776472"/>
            <a:ext cx="1005840" cy="896112"/>
          </a:xfrm>
          <a:prstGeom prst="rect">
            <a:avLst/>
          </a:prstGeom>
          <a:noFill/>
        </p:spPr>
        <p:txBody>
          <a:bodyPr wrap="square" lIns="36576" rIns="36576" tIns="36576" bIns="36576" anchor="ctr">
            <a:spAutoFit/>
          </a:bodyPr>
          <a:lstStyle/>
          <a:p>
            <a:pPr algn="ctr"/>
            <a:r>
              <a:rPr sz="1500" b="1">
                <a:solidFill>
                  <a:srgbClr val="F5F8FA"/>
                </a:solidFill>
                <a:latin typeface="Microsoft YaHei"/>
              </a:rPr>
              <a:t>Cys–SH</a:t>
            </a:r>
          </a:p>
        </p:txBody>
      </p:sp>
      <p:cxnSp>
        <p:nvCxnSpPr>
          <p:cNvPr id="10" name="Connector 9"/>
          <p:cNvCxnSpPr/>
          <p:nvPr/>
        </p:nvCxnSpPr>
        <p:spPr>
          <a:xfrm>
            <a:off x="5394960" y="4206240"/>
            <a:ext cx="914400" cy="0"/>
          </a:xfrm>
          <a:prstGeom prst="line">
            <a:avLst/>
          </a:prstGeom>
          <a:ln w="38100">
            <a:solidFill>
              <a:srgbClr val="2CBEB1"/>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492240" y="3703320"/>
            <a:ext cx="1005840" cy="1005840"/>
          </a:xfrm>
          <a:prstGeom prst="ellipse">
            <a:avLst/>
          </a:prstGeom>
          <a:solidFill>
            <a:srgbClr val="5DCEDC"/>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776472"/>
            <a:ext cx="1005840" cy="896112"/>
          </a:xfrm>
          <a:prstGeom prst="rect">
            <a:avLst/>
          </a:prstGeom>
          <a:noFill/>
        </p:spPr>
        <p:txBody>
          <a:bodyPr wrap="square" lIns="36576" rIns="36576" tIns="36576" bIns="36576" anchor="ctr">
            <a:spAutoFit/>
          </a:bodyPr>
          <a:lstStyle/>
          <a:p>
            <a:pPr algn="ctr"/>
            <a:r>
              <a:rPr sz="1600" b="1">
                <a:solidFill>
                  <a:srgbClr val="F5F8FA"/>
                </a:solidFill>
                <a:latin typeface="Microsoft YaHei"/>
              </a:rPr>
              <a:t>谱学</a:t>
            </a:r>
          </a:p>
        </p:txBody>
      </p:sp>
      <p:cxnSp>
        <p:nvCxnSpPr>
          <p:cNvPr id="13" name="Connector 12"/>
          <p:cNvCxnSpPr/>
          <p:nvPr/>
        </p:nvCxnSpPr>
        <p:spPr>
          <a:xfrm>
            <a:off x="7635240" y="4206240"/>
            <a:ext cx="914400" cy="0"/>
          </a:xfrm>
          <a:prstGeom prst="line">
            <a:avLst/>
          </a:prstGeom>
          <a:ln w="38100">
            <a:solidFill>
              <a:srgbClr val="2CBEB1"/>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732520" y="3703320"/>
            <a:ext cx="1005840" cy="1005840"/>
          </a:xfrm>
          <a:prstGeom prst="ellipse">
            <a:avLst/>
          </a:prstGeom>
          <a:solidFill>
            <a:srgbClr val="9E7FDD"/>
          </a:solidFill>
          <a:ln w="12700">
            <a:solidFill>
              <a:srgbClr val="F5F8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32520" y="3776472"/>
            <a:ext cx="1005840" cy="896112"/>
          </a:xfrm>
          <a:prstGeom prst="rect">
            <a:avLst/>
          </a:prstGeom>
          <a:noFill/>
        </p:spPr>
        <p:txBody>
          <a:bodyPr wrap="square" lIns="36576" rIns="36576" tIns="36576" bIns="36576" anchor="ctr">
            <a:spAutoFit/>
          </a:bodyPr>
          <a:lstStyle/>
          <a:p>
            <a:pPr algn="ctr"/>
            <a:r>
              <a:rPr sz="1600" b="1">
                <a:solidFill>
                  <a:srgbClr val="F5F8FA"/>
                </a:solidFill>
                <a:latin typeface="Microsoft YaHei"/>
              </a:rPr>
              <a:t>机制</a:t>
            </a:r>
          </a:p>
        </p:txBody>
      </p:sp>
      <p:sp>
        <p:nvSpPr>
          <p:cNvPr id="16" name="TextBox 15"/>
          <p:cNvSpPr txBox="1"/>
          <p:nvPr/>
        </p:nvSpPr>
        <p:spPr>
          <a:xfrm>
            <a:off x="822960" y="5806440"/>
            <a:ext cx="10515600" cy="256032"/>
          </a:xfrm>
          <a:prstGeom prst="rect">
            <a:avLst/>
          </a:prstGeom>
          <a:noFill/>
        </p:spPr>
        <p:txBody>
          <a:bodyPr wrap="square" lIns="36576" rIns="36576" tIns="36576" bIns="36576" anchor="t">
            <a:spAutoFit/>
          </a:bodyPr>
          <a:lstStyle/>
          <a:p>
            <a:pPr algn="ctr"/>
            <a:r>
              <a:rPr sz="1100" b="0">
                <a:solidFill>
                  <a:srgbClr val="AEC1CF"/>
                </a:solidFill>
                <a:latin typeface="Microsoft YaHei"/>
              </a:rPr>
              <a:t>基于同步辐射谱学的典型金属及金属氧化物纳米颗粒诱导氧化应激的巯基响应共性机制研究</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